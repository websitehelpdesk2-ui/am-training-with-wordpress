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4" r:id="rId2"/>
    <p:sldId id="363" r:id="rId3"/>
    <p:sldId id="368" r:id="rId4"/>
    <p:sldId id="374" r:id="rId5"/>
    <p:sldId id="375" r:id="rId6"/>
    <p:sldId id="369" r:id="rId7"/>
    <p:sldId id="376" r:id="rId8"/>
    <p:sldId id="377" r:id="rId9"/>
    <p:sldId id="373" r:id="rId10"/>
    <p:sldId id="378" r:id="rId11"/>
    <p:sldId id="379" r:id="rId12"/>
    <p:sldId id="25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31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5C2F09-6D1A-4A21-97DF-F888DD13FD39}"/>
              </a:ext>
            </a:extLst>
          </p:cNvPr>
          <p:cNvSpPr txBox="1"/>
          <p:nvPr userDrawn="1"/>
        </p:nvSpPr>
        <p:spPr>
          <a:xfrm>
            <a:off x="1142997" y="539293"/>
            <a:ext cx="1816272" cy="1862048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EBFBB-1425-4277-8500-4300AD017EDA}"/>
              </a:ext>
            </a:extLst>
          </p:cNvPr>
          <p:cNvSpPr txBox="1"/>
          <p:nvPr userDrawn="1"/>
        </p:nvSpPr>
        <p:spPr>
          <a:xfrm>
            <a:off x="1150229" y="2062986"/>
            <a:ext cx="8717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Preventing and Responding to Medication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1325043" y="4825851"/>
            <a:ext cx="1236907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2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DE03F057-80E6-4933-B039-F692BF84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8452" y="6279454"/>
            <a:ext cx="1297633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32233-ABF9-9145-BA39-7E9D5493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81782"/>
            <a:ext cx="6906491" cy="701673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393" y="780226"/>
            <a:ext cx="10234377" cy="53967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5F491-9531-4861-B658-DB5FE7E2FEAE}"/>
              </a:ext>
            </a:extLst>
          </p:cNvPr>
          <p:cNvSpPr/>
          <p:nvPr userDrawn="1"/>
        </p:nvSpPr>
        <p:spPr>
          <a:xfrm>
            <a:off x="11328400" y="0"/>
            <a:ext cx="863600" cy="16065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8F0E1-C264-477A-8C68-5954EE75A404}"/>
              </a:ext>
            </a:extLst>
          </p:cNvPr>
          <p:cNvSpPr txBox="1"/>
          <p:nvPr userDrawn="1"/>
        </p:nvSpPr>
        <p:spPr>
          <a:xfrm>
            <a:off x="11506200" y="1752600"/>
            <a:ext cx="369332" cy="33210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Preventing and Responding to Medication Errors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A6800-7865-48FF-933D-2164FAE0ACC9}"/>
              </a:ext>
            </a:extLst>
          </p:cNvPr>
          <p:cNvSpPr txBox="1"/>
          <p:nvPr userDrawn="1"/>
        </p:nvSpPr>
        <p:spPr>
          <a:xfrm>
            <a:off x="11506197" y="101143"/>
            <a:ext cx="1816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5C658E-B179-4C5F-B3AF-13638309A3D4}"/>
              </a:ext>
            </a:extLst>
          </p:cNvPr>
          <p:cNvCxnSpPr>
            <a:cxnSpLocks/>
          </p:cNvCxnSpPr>
          <p:nvPr userDrawn="1"/>
        </p:nvCxnSpPr>
        <p:spPr>
          <a:xfrm flipH="1">
            <a:off x="745067" y="6629400"/>
            <a:ext cx="100076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C71CCBE0-D1B9-42FA-8DAC-87EEE4FE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279454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C1E1F3-686D-4F52-826D-70A4F80E72A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33E0703D-A83A-40F4-A8D2-8D56B297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9454"/>
            <a:ext cx="4993783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0274B49-780C-479A-B0DB-0F3EABBF8D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1641" y="5924550"/>
            <a:ext cx="719715" cy="74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8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798611" y="2338649"/>
            <a:ext cx="2539591" cy="26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0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82F9F-E9DB-44F9-8F4D-A11E49818C5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51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85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44C2C475-36EE-428D-8462-7C0A824F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237F57-1459-D345-B5DD-14DC6210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3C889-D49C-4C69-B18A-7E359B9A3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Identify common causes of medication errors</a:t>
            </a:r>
          </a:p>
          <a:p>
            <a:endParaRPr lang="en-US" dirty="0"/>
          </a:p>
          <a:p>
            <a:r>
              <a:rPr lang="en-US" dirty="0"/>
              <a:t>Remember these points about medication errors: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They are common, and preventing errors/protecting resident safety should be the top priority in medication administration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Wrong dose or wrong medication can cause a sudden negative reaction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Giving the wrong medication on an ongoing basis can harm the resident in two ways: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Incorrect drug can cause harm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Harm can be caused through not receiving the correct drug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625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44C2C475-36EE-428D-8462-7C0A824F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237F57-1459-D345-B5DD-14DC6210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3C889-D49C-4C69-B18A-7E359B9A3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Material 9-1: Common Causes of Medication Errors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Failure to follow medication orders exactly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Failure to follow instructions for the use of a medication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Failure to follow a facility’s policies or procedures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Failure to listen to a resident’s or family member’s concerns</a:t>
            </a:r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43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44C2C475-36EE-428D-8462-7C0A824F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237F57-1459-D345-B5DD-14DC6210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3C889-D49C-4C69-B18A-7E359B9A3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Identify common causes of medication errors</a:t>
            </a:r>
          </a:p>
          <a:p>
            <a:endParaRPr lang="en-US" dirty="0"/>
          </a:p>
          <a:p>
            <a:r>
              <a:rPr lang="en-US" dirty="0"/>
              <a:t>Critical Thinking: Group Activity</a:t>
            </a:r>
          </a:p>
          <a:p>
            <a:endParaRPr lang="en-US" dirty="0"/>
          </a:p>
          <a:p>
            <a:r>
              <a:rPr lang="en-US" dirty="0"/>
              <a:t>With your group, develop a skit portraying a medication error related to one of the causes listed in Key Material 9-1</a:t>
            </a:r>
          </a:p>
          <a:p>
            <a:endParaRPr lang="en-US" dirty="0"/>
          </a:p>
          <a:p>
            <a:r>
              <a:rPr lang="en-US" dirty="0"/>
              <a:t>Perform your skit for the class</a:t>
            </a:r>
          </a:p>
          <a:p>
            <a:endParaRPr lang="en-US" dirty="0"/>
          </a:p>
          <a:p>
            <a:r>
              <a:rPr lang="en-US" dirty="0"/>
              <a:t>How could the error have been avoided?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54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44C2C475-36EE-428D-8462-7C0A824F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237F57-1459-D345-B5DD-14DC6210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LO1,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3C889-D49C-4C69-B18A-7E359B9A3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Identify common causes of medication errors</a:t>
            </a:r>
          </a:p>
          <a:p>
            <a:endParaRPr lang="en-US" dirty="0"/>
          </a:p>
          <a:p>
            <a:r>
              <a:rPr lang="en-US" dirty="0"/>
              <a:t>REMEMBER:</a:t>
            </a:r>
          </a:p>
          <a:p>
            <a:endParaRPr lang="en-US" dirty="0"/>
          </a:p>
          <a:p>
            <a:r>
              <a:rPr lang="en-US" dirty="0"/>
              <a:t>Careful observing and reporting by medication aides can help prevent or discover medication errors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68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44C2C475-36EE-428D-8462-7C0A824F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CD039F-E986-D040-8B78-B14665E18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3C889-D49C-4C69-B18A-7E359B9A3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Explain steps to follow when a medication error occurs</a:t>
            </a:r>
            <a:endParaRPr lang="en-US" dirty="0"/>
          </a:p>
          <a:p>
            <a:endParaRPr lang="en-US" dirty="0"/>
          </a:p>
          <a:p>
            <a:r>
              <a:rPr lang="en-US" dirty="0"/>
              <a:t>Remember these points about reporting medication errors: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Must be reported as soon as an MA becomes aware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Immediate report is required no matter how “big” or “small” the error seems to be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Errors that pose little or no risk to one resident may be dangerous for another resident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Reporting errors right away reduces potential harm to resident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Reporting errors (and “near misses”) helps a facility develop better safeguards against errors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090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44C2C475-36EE-428D-8462-7C0A824F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CD039F-E986-D040-8B78-B14665E18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3C889-D49C-4C69-B18A-7E359B9A3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Explain steps to follow when a medication error occurs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These steps must be taken when a medication error occurs: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medication error is documented (facility policies regarding documentation may vary)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Like incident reports, medication error reports are not recorded in a resident’s chart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Multiple reports may be required based on the resident’s response to the error.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Response to the error will depend on the error and its possible effects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Resident may need emergency care or may need a period of observation. It is not the MA’s job to assess whether an error has caused harm; MAs should follow the direction of licensed medical personnel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550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44C2C475-36EE-428D-8462-7C0A824F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CD039F-E986-D040-8B78-B14665E18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3C889-D49C-4C69-B18A-7E359B9A3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Explain steps to follow when a medication error occurs</a:t>
            </a:r>
            <a:endParaRPr lang="en-US" dirty="0"/>
          </a:p>
          <a:p>
            <a:endParaRPr lang="en-US" dirty="0"/>
          </a:p>
          <a:p>
            <a:r>
              <a:rPr lang="en-US" dirty="0"/>
              <a:t>REMEMBER:</a:t>
            </a:r>
          </a:p>
          <a:p>
            <a:endParaRPr lang="en-US" dirty="0"/>
          </a:p>
          <a:p>
            <a:r>
              <a:rPr lang="en-US" dirty="0"/>
              <a:t>Fear of punishment/consequences should not prevent MAs from reporting errors</a:t>
            </a:r>
          </a:p>
          <a:p>
            <a:endParaRPr lang="en-US" dirty="0"/>
          </a:p>
          <a:p>
            <a:r>
              <a:rPr lang="en-US" dirty="0"/>
              <a:t>MAs who do not report errors may be fired and/or lose their ability to work as MAs in their state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722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44C2C475-36EE-428D-8462-7C0A824F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3073DA-C471-0E4C-8CCE-490E52C9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3C889-D49C-4C69-B18A-7E359B9A3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organizations involved with preventing medication errors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Food and Drug Administration (FDA) plays an important role in medication safety: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Federal agency that controls the process of approving new drugs for use in the 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Works during the approval process to reduce the chance of errors by reviewing naming, packaging, and labeling of new drugs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Manages a site called MedWatch, which collects reports of medication errors and adverse effects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Reports to MedWatch are voluntary, but they allow the FDA to track repeated problems with the same medications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039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44C2C475-36EE-428D-8462-7C0A824F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3073DA-C471-0E4C-8CCE-490E52C9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3C889-D49C-4C69-B18A-7E359B9A3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organizations involved with preventing medication errors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Joint Commission works to prevent errors in these 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Has identified </a:t>
            </a:r>
            <a:r>
              <a:rPr lang="en-US" i="1" dirty="0"/>
              <a:t>using medications safely</a:t>
            </a:r>
            <a:r>
              <a:rPr lang="en-US" dirty="0"/>
              <a:t> as one of the five National Patient Safety Goals for long-term care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Joint Commission (and other organizations) may be involved in surveying facilities for meeting CMS standards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Rate of medication errors is an important part of the survey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Surveyors classify errors as </a:t>
            </a:r>
            <a:r>
              <a:rPr lang="en-US" i="1" dirty="0"/>
              <a:t>significant</a:t>
            </a:r>
            <a:r>
              <a:rPr lang="en-US" dirty="0"/>
              <a:t> or </a:t>
            </a:r>
            <a:r>
              <a:rPr lang="en-US" i="1" dirty="0"/>
              <a:t>not significant </a:t>
            </a:r>
            <a:r>
              <a:rPr lang="en-US" dirty="0"/>
              <a:t>based on the effect on the resident, the medication involved, and how often the error occurs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822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44C2C475-36EE-428D-8462-7C0A824F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3567D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3567D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3073DA-C471-0E4C-8CCE-490E52C9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3C889-D49C-4C69-B18A-7E359B9A3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organizations involved with preventing medication errors</a:t>
            </a:r>
            <a:endParaRPr lang="en-US" dirty="0"/>
          </a:p>
          <a:p>
            <a:endParaRPr lang="en-US" dirty="0"/>
          </a:p>
          <a:p>
            <a:r>
              <a:rPr lang="en-US" dirty="0"/>
              <a:t>Other nonprofits are also involved in preventing medication errors: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Institute for Safe Medication Practices (ISMP) offers materials and consulting services to educate healthcare providers about medication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ISMP also has its own reporting system for medication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National Coordinating Council for Medication Error Reporting and Prevention (NCC MERP) is made up of member groups like FDA, Joint Commission, and ISMP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NCC MERP coordinates efforts of their member groups to improve medication safety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Facilities may use resources from these and other organizations to inform policies/improve medication safety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435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6345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C76"/>
      </a:accent1>
      <a:accent2>
        <a:srgbClr val="B37924"/>
      </a:accent2>
      <a:accent3>
        <a:srgbClr val="E3567D"/>
      </a:accent3>
      <a:accent4>
        <a:srgbClr val="0091B9"/>
      </a:accent4>
      <a:accent5>
        <a:srgbClr val="D6BF00"/>
      </a:accent5>
      <a:accent6>
        <a:srgbClr val="934C93"/>
      </a:accent6>
      <a:hlink>
        <a:srgbClr val="0563C1"/>
      </a:hlink>
      <a:folHlink>
        <a:srgbClr val="954F72"/>
      </a:folHlink>
    </a:clrScheme>
    <a:fontScheme name="Susan Hedman - Hartman Publishing">
      <a:majorFont>
        <a:latin typeface="Scala Sans"/>
        <a:ea typeface=""/>
        <a:cs typeface=""/>
      </a:majorFont>
      <a:minorFont>
        <a:latin typeface="Scal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969</TotalTime>
  <Words>765</Words>
  <Application>Microsoft Macintosh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Scala Sans</vt:lpstr>
      <vt:lpstr>1_Office Theme</vt:lpstr>
      <vt:lpstr>PowerPoint Presentation</vt:lpstr>
      <vt:lpstr>LO1, content 1</vt:lpstr>
      <vt:lpstr>LO1, content 2</vt:lpstr>
      <vt:lpstr>LO1, content 3</vt:lpstr>
      <vt:lpstr>LO1, content 4</vt:lpstr>
      <vt:lpstr>LO2, content 1</vt:lpstr>
      <vt:lpstr>LO2, content 2</vt:lpstr>
      <vt:lpstr>LO2, content 3</vt:lpstr>
      <vt:lpstr>LO3, content 1</vt:lpstr>
      <vt:lpstr>LO3, content 2</vt:lpstr>
      <vt:lpstr>LO3, content 3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Angela Storey</dc:creator>
  <cp:lastModifiedBy>Kristin Calderon</cp:lastModifiedBy>
  <cp:revision>124</cp:revision>
  <dcterms:created xsi:type="dcterms:W3CDTF">2020-03-18T21:22:07Z</dcterms:created>
  <dcterms:modified xsi:type="dcterms:W3CDTF">2021-05-20T13:46:06Z</dcterms:modified>
</cp:coreProperties>
</file>