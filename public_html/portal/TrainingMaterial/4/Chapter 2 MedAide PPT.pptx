
<file path=[Content_Types].xml><?xml version="1.0" encoding="utf-8"?>
<Types xmlns="http://schemas.openxmlformats.org/package/2006/content-types">
  <Default Extension="png" ContentType="image/png"/>
  <Default Extension="svg" ContentType="image/svg+xml"/>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309" r:id="rId2"/>
    <p:sldId id="310" r:id="rId3"/>
    <p:sldId id="318" r:id="rId4"/>
    <p:sldId id="342" r:id="rId5"/>
    <p:sldId id="343" r:id="rId6"/>
    <p:sldId id="311" r:id="rId7"/>
    <p:sldId id="321" r:id="rId8"/>
    <p:sldId id="325" r:id="rId9"/>
    <p:sldId id="344" r:id="rId10"/>
    <p:sldId id="345" r:id="rId11"/>
    <p:sldId id="328" r:id="rId12"/>
    <p:sldId id="346" r:id="rId13"/>
    <p:sldId id="347" r:id="rId14"/>
    <p:sldId id="348" r:id="rId15"/>
    <p:sldId id="307" r:id="rId16"/>
    <p:sldId id="334" r:id="rId17"/>
    <p:sldId id="349" r:id="rId18"/>
    <p:sldId id="338" r:id="rId19"/>
    <p:sldId id="350" r:id="rId20"/>
    <p:sldId id="351" r:id="rId21"/>
    <p:sldId id="339" r:id="rId22"/>
    <p:sldId id="352" r:id="rId23"/>
    <p:sldId id="353" r:id="rId24"/>
    <p:sldId id="354" r:id="rId25"/>
    <p:sldId id="340" r:id="rId26"/>
    <p:sldId id="341" r:id="rId27"/>
    <p:sldId id="304"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876" autoAdjust="0"/>
    <p:restoredTop sz="94660"/>
  </p:normalViewPr>
  <p:slideViewPr>
    <p:cSldViewPr snapToGrid="0">
      <p:cViewPr varScale="1">
        <p:scale>
          <a:sx n="86" d="100"/>
          <a:sy n="86" d="100"/>
        </p:scale>
        <p:origin x="224" y="680"/>
      </p:cViewPr>
      <p:guideLst/>
    </p:cSldViewPr>
  </p:slideViewPr>
  <p:notesTextViewPr>
    <p:cViewPr>
      <p:scale>
        <a:sx n="1" d="1"/>
        <a:sy n="1" d="1"/>
      </p:scale>
      <p:origin x="0" y="0"/>
    </p:cViewPr>
  </p:notesTextViewPr>
  <p:sorterViewPr>
    <p:cViewPr varScale="1">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accent2"/>
        </a:solid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475C2F09-6D1A-4A21-97DF-F888DD13FD39}"/>
              </a:ext>
            </a:extLst>
          </p:cNvPr>
          <p:cNvSpPr txBox="1"/>
          <p:nvPr userDrawn="1"/>
        </p:nvSpPr>
        <p:spPr>
          <a:xfrm>
            <a:off x="1142997" y="539293"/>
            <a:ext cx="1816272" cy="1862048"/>
          </a:xfrm>
          <a:prstGeom prst="rect">
            <a:avLst/>
          </a:prstGeom>
          <a:solidFill>
            <a:schemeClr val="accent2"/>
          </a:solid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1500" b="0" i="0" u="none" strike="noStrike" kern="1200" cap="none" spc="0" normalizeH="0" baseline="0" noProof="0" dirty="0">
                <a:ln>
                  <a:noFill/>
                </a:ln>
                <a:solidFill>
                  <a:prstClr val="white"/>
                </a:solidFill>
                <a:effectLst/>
                <a:uLnTx/>
                <a:uFillTx/>
                <a:latin typeface="Scala Sans" panose="02000503060000020003" pitchFamily="2" charset="0"/>
                <a:ea typeface="+mn-ea"/>
                <a:cs typeface="+mn-cs"/>
              </a:rPr>
              <a:t>2</a:t>
            </a:r>
          </a:p>
        </p:txBody>
      </p:sp>
      <p:sp>
        <p:nvSpPr>
          <p:cNvPr id="8" name="TextBox 7">
            <a:extLst>
              <a:ext uri="{FF2B5EF4-FFF2-40B4-BE49-F238E27FC236}">
                <a16:creationId xmlns:a16="http://schemas.microsoft.com/office/drawing/2014/main" id="{F1FEBFBB-1425-4277-8500-4300AD017EDA}"/>
              </a:ext>
            </a:extLst>
          </p:cNvPr>
          <p:cNvSpPr txBox="1"/>
          <p:nvPr userDrawn="1"/>
        </p:nvSpPr>
        <p:spPr>
          <a:xfrm>
            <a:off x="1150229" y="2062986"/>
            <a:ext cx="8717075" cy="707886"/>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dirty="0">
                <a:ln>
                  <a:noFill/>
                </a:ln>
                <a:solidFill>
                  <a:prstClr val="white"/>
                </a:solidFill>
                <a:effectLst/>
                <a:uLnTx/>
                <a:uFillTx/>
                <a:latin typeface="Scala Sans" panose="02000503060000020003" pitchFamily="2" charset="0"/>
                <a:ea typeface="+mn-ea"/>
                <a:cs typeface="+mn-cs"/>
              </a:rPr>
              <a:t>Ethical and Legal Issues</a:t>
            </a:r>
          </a:p>
        </p:txBody>
      </p:sp>
      <p:pic>
        <p:nvPicPr>
          <p:cNvPr id="9" name="Picture 8">
            <a:extLst>
              <a:ext uri="{FF2B5EF4-FFF2-40B4-BE49-F238E27FC236}">
                <a16:creationId xmlns:a16="http://schemas.microsoft.com/office/drawing/2014/main" id="{EF1DCB50-4D11-4F0B-AF02-F0797361079C}"/>
              </a:ext>
            </a:extLst>
          </p:cNvPr>
          <p:cNvPicPr>
            <a:picLocks noChangeAspect="1"/>
          </p:cNvPicPr>
          <p:nvPr userDrawn="1"/>
        </p:nvPicPr>
        <p:blipFill>
          <a:blip r:embed="rId2">
            <a:lum bright="100000"/>
          </a:blip>
          <a:stretch>
            <a:fillRect/>
          </a:stretch>
        </p:blipFill>
        <p:spPr>
          <a:xfrm>
            <a:off x="1325043" y="4825851"/>
            <a:ext cx="1236907" cy="1282700"/>
          </a:xfrm>
          <a:prstGeom prst="rect">
            <a:avLst/>
          </a:prstGeom>
        </p:spPr>
      </p:pic>
    </p:spTree>
    <p:extLst>
      <p:ext uri="{BB962C8B-B14F-4D97-AF65-F5344CB8AC3E}">
        <p14:creationId xmlns:p14="http://schemas.microsoft.com/office/powerpoint/2010/main" val="40386735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19" name="Slide Number Placeholder 18">
            <a:extLst>
              <a:ext uri="{FF2B5EF4-FFF2-40B4-BE49-F238E27FC236}">
                <a16:creationId xmlns:a16="http://schemas.microsoft.com/office/drawing/2014/main" id="{DE03F057-80E6-4933-B039-F692BF84B8A2}"/>
              </a:ext>
            </a:extLst>
          </p:cNvPr>
          <p:cNvSpPr>
            <a:spLocks noGrp="1"/>
          </p:cNvSpPr>
          <p:nvPr>
            <p:ph type="sldNum" sz="quarter" idx="12"/>
          </p:nvPr>
        </p:nvSpPr>
        <p:spPr>
          <a:xfrm>
            <a:off x="9518452" y="6279454"/>
            <a:ext cx="1297633" cy="365125"/>
          </a:xfrm>
        </p:spPr>
        <p:txBody>
          <a:bodyPr/>
          <a:lstStyle>
            <a:lvl1pPr>
              <a:defRPr>
                <a:solidFill>
                  <a:schemeClr val="accent2"/>
                </a:solidFill>
                <a:latin typeface="+mn-lt"/>
              </a:defRPr>
            </a:lvl1pPr>
          </a:lstStyle>
          <a:p>
            <a:pPr marL="0" marR="0" lvl="0" indent="0" algn="r" defTabSz="457200" rtl="0" eaLnBrk="1" fontAlgn="auto" latinLnBrk="0" hangingPunct="1">
              <a:lnSpc>
                <a:spcPct val="100000"/>
              </a:lnSpc>
              <a:spcBef>
                <a:spcPts val="0"/>
              </a:spcBef>
              <a:spcAft>
                <a:spcPts val="0"/>
              </a:spcAft>
              <a:buClrTx/>
              <a:buSzTx/>
              <a:buFontTx/>
              <a:buNone/>
              <a:tabLst/>
              <a:defRPr/>
            </a:pPr>
            <a:fld id="{1E19C8D7-53EE-4AF8-9E87-BBF55B67A655}" type="slidenum">
              <a:rPr kumimoji="0" lang="en-US" sz="1200" b="0" i="0" u="none" strike="noStrike" kern="1200" cap="none" spc="0" normalizeH="0" baseline="0" noProof="0" smtClean="0">
                <a:ln>
                  <a:noFill/>
                </a:ln>
                <a:solidFill>
                  <a:srgbClr val="B37924"/>
                </a:solidFill>
                <a:effectLst/>
                <a:uLnTx/>
                <a:uFillTx/>
                <a:latin typeface="Scala Sans"/>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srgbClr val="B37924"/>
              </a:solidFill>
              <a:effectLst/>
              <a:uLnTx/>
              <a:uFillTx/>
              <a:latin typeface="Scala Sans"/>
              <a:ea typeface="+mn-ea"/>
              <a:cs typeface="+mn-cs"/>
            </a:endParaRPr>
          </a:p>
        </p:txBody>
      </p:sp>
      <p:sp>
        <p:nvSpPr>
          <p:cNvPr id="4" name="Title 3">
            <a:extLst>
              <a:ext uri="{FF2B5EF4-FFF2-40B4-BE49-F238E27FC236}">
                <a16:creationId xmlns:a16="http://schemas.microsoft.com/office/drawing/2014/main" id="{88E54A26-8F57-CC4C-8B75-2086067B4A95}"/>
              </a:ext>
            </a:extLst>
          </p:cNvPr>
          <p:cNvSpPr>
            <a:spLocks noGrp="1"/>
          </p:cNvSpPr>
          <p:nvPr>
            <p:ph type="title"/>
          </p:nvPr>
        </p:nvSpPr>
        <p:spPr>
          <a:xfrm>
            <a:off x="0" y="-682907"/>
            <a:ext cx="7264078" cy="509286"/>
          </a:xfrm>
        </p:spPr>
        <p:txBody>
          <a:bodyPr/>
          <a:lstStyle>
            <a:lvl1pPr>
              <a:defRPr b="0"/>
            </a:lvl1pPr>
          </a:lstStyle>
          <a:p>
            <a:r>
              <a:rPr lang="en-US" dirty="0"/>
              <a:t>Click to edit Master title style</a:t>
            </a:r>
          </a:p>
        </p:txBody>
      </p:sp>
      <p:sp>
        <p:nvSpPr>
          <p:cNvPr id="3" name="Content Placeholder 2"/>
          <p:cNvSpPr>
            <a:spLocks noGrp="1"/>
          </p:cNvSpPr>
          <p:nvPr>
            <p:ph idx="1"/>
          </p:nvPr>
        </p:nvSpPr>
        <p:spPr>
          <a:xfrm>
            <a:off x="635393" y="780226"/>
            <a:ext cx="10234377" cy="5396738"/>
          </a:xfrm>
        </p:spPr>
        <p:txBody>
          <a:bodyPr>
            <a:normAutofit/>
          </a:bodyPr>
          <a:lstStyle>
            <a:lvl1pPr marL="0" indent="0">
              <a:spcBef>
                <a:spcPts val="0"/>
              </a:spcBef>
              <a:spcAft>
                <a:spcPts val="600"/>
              </a:spcAft>
              <a:buNone/>
              <a:defRPr sz="2000">
                <a:latin typeface="+mn-lt"/>
              </a:defRPr>
            </a:lvl1pPr>
            <a:lvl2pPr marL="457200" indent="0">
              <a:spcBef>
                <a:spcPts val="0"/>
              </a:spcBef>
              <a:spcAft>
                <a:spcPts val="600"/>
              </a:spcAft>
              <a:buNone/>
              <a:defRPr sz="2000">
                <a:latin typeface="+mn-lt"/>
              </a:defRPr>
            </a:lvl2pPr>
            <a:lvl3pPr marL="914400" indent="0">
              <a:spcBef>
                <a:spcPts val="0"/>
              </a:spcBef>
              <a:spcAft>
                <a:spcPts val="600"/>
              </a:spcAft>
              <a:buNone/>
              <a:defRPr sz="2000">
                <a:latin typeface="+mn-lt"/>
              </a:defRPr>
            </a:lvl3pPr>
            <a:lvl4pPr marL="1371600" indent="0">
              <a:spcBef>
                <a:spcPts val="0"/>
              </a:spcBef>
              <a:spcAft>
                <a:spcPts val="600"/>
              </a:spcAft>
              <a:buNone/>
              <a:defRPr sz="2000">
                <a:latin typeface="+mn-lt"/>
              </a:defRPr>
            </a:lvl4pPr>
            <a:lvl5pPr marL="1828800" indent="0">
              <a:spcBef>
                <a:spcPts val="0"/>
              </a:spcBef>
              <a:spcAft>
                <a:spcPts val="600"/>
              </a:spcAft>
              <a:buNone/>
              <a:defRPr sz="2000">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A4F5F491-9531-4861-B658-DB5FE7E2FEAE}"/>
              </a:ext>
            </a:extLst>
          </p:cNvPr>
          <p:cNvSpPr/>
          <p:nvPr userDrawn="1"/>
        </p:nvSpPr>
        <p:spPr>
          <a:xfrm>
            <a:off x="11328400" y="0"/>
            <a:ext cx="863600" cy="160655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Scala Sans"/>
              <a:ea typeface="+mn-ea"/>
              <a:cs typeface="+mn-cs"/>
            </a:endParaRPr>
          </a:p>
        </p:txBody>
      </p:sp>
      <p:sp>
        <p:nvSpPr>
          <p:cNvPr id="7" name="TextBox 6">
            <a:extLst>
              <a:ext uri="{FF2B5EF4-FFF2-40B4-BE49-F238E27FC236}">
                <a16:creationId xmlns:a16="http://schemas.microsoft.com/office/drawing/2014/main" id="{2328F0E1-C264-477A-8C68-5954EE75A404}"/>
              </a:ext>
            </a:extLst>
          </p:cNvPr>
          <p:cNvSpPr txBox="1"/>
          <p:nvPr userDrawn="1"/>
        </p:nvSpPr>
        <p:spPr>
          <a:xfrm>
            <a:off x="11506200" y="1752600"/>
            <a:ext cx="369332" cy="3321050"/>
          </a:xfrm>
          <a:prstGeom prst="rect">
            <a:avLst/>
          </a:prstGeom>
          <a:noFill/>
        </p:spPr>
        <p:txBody>
          <a:bodyPr vert="vert270" wrap="square" rtlCol="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Scala Sans" panose="02000503060000020003" pitchFamily="2" charset="0"/>
                <a:ea typeface="+mn-ea"/>
                <a:cs typeface="+mn-cs"/>
              </a:rPr>
              <a:t>Ethical and Legal Issues</a:t>
            </a:r>
          </a:p>
        </p:txBody>
      </p:sp>
      <p:sp>
        <p:nvSpPr>
          <p:cNvPr id="9" name="TextBox 8">
            <a:extLst>
              <a:ext uri="{FF2B5EF4-FFF2-40B4-BE49-F238E27FC236}">
                <a16:creationId xmlns:a16="http://schemas.microsoft.com/office/drawing/2014/main" id="{31CA6800-7865-48FF-933D-2164FAE0ACC9}"/>
              </a:ext>
            </a:extLst>
          </p:cNvPr>
          <p:cNvSpPr txBox="1"/>
          <p:nvPr userDrawn="1"/>
        </p:nvSpPr>
        <p:spPr>
          <a:xfrm>
            <a:off x="11506197" y="101143"/>
            <a:ext cx="1816272" cy="707886"/>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dirty="0">
                <a:ln>
                  <a:noFill/>
                </a:ln>
                <a:solidFill>
                  <a:prstClr val="white"/>
                </a:solidFill>
                <a:effectLst/>
                <a:uLnTx/>
                <a:uFillTx/>
                <a:latin typeface="Scala Sans"/>
                <a:ea typeface="+mn-ea"/>
                <a:cs typeface="+mn-cs"/>
              </a:rPr>
              <a:t>2</a:t>
            </a:r>
          </a:p>
        </p:txBody>
      </p:sp>
      <p:cxnSp>
        <p:nvCxnSpPr>
          <p:cNvPr id="13" name="Straight Connector 12">
            <a:extLst>
              <a:ext uri="{FF2B5EF4-FFF2-40B4-BE49-F238E27FC236}">
                <a16:creationId xmlns:a16="http://schemas.microsoft.com/office/drawing/2014/main" id="{685C658E-B179-4C5F-B3AF-13638309A3D4}"/>
              </a:ext>
            </a:extLst>
          </p:cNvPr>
          <p:cNvCxnSpPr>
            <a:cxnSpLocks/>
          </p:cNvCxnSpPr>
          <p:nvPr userDrawn="1"/>
        </p:nvCxnSpPr>
        <p:spPr>
          <a:xfrm flipH="1">
            <a:off x="745067" y="6629400"/>
            <a:ext cx="10007600"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7" name="Date Placeholder 16" hidden="1">
            <a:extLst>
              <a:ext uri="{FF2B5EF4-FFF2-40B4-BE49-F238E27FC236}">
                <a16:creationId xmlns:a16="http://schemas.microsoft.com/office/drawing/2014/main" id="{C71CCBE0-D1B9-42FA-8DAC-87EEE4FE9F42}"/>
              </a:ext>
            </a:extLst>
          </p:cNvPr>
          <p:cNvSpPr>
            <a:spLocks noGrp="1"/>
          </p:cNvSpPr>
          <p:nvPr>
            <p:ph type="dt" sz="half" idx="10"/>
          </p:nvPr>
        </p:nvSpPr>
        <p:spPr>
          <a:xfrm>
            <a:off x="838200" y="6279454"/>
            <a:ext cx="2743200" cy="365125"/>
          </a:xfrm>
        </p:spPr>
        <p:txBody>
          <a:bodyPr/>
          <a:lstStyle>
            <a:lvl1pPr>
              <a:defRPr>
                <a:solidFill>
                  <a:sysClr val="windowText" lastClr="000000"/>
                </a:solidFill>
                <a:latin typeface="+mn-lt"/>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fld id="{3BC1E1F3-686D-4F52-826D-70A4F80E72A5}" type="datetime1">
              <a:rPr kumimoji="0" lang="en-US" sz="1200" b="0" i="0" u="none" strike="noStrike" kern="1200" cap="none" spc="0" normalizeH="0" baseline="0" noProof="0" smtClean="0">
                <a:ln>
                  <a:noFill/>
                </a:ln>
                <a:solidFill>
                  <a:sysClr val="windowText" lastClr="000000"/>
                </a:solidFill>
                <a:effectLst/>
                <a:uLnTx/>
                <a:uFillTx/>
                <a:latin typeface="Scala Sans"/>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5/20/21</a:t>
            </a:fld>
            <a:endParaRPr kumimoji="0" lang="en-US" sz="1200" b="0" i="0" u="none" strike="noStrike" kern="1200" cap="none" spc="0" normalizeH="0" baseline="0" noProof="0" dirty="0">
              <a:ln>
                <a:noFill/>
              </a:ln>
              <a:solidFill>
                <a:sysClr val="windowText" lastClr="000000"/>
              </a:solidFill>
              <a:effectLst/>
              <a:uLnTx/>
              <a:uFillTx/>
              <a:latin typeface="Scala Sans"/>
              <a:ea typeface="+mn-ea"/>
              <a:cs typeface="+mn-cs"/>
            </a:endParaRPr>
          </a:p>
        </p:txBody>
      </p:sp>
      <p:sp>
        <p:nvSpPr>
          <p:cNvPr id="18" name="Footer Placeholder 17" hidden="1">
            <a:extLst>
              <a:ext uri="{FF2B5EF4-FFF2-40B4-BE49-F238E27FC236}">
                <a16:creationId xmlns:a16="http://schemas.microsoft.com/office/drawing/2014/main" id="{33E0703D-A83A-40F4-A8D2-8D56B297D859}"/>
              </a:ext>
            </a:extLst>
          </p:cNvPr>
          <p:cNvSpPr>
            <a:spLocks noGrp="1"/>
          </p:cNvSpPr>
          <p:nvPr>
            <p:ph type="ftr" sz="quarter" idx="11"/>
          </p:nvPr>
        </p:nvSpPr>
        <p:spPr>
          <a:xfrm>
            <a:off x="4038599" y="6279454"/>
            <a:ext cx="4993783" cy="365125"/>
          </a:xfrm>
          <a:prstGeom prst="rect">
            <a:avLst/>
          </a:prstGeom>
        </p:spPr>
        <p:txBody>
          <a:bodyPr/>
          <a:lstStyle>
            <a:lvl1pPr>
              <a:defRPr>
                <a:solidFill>
                  <a:sysClr val="windowText" lastClr="000000"/>
                </a:solidFill>
                <a:latin typeface="+mn-lt"/>
              </a:defRPr>
            </a:lvl1p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ysClr val="windowText" lastClr="000000"/>
              </a:solidFill>
              <a:effectLst/>
              <a:uLnTx/>
              <a:uFillTx/>
              <a:latin typeface="Scala Sans"/>
              <a:ea typeface="+mn-ea"/>
              <a:cs typeface="+mn-cs"/>
            </a:endParaRPr>
          </a:p>
        </p:txBody>
      </p:sp>
      <p:pic>
        <p:nvPicPr>
          <p:cNvPr id="63" name="Graphic 62">
            <a:extLst>
              <a:ext uri="{FF2B5EF4-FFF2-40B4-BE49-F238E27FC236}">
                <a16:creationId xmlns:a16="http://schemas.microsoft.com/office/drawing/2014/main" id="{A0274B49-780C-479A-B0DB-0F3EABBF8D86}"/>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041641" y="5924550"/>
            <a:ext cx="719715" cy="744742"/>
          </a:xfrm>
          <a:prstGeom prst="rect">
            <a:avLst/>
          </a:prstGeom>
        </p:spPr>
      </p:pic>
    </p:spTree>
    <p:extLst>
      <p:ext uri="{BB962C8B-B14F-4D97-AF65-F5344CB8AC3E}">
        <p14:creationId xmlns:p14="http://schemas.microsoft.com/office/powerpoint/2010/main" val="6228941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Slide">
    <p:bg>
      <p:bgPr>
        <a:solidFill>
          <a:schemeClr val="accent2"/>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EF1DCB50-4D11-4F0B-AF02-F0797361079C}"/>
              </a:ext>
            </a:extLst>
          </p:cNvPr>
          <p:cNvPicPr>
            <a:picLocks noChangeAspect="1"/>
          </p:cNvPicPr>
          <p:nvPr userDrawn="1"/>
        </p:nvPicPr>
        <p:blipFill>
          <a:blip r:embed="rId2">
            <a:lum bright="100000"/>
          </a:blip>
          <a:stretch>
            <a:fillRect/>
          </a:stretch>
        </p:blipFill>
        <p:spPr>
          <a:xfrm>
            <a:off x="4798611" y="2338649"/>
            <a:ext cx="2539591" cy="2633613"/>
          </a:xfrm>
          <a:prstGeom prst="rect">
            <a:avLst/>
          </a:prstGeom>
        </p:spPr>
      </p:pic>
    </p:spTree>
    <p:extLst>
      <p:ext uri="{BB962C8B-B14F-4D97-AF65-F5344CB8AC3E}">
        <p14:creationId xmlns:p14="http://schemas.microsoft.com/office/powerpoint/2010/main" val="163018642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0"/>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1200" b="0">
                <a:solidFill>
                  <a:schemeClr val="tx1"/>
                </a:solidFill>
                <a:latin typeface="Scala Sans" panose="02000503060000020003" pitchFamily="2" charset="0"/>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fld id="{63182F9F-E9DB-44F9-8F4D-A11E49818C55}" type="datetime1">
              <a:rPr kumimoji="0" lang="en-US" sz="1200" b="0" i="0" u="none" strike="noStrike" kern="1200" cap="none" spc="0" normalizeH="0" baseline="0" noProof="0" smtClean="0">
                <a:ln>
                  <a:noFill/>
                </a:ln>
                <a:solidFill>
                  <a:prstClr val="black"/>
                </a:solidFill>
                <a:effectLst/>
                <a:uLnTx/>
                <a:uFillTx/>
                <a:latin typeface="Scala Sans" panose="02000503060000020003" pitchFamily="2" charset="0"/>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5/20/21</a:t>
            </a:fld>
            <a:endParaRPr kumimoji="0" lang="en-US" sz="1200" b="0" i="0" u="none" strike="noStrike" kern="1200" cap="none" spc="0" normalizeH="0" baseline="0" noProof="0" dirty="0">
              <a:ln>
                <a:noFill/>
              </a:ln>
              <a:solidFill>
                <a:prstClr val="black"/>
              </a:solidFill>
              <a:effectLst/>
              <a:uLnTx/>
              <a:uFillTx/>
              <a:latin typeface="Scala Sans" panose="02000503060000020003" pitchFamily="2" charset="0"/>
              <a:ea typeface="+mn-ea"/>
              <a:cs typeface="+mn-cs"/>
            </a:endParaRPr>
          </a:p>
        </p:txBody>
      </p:sp>
      <p:sp>
        <p:nvSpPr>
          <p:cNvPr id="6" name="Slide Number Placeholder 5"/>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200" b="0">
                <a:solidFill>
                  <a:schemeClr val="tx1"/>
                </a:solidFill>
                <a:latin typeface="Scala Sans" panose="02000503060000020003" pitchFamily="2" charset="0"/>
              </a:defRPr>
            </a:lvl1pPr>
          </a:lstStyle>
          <a:p>
            <a:pPr marL="0" marR="0" lvl="0" indent="0" algn="r" defTabSz="457200" rtl="0" eaLnBrk="1" fontAlgn="auto" latinLnBrk="0" hangingPunct="1">
              <a:lnSpc>
                <a:spcPct val="100000"/>
              </a:lnSpc>
              <a:spcBef>
                <a:spcPts val="0"/>
              </a:spcBef>
              <a:spcAft>
                <a:spcPts val="0"/>
              </a:spcAft>
              <a:buClrTx/>
              <a:buSzTx/>
              <a:buFontTx/>
              <a:buNone/>
              <a:tabLst/>
              <a:defRPr/>
            </a:pPr>
            <a:fld id="{1E19C8D7-53EE-4AF8-9E87-BBF55B67A655}" type="slidenum">
              <a:rPr kumimoji="0" lang="en-US" sz="1200" b="0" i="0" u="none" strike="noStrike" kern="1200" cap="none" spc="0" normalizeH="0" baseline="0" noProof="0" smtClean="0">
                <a:ln>
                  <a:noFill/>
                </a:ln>
                <a:solidFill>
                  <a:prstClr val="black"/>
                </a:solidFill>
                <a:effectLst/>
                <a:uLnTx/>
                <a:uFillTx/>
                <a:latin typeface="Scala Sans" panose="02000503060000020003" pitchFamily="2"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prstClr val="black"/>
              </a:solidFill>
              <a:effectLst/>
              <a:uLnTx/>
              <a:uFillTx/>
              <a:latin typeface="Scala Sans" panose="02000503060000020003" pitchFamily="2" charset="0"/>
              <a:ea typeface="+mn-ea"/>
              <a:cs typeface="+mn-cs"/>
            </a:endParaRPr>
          </a:p>
        </p:txBody>
      </p:sp>
    </p:spTree>
    <p:extLst>
      <p:ext uri="{BB962C8B-B14F-4D97-AF65-F5344CB8AC3E}">
        <p14:creationId xmlns:p14="http://schemas.microsoft.com/office/powerpoint/2010/main" val="159313892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Lst>
  <p:hf hdr="0" ftr="0" dt="0"/>
  <p:txStyles>
    <p:title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8899795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hidden="1">
            <a:extLst>
              <a:ext uri="{FF2B5EF4-FFF2-40B4-BE49-F238E27FC236}">
                <a16:creationId xmlns:a16="http://schemas.microsoft.com/office/drawing/2014/main" id="{6B6BA865-3E31-4433-8718-F66D4BF2B577}"/>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E19C8D7-53EE-4AF8-9E87-BBF55B67A655}" type="slidenum">
              <a:rPr kumimoji="0" lang="en-US" sz="1200" b="0" i="0" u="none" strike="noStrike" kern="1200" cap="none" spc="0" normalizeH="0" baseline="0" noProof="0" smtClean="0">
                <a:ln>
                  <a:noFill/>
                </a:ln>
                <a:solidFill>
                  <a:srgbClr val="B37924"/>
                </a:solidFill>
                <a:effectLst/>
                <a:uLnTx/>
                <a:uFillTx/>
                <a:latin typeface="Scala Sans"/>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dirty="0">
              <a:ln>
                <a:noFill/>
              </a:ln>
              <a:solidFill>
                <a:srgbClr val="B37924"/>
              </a:solidFill>
              <a:effectLst/>
              <a:uLnTx/>
              <a:uFillTx/>
              <a:latin typeface="Scala Sans"/>
              <a:ea typeface="+mn-ea"/>
              <a:cs typeface="+mn-cs"/>
            </a:endParaRPr>
          </a:p>
        </p:txBody>
      </p:sp>
      <p:sp>
        <p:nvSpPr>
          <p:cNvPr id="4" name="Title 3">
            <a:extLst>
              <a:ext uri="{FF2B5EF4-FFF2-40B4-BE49-F238E27FC236}">
                <a16:creationId xmlns:a16="http://schemas.microsoft.com/office/drawing/2014/main" id="{7B0D11FC-F12E-6F48-A1E7-F695504CE6E8}"/>
              </a:ext>
            </a:extLst>
          </p:cNvPr>
          <p:cNvSpPr>
            <a:spLocks noGrp="1"/>
          </p:cNvSpPr>
          <p:nvPr>
            <p:ph type="title"/>
          </p:nvPr>
        </p:nvSpPr>
        <p:spPr/>
        <p:txBody>
          <a:bodyPr>
            <a:normAutofit fontScale="90000"/>
          </a:bodyPr>
          <a:lstStyle/>
          <a:p>
            <a:r>
              <a:rPr lang="en-US" dirty="0"/>
              <a:t>Chapter 2, LO1, key terms</a:t>
            </a:r>
          </a:p>
        </p:txBody>
      </p:sp>
      <p:sp>
        <p:nvSpPr>
          <p:cNvPr id="2" name="Content Placeholder 1">
            <a:extLst>
              <a:ext uri="{FF2B5EF4-FFF2-40B4-BE49-F238E27FC236}">
                <a16:creationId xmlns:a16="http://schemas.microsoft.com/office/drawing/2014/main" id="{A45265F3-BD43-4653-BF57-6B2D60085650}"/>
              </a:ext>
            </a:extLst>
          </p:cNvPr>
          <p:cNvSpPr>
            <a:spLocks noGrp="1"/>
          </p:cNvSpPr>
          <p:nvPr>
            <p:ph idx="1"/>
          </p:nvPr>
        </p:nvSpPr>
        <p:spPr/>
        <p:txBody>
          <a:bodyPr/>
          <a:lstStyle/>
          <a:p>
            <a:pPr marL="457200" indent="-457200">
              <a:buFont typeface="+mj-lt"/>
              <a:buAutoNum type="arabicPeriod"/>
            </a:pPr>
            <a:r>
              <a:rPr lang="en-US" dirty="0">
                <a:solidFill>
                  <a:srgbClr val="FF0000"/>
                </a:solidFill>
              </a:rPr>
              <a:t>Describe legal and ethical behavior for medication aides</a:t>
            </a:r>
          </a:p>
          <a:p>
            <a:endParaRPr lang="en-US" dirty="0"/>
          </a:p>
          <a:p>
            <a:r>
              <a:rPr lang="en-US" dirty="0"/>
              <a:t>Define the following terms:</a:t>
            </a:r>
            <a:br>
              <a:rPr lang="en-US" dirty="0"/>
            </a:br>
            <a:endParaRPr lang="en-US" dirty="0"/>
          </a:p>
          <a:p>
            <a:r>
              <a:rPr lang="en-US" b="1" dirty="0"/>
              <a:t>ethics </a:t>
            </a:r>
          </a:p>
          <a:p>
            <a:pPr lvl="1"/>
            <a:r>
              <a:rPr lang="en-US" dirty="0"/>
              <a:t>the knowledge of right and wrong.</a:t>
            </a:r>
          </a:p>
          <a:p>
            <a:r>
              <a:rPr lang="en-US" b="1" dirty="0"/>
              <a:t>law</a:t>
            </a:r>
          </a:p>
          <a:p>
            <a:pPr lvl="1"/>
            <a:r>
              <a:rPr lang="en-US" dirty="0"/>
              <a:t>a rule established to help people live peacefully together and to ensure order and safety.</a:t>
            </a:r>
          </a:p>
          <a:p>
            <a:endParaRPr lang="en-US" dirty="0"/>
          </a:p>
          <a:p>
            <a:endParaRPr lang="en-US" dirty="0"/>
          </a:p>
          <a:p>
            <a:endParaRPr lang="en-US" dirty="0"/>
          </a:p>
          <a:p>
            <a:endParaRPr lang="en-US" dirty="0"/>
          </a:p>
          <a:p>
            <a:endParaRPr lang="en-US" dirty="0"/>
          </a:p>
          <a:p>
            <a:endParaRPr lang="en-US" dirty="0">
              <a:solidFill>
                <a:srgbClr val="FF0000"/>
              </a:solidFill>
            </a:endParaRPr>
          </a:p>
        </p:txBody>
      </p:sp>
    </p:spTree>
    <p:extLst>
      <p:ext uri="{BB962C8B-B14F-4D97-AF65-F5344CB8AC3E}">
        <p14:creationId xmlns:p14="http://schemas.microsoft.com/office/powerpoint/2010/main" val="9795533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hidden="1">
            <a:extLst>
              <a:ext uri="{FF2B5EF4-FFF2-40B4-BE49-F238E27FC236}">
                <a16:creationId xmlns:a16="http://schemas.microsoft.com/office/drawing/2014/main" id="{6B6BA865-3E31-4433-8718-F66D4BF2B577}"/>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E19C8D7-53EE-4AF8-9E87-BBF55B67A655}" type="slidenum">
              <a:rPr kumimoji="0" lang="en-US" sz="1200" b="0" i="0" u="none" strike="noStrike" kern="1200" cap="none" spc="0" normalizeH="0" baseline="0" noProof="0" smtClean="0">
                <a:ln>
                  <a:noFill/>
                </a:ln>
                <a:solidFill>
                  <a:srgbClr val="B37924"/>
                </a:solidFill>
                <a:effectLst/>
                <a:uLnTx/>
                <a:uFillTx/>
                <a:latin typeface="Scala Sans"/>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dirty="0">
              <a:ln>
                <a:noFill/>
              </a:ln>
              <a:solidFill>
                <a:srgbClr val="B37924"/>
              </a:solidFill>
              <a:effectLst/>
              <a:uLnTx/>
              <a:uFillTx/>
              <a:latin typeface="Scala Sans"/>
              <a:ea typeface="+mn-ea"/>
              <a:cs typeface="+mn-cs"/>
            </a:endParaRPr>
          </a:p>
        </p:txBody>
      </p:sp>
      <p:sp>
        <p:nvSpPr>
          <p:cNvPr id="4" name="Title 3">
            <a:extLst>
              <a:ext uri="{FF2B5EF4-FFF2-40B4-BE49-F238E27FC236}">
                <a16:creationId xmlns:a16="http://schemas.microsoft.com/office/drawing/2014/main" id="{7B0D11FC-F12E-6F48-A1E7-F695504CE6E8}"/>
              </a:ext>
            </a:extLst>
          </p:cNvPr>
          <p:cNvSpPr>
            <a:spLocks noGrp="1"/>
          </p:cNvSpPr>
          <p:nvPr>
            <p:ph type="title"/>
          </p:nvPr>
        </p:nvSpPr>
        <p:spPr/>
        <p:txBody>
          <a:bodyPr>
            <a:normAutofit fontScale="90000"/>
          </a:bodyPr>
          <a:lstStyle/>
          <a:p>
            <a:r>
              <a:rPr lang="en-US" dirty="0"/>
              <a:t>LO1, content 1</a:t>
            </a:r>
          </a:p>
        </p:txBody>
      </p:sp>
      <p:sp>
        <p:nvSpPr>
          <p:cNvPr id="2" name="Content Placeholder 1">
            <a:extLst>
              <a:ext uri="{FF2B5EF4-FFF2-40B4-BE49-F238E27FC236}">
                <a16:creationId xmlns:a16="http://schemas.microsoft.com/office/drawing/2014/main" id="{A45265F3-BD43-4653-BF57-6B2D60085650}"/>
              </a:ext>
            </a:extLst>
          </p:cNvPr>
          <p:cNvSpPr>
            <a:spLocks noGrp="1"/>
          </p:cNvSpPr>
          <p:nvPr>
            <p:ph idx="1"/>
          </p:nvPr>
        </p:nvSpPr>
        <p:spPr/>
        <p:txBody>
          <a:bodyPr>
            <a:normAutofit/>
          </a:bodyPr>
          <a:lstStyle/>
          <a:p>
            <a:pPr marL="457200" indent="-457200">
              <a:buFont typeface="+mj-lt"/>
              <a:buAutoNum type="arabicPeriod"/>
            </a:pPr>
            <a:r>
              <a:rPr lang="en-US" dirty="0">
                <a:solidFill>
                  <a:srgbClr val="FF0000"/>
                </a:solidFill>
              </a:rPr>
              <a:t>Describe legal and ethical behavior for medication aides</a:t>
            </a:r>
          </a:p>
          <a:p>
            <a:endParaRPr lang="en-US" dirty="0"/>
          </a:p>
          <a:p>
            <a:r>
              <a:rPr lang="en-US" dirty="0"/>
              <a:t>Remember these guidelines for ethical behavior. Consider how each one will apply on the job:</a:t>
            </a:r>
          </a:p>
          <a:p>
            <a:pPr marL="342900" indent="-342900">
              <a:buFont typeface="Arial" panose="020B0604020202020204" pitchFamily="34" charset="0"/>
              <a:buChar char="•"/>
            </a:pPr>
            <a:r>
              <a:rPr lang="en-US" dirty="0"/>
              <a:t>Be honest at all times</a:t>
            </a:r>
          </a:p>
          <a:p>
            <a:pPr marL="342900" indent="-342900">
              <a:buFont typeface="Arial" panose="020B0604020202020204" pitchFamily="34" charset="0"/>
              <a:buChar char="•"/>
            </a:pPr>
            <a:r>
              <a:rPr lang="en-US" dirty="0"/>
              <a:t>Protect residents’ property</a:t>
            </a:r>
          </a:p>
          <a:p>
            <a:pPr marL="342900" indent="-342900">
              <a:buFont typeface="Arial" panose="020B0604020202020204" pitchFamily="34" charset="0"/>
              <a:buChar char="•"/>
            </a:pPr>
            <a:r>
              <a:rPr lang="en-US" dirty="0"/>
              <a:t>Treat all residents with respect</a:t>
            </a:r>
          </a:p>
          <a:p>
            <a:pPr marL="342900" indent="-342900">
              <a:buFont typeface="Arial" panose="020B0604020202020204" pitchFamily="34" charset="0"/>
              <a:buChar char="•"/>
            </a:pPr>
            <a:r>
              <a:rPr lang="en-US" dirty="0"/>
              <a:t>Keep staff information confidential</a:t>
            </a:r>
          </a:p>
          <a:p>
            <a:pPr marL="342900" indent="-342900">
              <a:buFont typeface="Arial" panose="020B0604020202020204" pitchFamily="34" charset="0"/>
              <a:buChar char="•"/>
            </a:pPr>
            <a:r>
              <a:rPr lang="en-US" dirty="0"/>
              <a:t>Report abuse or suspected abuse of residents</a:t>
            </a:r>
          </a:p>
          <a:p>
            <a:endParaRPr lang="en-US" dirty="0"/>
          </a:p>
          <a:p>
            <a:endParaRPr lang="en-US" dirty="0"/>
          </a:p>
          <a:p>
            <a:endParaRPr lang="en-US" dirty="0"/>
          </a:p>
          <a:p>
            <a:endParaRPr lang="en-US" dirty="0">
              <a:solidFill>
                <a:srgbClr val="FF0000"/>
              </a:solidFill>
            </a:endParaRPr>
          </a:p>
        </p:txBody>
      </p:sp>
    </p:spTree>
    <p:extLst>
      <p:ext uri="{BB962C8B-B14F-4D97-AF65-F5344CB8AC3E}">
        <p14:creationId xmlns:p14="http://schemas.microsoft.com/office/powerpoint/2010/main" val="16957899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hidden="1">
            <a:extLst>
              <a:ext uri="{FF2B5EF4-FFF2-40B4-BE49-F238E27FC236}">
                <a16:creationId xmlns:a16="http://schemas.microsoft.com/office/drawing/2014/main" id="{6B6BA865-3E31-4433-8718-F66D4BF2B577}"/>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E19C8D7-53EE-4AF8-9E87-BBF55B67A655}" type="slidenum">
              <a:rPr kumimoji="0" lang="en-US" sz="1200" b="0" i="0" u="none" strike="noStrike" kern="1200" cap="none" spc="0" normalizeH="0" baseline="0" noProof="0" smtClean="0">
                <a:ln>
                  <a:noFill/>
                </a:ln>
                <a:solidFill>
                  <a:srgbClr val="B37924"/>
                </a:solidFill>
                <a:effectLst/>
                <a:uLnTx/>
                <a:uFillTx/>
                <a:latin typeface="Scala Sans"/>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dirty="0">
              <a:ln>
                <a:noFill/>
              </a:ln>
              <a:solidFill>
                <a:srgbClr val="B37924"/>
              </a:solidFill>
              <a:effectLst/>
              <a:uLnTx/>
              <a:uFillTx/>
              <a:latin typeface="Scala Sans"/>
              <a:ea typeface="+mn-ea"/>
              <a:cs typeface="+mn-cs"/>
            </a:endParaRPr>
          </a:p>
        </p:txBody>
      </p:sp>
      <p:sp>
        <p:nvSpPr>
          <p:cNvPr id="4" name="Title 3">
            <a:extLst>
              <a:ext uri="{FF2B5EF4-FFF2-40B4-BE49-F238E27FC236}">
                <a16:creationId xmlns:a16="http://schemas.microsoft.com/office/drawing/2014/main" id="{7B0D11FC-F12E-6F48-A1E7-F695504CE6E8}"/>
              </a:ext>
            </a:extLst>
          </p:cNvPr>
          <p:cNvSpPr>
            <a:spLocks noGrp="1"/>
          </p:cNvSpPr>
          <p:nvPr>
            <p:ph type="title"/>
          </p:nvPr>
        </p:nvSpPr>
        <p:spPr/>
        <p:txBody>
          <a:bodyPr>
            <a:normAutofit fontScale="90000"/>
          </a:bodyPr>
          <a:lstStyle/>
          <a:p>
            <a:r>
              <a:rPr lang="en-US" dirty="0"/>
              <a:t>LO1, content 2</a:t>
            </a:r>
          </a:p>
        </p:txBody>
      </p:sp>
      <p:sp>
        <p:nvSpPr>
          <p:cNvPr id="2" name="Content Placeholder 1">
            <a:extLst>
              <a:ext uri="{FF2B5EF4-FFF2-40B4-BE49-F238E27FC236}">
                <a16:creationId xmlns:a16="http://schemas.microsoft.com/office/drawing/2014/main" id="{A45265F3-BD43-4653-BF57-6B2D60085650}"/>
              </a:ext>
            </a:extLst>
          </p:cNvPr>
          <p:cNvSpPr>
            <a:spLocks noGrp="1"/>
          </p:cNvSpPr>
          <p:nvPr>
            <p:ph idx="1"/>
          </p:nvPr>
        </p:nvSpPr>
        <p:spPr/>
        <p:txBody>
          <a:bodyPr>
            <a:normAutofit/>
          </a:bodyPr>
          <a:lstStyle/>
          <a:p>
            <a:pPr marL="457200" indent="-457200">
              <a:buFont typeface="+mj-lt"/>
              <a:buAutoNum type="arabicPeriod"/>
            </a:pPr>
            <a:r>
              <a:rPr lang="en-US" dirty="0">
                <a:solidFill>
                  <a:srgbClr val="FF0000"/>
                </a:solidFill>
              </a:rPr>
              <a:t>Describe legal and ethical behavior for medication aides</a:t>
            </a:r>
          </a:p>
          <a:p>
            <a:endParaRPr lang="en-US" dirty="0"/>
          </a:p>
          <a:p>
            <a:r>
              <a:rPr lang="en-US" dirty="0"/>
              <a:t>Guidelines for ethical behavior (cont’d):</a:t>
            </a:r>
          </a:p>
          <a:p>
            <a:pPr marL="342900" indent="-342900">
              <a:buFont typeface="Arial" panose="020B0604020202020204" pitchFamily="34" charset="0"/>
              <a:buChar char="•"/>
            </a:pPr>
            <a:r>
              <a:rPr lang="en-US" dirty="0"/>
              <a:t>Follow the care plan and your assignments. Report any mistakes you make promptly</a:t>
            </a:r>
          </a:p>
          <a:p>
            <a:pPr marL="342900" indent="-342900">
              <a:buFont typeface="Arial" panose="020B0604020202020204" pitchFamily="34" charset="0"/>
              <a:buChar char="•"/>
            </a:pPr>
            <a:r>
              <a:rPr lang="en-US" dirty="0"/>
              <a:t>Do not perform any task outside your scope of practice</a:t>
            </a:r>
          </a:p>
          <a:p>
            <a:pPr marL="342900" indent="-342900">
              <a:buFont typeface="Arial" panose="020B0604020202020204" pitchFamily="34" charset="0"/>
              <a:buChar char="•"/>
            </a:pPr>
            <a:r>
              <a:rPr lang="en-US" dirty="0"/>
              <a:t>Report all incidents to the appropriate person</a:t>
            </a:r>
          </a:p>
          <a:p>
            <a:pPr marL="342900" indent="-342900">
              <a:buFont typeface="Arial" panose="020B0604020202020204" pitchFamily="34" charset="0"/>
              <a:buChar char="•"/>
            </a:pPr>
            <a:r>
              <a:rPr lang="en-US" dirty="0"/>
              <a:t>Document accurately and promptly</a:t>
            </a:r>
          </a:p>
          <a:p>
            <a:pPr marL="342900" indent="-342900">
              <a:buFont typeface="Arial" panose="020B0604020202020204" pitchFamily="34" charset="0"/>
              <a:buChar char="•"/>
            </a:pPr>
            <a:r>
              <a:rPr lang="en-US" dirty="0"/>
              <a:t>Follow rules about safety and infection prevention</a:t>
            </a:r>
          </a:p>
          <a:p>
            <a:pPr marL="342900" indent="-342900">
              <a:buFont typeface="Arial" panose="020B0604020202020204" pitchFamily="34" charset="0"/>
              <a:buChar char="•"/>
            </a:pPr>
            <a:r>
              <a:rPr lang="en-US" dirty="0"/>
              <a:t>Do not accept gifts or tips</a:t>
            </a:r>
          </a:p>
          <a:p>
            <a:pPr marL="342900" indent="-342900">
              <a:buFont typeface="Arial" panose="020B0604020202020204" pitchFamily="34" charset="0"/>
              <a:buChar char="•"/>
            </a:pPr>
            <a:r>
              <a:rPr lang="en-US" dirty="0"/>
              <a:t>Be professional. Do not share or exchange personal information</a:t>
            </a:r>
          </a:p>
          <a:p>
            <a:endParaRPr lang="en-US" dirty="0"/>
          </a:p>
          <a:p>
            <a:endParaRPr lang="en-US" dirty="0"/>
          </a:p>
          <a:p>
            <a:endParaRPr lang="en-US" dirty="0"/>
          </a:p>
          <a:p>
            <a:endParaRPr lang="en-US" dirty="0">
              <a:solidFill>
                <a:srgbClr val="FF0000"/>
              </a:solidFill>
            </a:endParaRPr>
          </a:p>
        </p:txBody>
      </p:sp>
    </p:spTree>
    <p:extLst>
      <p:ext uri="{BB962C8B-B14F-4D97-AF65-F5344CB8AC3E}">
        <p14:creationId xmlns:p14="http://schemas.microsoft.com/office/powerpoint/2010/main" val="25414679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hidden="1">
            <a:extLst>
              <a:ext uri="{FF2B5EF4-FFF2-40B4-BE49-F238E27FC236}">
                <a16:creationId xmlns:a16="http://schemas.microsoft.com/office/drawing/2014/main" id="{6B6BA865-3E31-4433-8718-F66D4BF2B577}"/>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E19C8D7-53EE-4AF8-9E87-BBF55B67A655}" type="slidenum">
              <a:rPr kumimoji="0" lang="en-US" sz="1200" b="0" i="0" u="none" strike="noStrike" kern="1200" cap="none" spc="0" normalizeH="0" baseline="0" noProof="0" smtClean="0">
                <a:ln>
                  <a:noFill/>
                </a:ln>
                <a:solidFill>
                  <a:srgbClr val="B37924"/>
                </a:solidFill>
                <a:effectLst/>
                <a:uLnTx/>
                <a:uFillTx/>
                <a:latin typeface="Scala Sans"/>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dirty="0">
              <a:ln>
                <a:noFill/>
              </a:ln>
              <a:solidFill>
                <a:srgbClr val="B37924"/>
              </a:solidFill>
              <a:effectLst/>
              <a:uLnTx/>
              <a:uFillTx/>
              <a:latin typeface="Scala Sans"/>
              <a:ea typeface="+mn-ea"/>
              <a:cs typeface="+mn-cs"/>
            </a:endParaRPr>
          </a:p>
        </p:txBody>
      </p:sp>
      <p:sp>
        <p:nvSpPr>
          <p:cNvPr id="4" name="Title 3">
            <a:extLst>
              <a:ext uri="{FF2B5EF4-FFF2-40B4-BE49-F238E27FC236}">
                <a16:creationId xmlns:a16="http://schemas.microsoft.com/office/drawing/2014/main" id="{7B0D11FC-F12E-6F48-A1E7-F695504CE6E8}"/>
              </a:ext>
            </a:extLst>
          </p:cNvPr>
          <p:cNvSpPr>
            <a:spLocks noGrp="1"/>
          </p:cNvSpPr>
          <p:nvPr>
            <p:ph type="title"/>
          </p:nvPr>
        </p:nvSpPr>
        <p:spPr/>
        <p:txBody>
          <a:bodyPr>
            <a:normAutofit fontScale="90000"/>
          </a:bodyPr>
          <a:lstStyle/>
          <a:p>
            <a:r>
              <a:rPr lang="en-US" dirty="0"/>
              <a:t>LO1, content 3</a:t>
            </a:r>
          </a:p>
        </p:txBody>
      </p:sp>
      <p:sp>
        <p:nvSpPr>
          <p:cNvPr id="2" name="Content Placeholder 1">
            <a:extLst>
              <a:ext uri="{FF2B5EF4-FFF2-40B4-BE49-F238E27FC236}">
                <a16:creationId xmlns:a16="http://schemas.microsoft.com/office/drawing/2014/main" id="{A45265F3-BD43-4653-BF57-6B2D60085650}"/>
              </a:ext>
            </a:extLst>
          </p:cNvPr>
          <p:cNvSpPr>
            <a:spLocks noGrp="1"/>
          </p:cNvSpPr>
          <p:nvPr>
            <p:ph idx="1"/>
          </p:nvPr>
        </p:nvSpPr>
        <p:spPr/>
        <p:txBody>
          <a:bodyPr>
            <a:normAutofit/>
          </a:bodyPr>
          <a:lstStyle/>
          <a:p>
            <a:pPr marL="457200" indent="-457200">
              <a:buFont typeface="+mj-lt"/>
              <a:buAutoNum type="arabicPeriod"/>
            </a:pPr>
            <a:r>
              <a:rPr lang="en-US" dirty="0">
                <a:solidFill>
                  <a:srgbClr val="FF0000"/>
                </a:solidFill>
              </a:rPr>
              <a:t>Describe legal and ethical behavior for medication aides</a:t>
            </a:r>
          </a:p>
          <a:p>
            <a:endParaRPr lang="en-US" dirty="0"/>
          </a:p>
          <a:p>
            <a:r>
              <a:rPr lang="en-US" dirty="0"/>
              <a:t>Critical Thinking: Conversation Starter</a:t>
            </a:r>
          </a:p>
          <a:p>
            <a:endParaRPr lang="en-US" dirty="0"/>
          </a:p>
          <a:p>
            <a:r>
              <a:rPr lang="en-US" dirty="0"/>
              <a:t>Have you ever worked at a facility or attended a school that has a code of ethics?</a:t>
            </a:r>
          </a:p>
          <a:p>
            <a:endParaRPr lang="en-US" dirty="0"/>
          </a:p>
          <a:p>
            <a:r>
              <a:rPr lang="en-US" dirty="0"/>
              <a:t>What did the code of ethics require?</a:t>
            </a:r>
          </a:p>
          <a:p>
            <a:endParaRPr lang="en-US" dirty="0"/>
          </a:p>
          <a:p>
            <a:r>
              <a:rPr lang="en-US" dirty="0"/>
              <a:t>Based on what you know about the job of a medication aide so far, what would you include in a medication aide code of ethics?</a:t>
            </a:r>
          </a:p>
          <a:p>
            <a:endParaRPr lang="en-US" dirty="0"/>
          </a:p>
          <a:p>
            <a:endParaRPr lang="en-US" dirty="0"/>
          </a:p>
          <a:p>
            <a:endParaRPr lang="en-US" dirty="0"/>
          </a:p>
          <a:p>
            <a:endParaRPr lang="en-US" dirty="0">
              <a:solidFill>
                <a:srgbClr val="FF0000"/>
              </a:solidFill>
            </a:endParaRPr>
          </a:p>
        </p:txBody>
      </p:sp>
    </p:spTree>
    <p:extLst>
      <p:ext uri="{BB962C8B-B14F-4D97-AF65-F5344CB8AC3E}">
        <p14:creationId xmlns:p14="http://schemas.microsoft.com/office/powerpoint/2010/main" val="17519292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hidden="1">
            <a:extLst>
              <a:ext uri="{FF2B5EF4-FFF2-40B4-BE49-F238E27FC236}">
                <a16:creationId xmlns:a16="http://schemas.microsoft.com/office/drawing/2014/main" id="{6B6BA865-3E31-4433-8718-F66D4BF2B577}"/>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E19C8D7-53EE-4AF8-9E87-BBF55B67A655}" type="slidenum">
              <a:rPr kumimoji="0" lang="en-US" sz="1200" b="0" i="0" u="none" strike="noStrike" kern="1200" cap="none" spc="0" normalizeH="0" baseline="0" noProof="0" smtClean="0">
                <a:ln>
                  <a:noFill/>
                </a:ln>
                <a:solidFill>
                  <a:srgbClr val="B37924"/>
                </a:solidFill>
                <a:effectLst/>
                <a:uLnTx/>
                <a:uFillTx/>
                <a:latin typeface="Scala Sans"/>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dirty="0">
              <a:ln>
                <a:noFill/>
              </a:ln>
              <a:solidFill>
                <a:srgbClr val="B37924"/>
              </a:solidFill>
              <a:effectLst/>
              <a:uLnTx/>
              <a:uFillTx/>
              <a:latin typeface="Scala Sans"/>
              <a:ea typeface="+mn-ea"/>
              <a:cs typeface="+mn-cs"/>
            </a:endParaRPr>
          </a:p>
        </p:txBody>
      </p:sp>
      <p:sp>
        <p:nvSpPr>
          <p:cNvPr id="4" name="Title 3">
            <a:extLst>
              <a:ext uri="{FF2B5EF4-FFF2-40B4-BE49-F238E27FC236}">
                <a16:creationId xmlns:a16="http://schemas.microsoft.com/office/drawing/2014/main" id="{09CD9DC4-B26D-5B42-A06F-299E57BFADEE}"/>
              </a:ext>
            </a:extLst>
          </p:cNvPr>
          <p:cNvSpPr>
            <a:spLocks noGrp="1"/>
          </p:cNvSpPr>
          <p:nvPr>
            <p:ph type="title"/>
          </p:nvPr>
        </p:nvSpPr>
        <p:spPr/>
        <p:txBody>
          <a:bodyPr>
            <a:normAutofit fontScale="90000"/>
          </a:bodyPr>
          <a:lstStyle/>
          <a:p>
            <a:r>
              <a:rPr lang="en-US" dirty="0"/>
              <a:t>LO2, key term</a:t>
            </a:r>
          </a:p>
        </p:txBody>
      </p:sp>
      <p:sp>
        <p:nvSpPr>
          <p:cNvPr id="2" name="Content Placeholder 1">
            <a:extLst>
              <a:ext uri="{FF2B5EF4-FFF2-40B4-BE49-F238E27FC236}">
                <a16:creationId xmlns:a16="http://schemas.microsoft.com/office/drawing/2014/main" id="{A45265F3-BD43-4653-BF57-6B2D60085650}"/>
              </a:ext>
            </a:extLst>
          </p:cNvPr>
          <p:cNvSpPr>
            <a:spLocks noGrp="1"/>
          </p:cNvSpPr>
          <p:nvPr>
            <p:ph idx="1"/>
          </p:nvPr>
        </p:nvSpPr>
        <p:spPr/>
        <p:txBody>
          <a:bodyPr/>
          <a:lstStyle/>
          <a:p>
            <a:pPr marL="457200" indent="-457200">
              <a:buFont typeface="+mj-lt"/>
              <a:buAutoNum type="arabicPeriod" startAt="2"/>
            </a:pPr>
            <a:r>
              <a:rPr lang="en-US" dirty="0">
                <a:solidFill>
                  <a:srgbClr val="FF0000"/>
                </a:solidFill>
              </a:rPr>
              <a:t>Discuss how state laws affect the role of medication aides</a:t>
            </a:r>
            <a:endParaRPr lang="en-US" dirty="0"/>
          </a:p>
          <a:p>
            <a:endParaRPr lang="en-US" dirty="0"/>
          </a:p>
          <a:p>
            <a:r>
              <a:rPr lang="en-US" dirty="0"/>
              <a:t>Define the following term:</a:t>
            </a:r>
            <a:br>
              <a:rPr lang="en-US" dirty="0"/>
            </a:br>
            <a:endParaRPr lang="en-US" dirty="0"/>
          </a:p>
          <a:p>
            <a:r>
              <a:rPr lang="en-US" b="1" dirty="0"/>
              <a:t>controlled substance</a:t>
            </a:r>
          </a:p>
          <a:p>
            <a:pPr lvl="1"/>
            <a:r>
              <a:rPr lang="en-US" dirty="0"/>
              <a:t>a drug that is more likely than others to be abused or to cause addiction.</a:t>
            </a:r>
          </a:p>
          <a:p>
            <a:endParaRPr lang="en-US" dirty="0"/>
          </a:p>
          <a:p>
            <a:endParaRPr lang="en-US" dirty="0"/>
          </a:p>
          <a:p>
            <a:endParaRPr lang="en-US" dirty="0"/>
          </a:p>
          <a:p>
            <a:endParaRPr lang="en-US" dirty="0"/>
          </a:p>
          <a:p>
            <a:endParaRPr lang="en-US" dirty="0">
              <a:solidFill>
                <a:srgbClr val="FF0000"/>
              </a:solidFill>
            </a:endParaRPr>
          </a:p>
        </p:txBody>
      </p:sp>
    </p:spTree>
    <p:extLst>
      <p:ext uri="{BB962C8B-B14F-4D97-AF65-F5344CB8AC3E}">
        <p14:creationId xmlns:p14="http://schemas.microsoft.com/office/powerpoint/2010/main" val="39955675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hidden="1">
            <a:extLst>
              <a:ext uri="{FF2B5EF4-FFF2-40B4-BE49-F238E27FC236}">
                <a16:creationId xmlns:a16="http://schemas.microsoft.com/office/drawing/2014/main" id="{6B6BA865-3E31-4433-8718-F66D4BF2B577}"/>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E19C8D7-53EE-4AF8-9E87-BBF55B67A655}" type="slidenum">
              <a:rPr kumimoji="0" lang="en-US" sz="1200" b="0" i="0" u="none" strike="noStrike" kern="1200" cap="none" spc="0" normalizeH="0" baseline="0" noProof="0" smtClean="0">
                <a:ln>
                  <a:noFill/>
                </a:ln>
                <a:solidFill>
                  <a:srgbClr val="B37924"/>
                </a:solidFill>
                <a:effectLst/>
                <a:uLnTx/>
                <a:uFillTx/>
                <a:latin typeface="Scala Sans"/>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dirty="0">
              <a:ln>
                <a:noFill/>
              </a:ln>
              <a:solidFill>
                <a:srgbClr val="B37924"/>
              </a:solidFill>
              <a:effectLst/>
              <a:uLnTx/>
              <a:uFillTx/>
              <a:latin typeface="Scala Sans"/>
              <a:ea typeface="+mn-ea"/>
              <a:cs typeface="+mn-cs"/>
            </a:endParaRPr>
          </a:p>
        </p:txBody>
      </p:sp>
      <p:sp>
        <p:nvSpPr>
          <p:cNvPr id="4" name="Title 3">
            <a:extLst>
              <a:ext uri="{FF2B5EF4-FFF2-40B4-BE49-F238E27FC236}">
                <a16:creationId xmlns:a16="http://schemas.microsoft.com/office/drawing/2014/main" id="{09CD9DC4-B26D-5B42-A06F-299E57BFADEE}"/>
              </a:ext>
            </a:extLst>
          </p:cNvPr>
          <p:cNvSpPr>
            <a:spLocks noGrp="1"/>
          </p:cNvSpPr>
          <p:nvPr>
            <p:ph type="title"/>
          </p:nvPr>
        </p:nvSpPr>
        <p:spPr/>
        <p:txBody>
          <a:bodyPr>
            <a:normAutofit fontScale="90000"/>
          </a:bodyPr>
          <a:lstStyle/>
          <a:p>
            <a:r>
              <a:rPr lang="en-US" dirty="0"/>
              <a:t>LO2, content 1</a:t>
            </a:r>
          </a:p>
        </p:txBody>
      </p:sp>
      <p:sp>
        <p:nvSpPr>
          <p:cNvPr id="2" name="Content Placeholder 1">
            <a:extLst>
              <a:ext uri="{FF2B5EF4-FFF2-40B4-BE49-F238E27FC236}">
                <a16:creationId xmlns:a16="http://schemas.microsoft.com/office/drawing/2014/main" id="{A45265F3-BD43-4653-BF57-6B2D60085650}"/>
              </a:ext>
            </a:extLst>
          </p:cNvPr>
          <p:cNvSpPr>
            <a:spLocks noGrp="1"/>
          </p:cNvSpPr>
          <p:nvPr>
            <p:ph idx="1"/>
          </p:nvPr>
        </p:nvSpPr>
        <p:spPr/>
        <p:txBody>
          <a:bodyPr/>
          <a:lstStyle/>
          <a:p>
            <a:pPr marL="457200" indent="-457200">
              <a:buFont typeface="+mj-lt"/>
              <a:buAutoNum type="arabicPeriod" startAt="2"/>
            </a:pPr>
            <a:r>
              <a:rPr lang="en-US" dirty="0">
                <a:solidFill>
                  <a:srgbClr val="FF0000"/>
                </a:solidFill>
              </a:rPr>
              <a:t>Discuss how state laws affect the role of medication aides</a:t>
            </a:r>
            <a:endParaRPr lang="en-US" dirty="0"/>
          </a:p>
          <a:p>
            <a:endParaRPr lang="en-US" dirty="0"/>
          </a:p>
          <a:p>
            <a:r>
              <a:rPr lang="en-US" dirty="0"/>
              <a:t>States may regulate these aspects of the medication aide role:</a:t>
            </a:r>
          </a:p>
          <a:p>
            <a:pPr marL="342900" indent="-342900">
              <a:buFont typeface="Arial" panose="020B0604020202020204" pitchFamily="34" charset="0"/>
              <a:buChar char="•"/>
            </a:pPr>
            <a:r>
              <a:rPr lang="en-US" dirty="0"/>
              <a:t>Who may become an MA (e.g., whether a person must work first as an NA)</a:t>
            </a:r>
          </a:p>
          <a:p>
            <a:pPr marL="342900" indent="-342900">
              <a:buFont typeface="Arial" panose="020B0604020202020204" pitchFamily="34" charset="0"/>
              <a:buChar char="•"/>
            </a:pPr>
            <a:r>
              <a:rPr lang="en-US" dirty="0"/>
              <a:t>The length and type of training a medication aide must have</a:t>
            </a:r>
          </a:p>
          <a:p>
            <a:pPr marL="342900" indent="-342900">
              <a:buFont typeface="Arial" panose="020B0604020202020204" pitchFamily="34" charset="0"/>
              <a:buChar char="•"/>
            </a:pPr>
            <a:r>
              <a:rPr lang="en-US" dirty="0"/>
              <a:t>Whether an MA must take a certification exam and how the exam is given</a:t>
            </a:r>
          </a:p>
          <a:p>
            <a:pPr marL="342900" indent="-342900">
              <a:buFont typeface="Arial" panose="020B0604020202020204" pitchFamily="34" charset="0"/>
              <a:buChar char="•"/>
            </a:pPr>
            <a:r>
              <a:rPr lang="en-US" dirty="0"/>
              <a:t>How to keep certification current</a:t>
            </a:r>
          </a:p>
          <a:p>
            <a:pPr marL="342900" indent="-342900">
              <a:buFont typeface="Arial" panose="020B0604020202020204" pitchFamily="34" charset="0"/>
              <a:buChar char="•"/>
            </a:pPr>
            <a:r>
              <a:rPr lang="en-US" dirty="0"/>
              <a:t>What tasks MAs are allowed or not allowed to perform</a:t>
            </a:r>
          </a:p>
          <a:p>
            <a:pPr marL="342900" indent="-342900">
              <a:buFont typeface="Arial" panose="020B0604020202020204" pitchFamily="34" charset="0"/>
              <a:buChar char="•"/>
            </a:pPr>
            <a:r>
              <a:rPr lang="en-US" dirty="0"/>
              <a:t>Where MAs can work </a:t>
            </a:r>
          </a:p>
          <a:p>
            <a:endParaRPr lang="en-US" dirty="0"/>
          </a:p>
          <a:p>
            <a:endParaRPr lang="en-US" dirty="0"/>
          </a:p>
          <a:p>
            <a:endParaRPr lang="en-US" dirty="0"/>
          </a:p>
          <a:p>
            <a:endParaRPr lang="en-US" dirty="0"/>
          </a:p>
          <a:p>
            <a:endParaRPr lang="en-US" dirty="0">
              <a:solidFill>
                <a:srgbClr val="FF0000"/>
              </a:solidFill>
            </a:endParaRPr>
          </a:p>
        </p:txBody>
      </p:sp>
    </p:spTree>
    <p:extLst>
      <p:ext uri="{BB962C8B-B14F-4D97-AF65-F5344CB8AC3E}">
        <p14:creationId xmlns:p14="http://schemas.microsoft.com/office/powerpoint/2010/main" val="3324606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hidden="1">
            <a:extLst>
              <a:ext uri="{FF2B5EF4-FFF2-40B4-BE49-F238E27FC236}">
                <a16:creationId xmlns:a16="http://schemas.microsoft.com/office/drawing/2014/main" id="{6B6BA865-3E31-4433-8718-F66D4BF2B577}"/>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E19C8D7-53EE-4AF8-9E87-BBF55B67A655}" type="slidenum">
              <a:rPr kumimoji="0" lang="en-US" sz="1200" b="0" i="0" u="none" strike="noStrike" kern="1200" cap="none" spc="0" normalizeH="0" baseline="0" noProof="0" smtClean="0">
                <a:ln>
                  <a:noFill/>
                </a:ln>
                <a:solidFill>
                  <a:srgbClr val="B37924"/>
                </a:solidFill>
                <a:effectLst/>
                <a:uLnTx/>
                <a:uFillTx/>
                <a:latin typeface="Scala Sans"/>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dirty="0">
              <a:ln>
                <a:noFill/>
              </a:ln>
              <a:solidFill>
                <a:srgbClr val="B37924"/>
              </a:solidFill>
              <a:effectLst/>
              <a:uLnTx/>
              <a:uFillTx/>
              <a:latin typeface="Scala Sans"/>
              <a:ea typeface="+mn-ea"/>
              <a:cs typeface="+mn-cs"/>
            </a:endParaRPr>
          </a:p>
        </p:txBody>
      </p:sp>
      <p:sp>
        <p:nvSpPr>
          <p:cNvPr id="4" name="Title 3">
            <a:extLst>
              <a:ext uri="{FF2B5EF4-FFF2-40B4-BE49-F238E27FC236}">
                <a16:creationId xmlns:a16="http://schemas.microsoft.com/office/drawing/2014/main" id="{62326A88-0B2F-D74F-9DDC-CE90A78F664B}"/>
              </a:ext>
            </a:extLst>
          </p:cNvPr>
          <p:cNvSpPr>
            <a:spLocks noGrp="1"/>
          </p:cNvSpPr>
          <p:nvPr>
            <p:ph type="title"/>
          </p:nvPr>
        </p:nvSpPr>
        <p:spPr/>
        <p:txBody>
          <a:bodyPr>
            <a:normAutofit fontScale="90000"/>
          </a:bodyPr>
          <a:lstStyle/>
          <a:p>
            <a:r>
              <a:rPr lang="en-US" dirty="0"/>
              <a:t>LO3, key terms</a:t>
            </a:r>
          </a:p>
        </p:txBody>
      </p:sp>
      <p:sp>
        <p:nvSpPr>
          <p:cNvPr id="2" name="Content Placeholder 1">
            <a:extLst>
              <a:ext uri="{FF2B5EF4-FFF2-40B4-BE49-F238E27FC236}">
                <a16:creationId xmlns:a16="http://schemas.microsoft.com/office/drawing/2014/main" id="{A45265F3-BD43-4653-BF57-6B2D60085650}"/>
              </a:ext>
            </a:extLst>
          </p:cNvPr>
          <p:cNvSpPr>
            <a:spLocks noGrp="1"/>
          </p:cNvSpPr>
          <p:nvPr>
            <p:ph idx="1"/>
          </p:nvPr>
        </p:nvSpPr>
        <p:spPr/>
        <p:txBody>
          <a:bodyPr/>
          <a:lstStyle/>
          <a:p>
            <a:pPr marL="457200" indent="-457200">
              <a:buFont typeface="+mj-lt"/>
              <a:buAutoNum type="arabicPeriod" startAt="3"/>
            </a:pPr>
            <a:r>
              <a:rPr lang="en-US" dirty="0">
                <a:solidFill>
                  <a:srgbClr val="FF0000"/>
                </a:solidFill>
              </a:rPr>
              <a:t>Explain tasks that cannot be delegated to medication aides</a:t>
            </a:r>
          </a:p>
          <a:p>
            <a:endParaRPr lang="en-US" dirty="0"/>
          </a:p>
          <a:p>
            <a:r>
              <a:rPr lang="en-US" dirty="0"/>
              <a:t>Define the following terms:</a:t>
            </a:r>
            <a:br>
              <a:rPr lang="en-US" dirty="0"/>
            </a:br>
            <a:endParaRPr lang="en-US" dirty="0"/>
          </a:p>
          <a:p>
            <a:r>
              <a:rPr lang="en-US" b="1" dirty="0"/>
              <a:t>assess </a:t>
            </a:r>
          </a:p>
          <a:p>
            <a:pPr lvl="1"/>
            <a:r>
              <a:rPr lang="en-US" dirty="0"/>
              <a:t>in medication administration, to make a medical determination about a resident’s response to a drug; this is a nurse’s or doctor’s role.</a:t>
            </a:r>
          </a:p>
          <a:p>
            <a:r>
              <a:rPr lang="en-US" b="1" dirty="0"/>
              <a:t>glucose</a:t>
            </a:r>
          </a:p>
          <a:p>
            <a:pPr lvl="1"/>
            <a:r>
              <a:rPr lang="en-US" dirty="0"/>
              <a:t>natural sugar.</a:t>
            </a:r>
          </a:p>
          <a:p>
            <a:r>
              <a:rPr lang="en-US" b="1" dirty="0"/>
              <a:t>subcutaneous </a:t>
            </a:r>
          </a:p>
          <a:p>
            <a:pPr lvl="1"/>
            <a:r>
              <a:rPr lang="en-US" dirty="0"/>
              <a:t>a type of injection given under the skin, in the fat layer above the muscle.</a:t>
            </a:r>
          </a:p>
          <a:p>
            <a:r>
              <a:rPr lang="en-US" b="1" dirty="0"/>
              <a:t>insulin</a:t>
            </a:r>
          </a:p>
          <a:p>
            <a:pPr lvl="1"/>
            <a:r>
              <a:rPr lang="en-US" dirty="0"/>
              <a:t>a hormone that works to move glucose from the blood an into the cells for energy for the body.</a:t>
            </a:r>
          </a:p>
          <a:p>
            <a:endParaRPr lang="en-US" dirty="0"/>
          </a:p>
          <a:p>
            <a:endParaRPr lang="en-US" dirty="0"/>
          </a:p>
          <a:p>
            <a:endParaRPr lang="en-US" dirty="0"/>
          </a:p>
          <a:p>
            <a:endParaRPr lang="en-US" dirty="0"/>
          </a:p>
          <a:p>
            <a:endParaRPr lang="en-US" dirty="0"/>
          </a:p>
          <a:p>
            <a:endParaRPr lang="en-US" dirty="0"/>
          </a:p>
          <a:p>
            <a:endParaRPr lang="en-US" dirty="0">
              <a:solidFill>
                <a:srgbClr val="FF0000"/>
              </a:solidFill>
            </a:endParaRPr>
          </a:p>
        </p:txBody>
      </p:sp>
    </p:spTree>
    <p:extLst>
      <p:ext uri="{BB962C8B-B14F-4D97-AF65-F5344CB8AC3E}">
        <p14:creationId xmlns:p14="http://schemas.microsoft.com/office/powerpoint/2010/main" val="1119590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hidden="1">
            <a:extLst>
              <a:ext uri="{FF2B5EF4-FFF2-40B4-BE49-F238E27FC236}">
                <a16:creationId xmlns:a16="http://schemas.microsoft.com/office/drawing/2014/main" id="{6B6BA865-3E31-4433-8718-F66D4BF2B577}"/>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E19C8D7-53EE-4AF8-9E87-BBF55B67A655}" type="slidenum">
              <a:rPr kumimoji="0" lang="en-US" sz="1200" b="0" i="0" u="none" strike="noStrike" kern="1200" cap="none" spc="0" normalizeH="0" baseline="0" noProof="0" smtClean="0">
                <a:ln>
                  <a:noFill/>
                </a:ln>
                <a:solidFill>
                  <a:srgbClr val="B37924"/>
                </a:solidFill>
                <a:effectLst/>
                <a:uLnTx/>
                <a:uFillTx/>
                <a:latin typeface="Scala Sans"/>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dirty="0">
              <a:ln>
                <a:noFill/>
              </a:ln>
              <a:solidFill>
                <a:srgbClr val="B37924"/>
              </a:solidFill>
              <a:effectLst/>
              <a:uLnTx/>
              <a:uFillTx/>
              <a:latin typeface="Scala Sans"/>
              <a:ea typeface="+mn-ea"/>
              <a:cs typeface="+mn-cs"/>
            </a:endParaRPr>
          </a:p>
        </p:txBody>
      </p:sp>
      <p:sp>
        <p:nvSpPr>
          <p:cNvPr id="4" name="Title 3">
            <a:extLst>
              <a:ext uri="{FF2B5EF4-FFF2-40B4-BE49-F238E27FC236}">
                <a16:creationId xmlns:a16="http://schemas.microsoft.com/office/drawing/2014/main" id="{62326A88-0B2F-D74F-9DDC-CE90A78F664B}"/>
              </a:ext>
            </a:extLst>
          </p:cNvPr>
          <p:cNvSpPr>
            <a:spLocks noGrp="1"/>
          </p:cNvSpPr>
          <p:nvPr>
            <p:ph type="title"/>
          </p:nvPr>
        </p:nvSpPr>
        <p:spPr/>
        <p:txBody>
          <a:bodyPr>
            <a:normAutofit fontScale="90000"/>
          </a:bodyPr>
          <a:lstStyle/>
          <a:p>
            <a:r>
              <a:rPr lang="en-US" dirty="0"/>
              <a:t>LO3, content 1</a:t>
            </a:r>
          </a:p>
        </p:txBody>
      </p:sp>
      <p:sp>
        <p:nvSpPr>
          <p:cNvPr id="2" name="Content Placeholder 1">
            <a:extLst>
              <a:ext uri="{FF2B5EF4-FFF2-40B4-BE49-F238E27FC236}">
                <a16:creationId xmlns:a16="http://schemas.microsoft.com/office/drawing/2014/main" id="{A45265F3-BD43-4653-BF57-6B2D60085650}"/>
              </a:ext>
            </a:extLst>
          </p:cNvPr>
          <p:cNvSpPr>
            <a:spLocks noGrp="1"/>
          </p:cNvSpPr>
          <p:nvPr>
            <p:ph idx="1"/>
          </p:nvPr>
        </p:nvSpPr>
        <p:spPr/>
        <p:txBody>
          <a:bodyPr/>
          <a:lstStyle/>
          <a:p>
            <a:pPr marL="457200" indent="-457200">
              <a:buFont typeface="+mj-lt"/>
              <a:buAutoNum type="arabicPeriod" startAt="3"/>
            </a:pPr>
            <a:r>
              <a:rPr lang="en-US" dirty="0">
                <a:solidFill>
                  <a:srgbClr val="FF0000"/>
                </a:solidFill>
              </a:rPr>
              <a:t>Explain tasks that cannot be delegated to medication aides</a:t>
            </a:r>
          </a:p>
          <a:p>
            <a:endParaRPr lang="en-US" dirty="0"/>
          </a:p>
          <a:p>
            <a:r>
              <a:rPr lang="en-US" dirty="0"/>
              <a:t>Review these tasks usually considered beyond scope of practice for a medication aide:</a:t>
            </a:r>
          </a:p>
          <a:p>
            <a:pPr marL="342900" indent="-342900">
              <a:buFont typeface="Arial" panose="020B0604020202020204" pitchFamily="34" charset="0"/>
              <a:buChar char="•"/>
            </a:pPr>
            <a:r>
              <a:rPr lang="en-US" dirty="0"/>
              <a:t>Calculating or converting medication doses</a:t>
            </a:r>
          </a:p>
          <a:p>
            <a:pPr marL="342900" indent="-342900">
              <a:buFont typeface="Arial" panose="020B0604020202020204" pitchFamily="34" charset="0"/>
              <a:buChar char="•"/>
            </a:pPr>
            <a:r>
              <a:rPr lang="en-US" dirty="0"/>
              <a:t>Receiving medication orders, by phone or in person</a:t>
            </a:r>
          </a:p>
          <a:p>
            <a:pPr marL="342900" indent="-342900">
              <a:buFont typeface="Arial" panose="020B0604020202020204" pitchFamily="34" charset="0"/>
              <a:buChar char="•"/>
            </a:pPr>
            <a:r>
              <a:rPr lang="en-US"/>
              <a:t>Transcribing medication </a:t>
            </a:r>
            <a:r>
              <a:rPr lang="en-US" dirty="0"/>
              <a:t>orders</a:t>
            </a:r>
          </a:p>
          <a:p>
            <a:pPr marL="342900" indent="-342900">
              <a:buFont typeface="Arial" panose="020B0604020202020204" pitchFamily="34" charset="0"/>
              <a:buChar char="•"/>
            </a:pPr>
            <a:r>
              <a:rPr lang="en-US" dirty="0"/>
              <a:t>Assessing (making a medical determination about) a resident’s response to a medication</a:t>
            </a:r>
          </a:p>
          <a:p>
            <a:pPr marL="342900" indent="-342900">
              <a:buFont typeface="Arial" panose="020B0604020202020204" pitchFamily="34" charset="0"/>
              <a:buChar char="•"/>
            </a:pPr>
            <a:r>
              <a:rPr lang="en-US" dirty="0"/>
              <a:t>Assessing a resident’s need for a medication</a:t>
            </a:r>
          </a:p>
          <a:p>
            <a:pPr marL="342900" indent="-342900">
              <a:buFont typeface="Arial" panose="020B0604020202020204" pitchFamily="34" charset="0"/>
              <a:buChar char="•"/>
            </a:pPr>
            <a:r>
              <a:rPr lang="en-US" dirty="0"/>
              <a:t>Administering medications to a resident whose health is not stable</a:t>
            </a:r>
          </a:p>
          <a:p>
            <a:pPr marL="342900" indent="-342900">
              <a:buFont typeface="Arial" panose="020B0604020202020204" pitchFamily="34" charset="0"/>
              <a:buChar char="•"/>
            </a:pPr>
            <a:r>
              <a:rPr lang="en-US" dirty="0"/>
              <a:t>Administering medications when a nurse is not available to monitor the resident’s response</a:t>
            </a:r>
          </a:p>
          <a:p>
            <a:pPr marL="342900" indent="-342900">
              <a:buFont typeface="Arial" panose="020B0604020202020204" pitchFamily="34" charset="0"/>
              <a:buChar char="•"/>
            </a:pPr>
            <a:r>
              <a:rPr lang="en-US" dirty="0"/>
              <a:t>Administering a new medication for the first time</a:t>
            </a:r>
          </a:p>
          <a:p>
            <a:pPr marL="342900" indent="-342900">
              <a:buFont typeface="Arial" panose="020B0604020202020204" pitchFamily="34" charset="0"/>
              <a:buChar char="•"/>
            </a:pPr>
            <a:r>
              <a:rPr lang="en-US" dirty="0"/>
              <a:t>Administering IV or intramuscular medications (EpiPen may be an exception, depending on the state/facility </a:t>
            </a:r>
          </a:p>
          <a:p>
            <a:endParaRPr lang="en-US" dirty="0"/>
          </a:p>
          <a:p>
            <a:endParaRPr lang="en-US" dirty="0"/>
          </a:p>
          <a:p>
            <a:endParaRPr lang="en-US" dirty="0"/>
          </a:p>
          <a:p>
            <a:endParaRPr lang="en-US" dirty="0"/>
          </a:p>
          <a:p>
            <a:endParaRPr lang="en-US" dirty="0"/>
          </a:p>
          <a:p>
            <a:endParaRPr lang="en-US" dirty="0"/>
          </a:p>
          <a:p>
            <a:endParaRPr lang="en-US" dirty="0">
              <a:solidFill>
                <a:srgbClr val="FF0000"/>
              </a:solidFill>
            </a:endParaRPr>
          </a:p>
        </p:txBody>
      </p:sp>
    </p:spTree>
    <p:extLst>
      <p:ext uri="{BB962C8B-B14F-4D97-AF65-F5344CB8AC3E}">
        <p14:creationId xmlns:p14="http://schemas.microsoft.com/office/powerpoint/2010/main" val="23014770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hidden="1">
            <a:extLst>
              <a:ext uri="{FF2B5EF4-FFF2-40B4-BE49-F238E27FC236}">
                <a16:creationId xmlns:a16="http://schemas.microsoft.com/office/drawing/2014/main" id="{6B6BA865-3E31-4433-8718-F66D4BF2B577}"/>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E19C8D7-53EE-4AF8-9E87-BBF55B67A655}" type="slidenum">
              <a:rPr kumimoji="0" lang="en-US" sz="1200" b="0" i="0" u="none" strike="noStrike" kern="1200" cap="none" spc="0" normalizeH="0" baseline="0" noProof="0" smtClean="0">
                <a:ln>
                  <a:noFill/>
                </a:ln>
                <a:solidFill>
                  <a:srgbClr val="B37924"/>
                </a:solidFill>
                <a:effectLst/>
                <a:uLnTx/>
                <a:uFillTx/>
                <a:latin typeface="Scala Sans"/>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dirty="0">
              <a:ln>
                <a:noFill/>
              </a:ln>
              <a:solidFill>
                <a:srgbClr val="B37924"/>
              </a:solidFill>
              <a:effectLst/>
              <a:uLnTx/>
              <a:uFillTx/>
              <a:latin typeface="Scala Sans"/>
              <a:ea typeface="+mn-ea"/>
              <a:cs typeface="+mn-cs"/>
            </a:endParaRPr>
          </a:p>
        </p:txBody>
      </p:sp>
      <p:sp>
        <p:nvSpPr>
          <p:cNvPr id="4" name="Title 3">
            <a:extLst>
              <a:ext uri="{FF2B5EF4-FFF2-40B4-BE49-F238E27FC236}">
                <a16:creationId xmlns:a16="http://schemas.microsoft.com/office/drawing/2014/main" id="{62326A88-0B2F-D74F-9DDC-CE90A78F664B}"/>
              </a:ext>
            </a:extLst>
          </p:cNvPr>
          <p:cNvSpPr>
            <a:spLocks noGrp="1"/>
          </p:cNvSpPr>
          <p:nvPr>
            <p:ph type="title"/>
          </p:nvPr>
        </p:nvSpPr>
        <p:spPr/>
        <p:txBody>
          <a:bodyPr>
            <a:normAutofit fontScale="90000"/>
          </a:bodyPr>
          <a:lstStyle/>
          <a:p>
            <a:r>
              <a:rPr lang="en-US" dirty="0"/>
              <a:t>LO3, content 2</a:t>
            </a:r>
          </a:p>
        </p:txBody>
      </p:sp>
      <p:sp>
        <p:nvSpPr>
          <p:cNvPr id="2" name="Content Placeholder 1">
            <a:extLst>
              <a:ext uri="{FF2B5EF4-FFF2-40B4-BE49-F238E27FC236}">
                <a16:creationId xmlns:a16="http://schemas.microsoft.com/office/drawing/2014/main" id="{A45265F3-BD43-4653-BF57-6B2D60085650}"/>
              </a:ext>
            </a:extLst>
          </p:cNvPr>
          <p:cNvSpPr>
            <a:spLocks noGrp="1"/>
          </p:cNvSpPr>
          <p:nvPr>
            <p:ph idx="1"/>
          </p:nvPr>
        </p:nvSpPr>
        <p:spPr/>
        <p:txBody>
          <a:bodyPr/>
          <a:lstStyle/>
          <a:p>
            <a:pPr marL="457200" indent="-457200">
              <a:buFont typeface="+mj-lt"/>
              <a:buAutoNum type="arabicPeriod" startAt="3"/>
            </a:pPr>
            <a:r>
              <a:rPr lang="en-US" dirty="0">
                <a:solidFill>
                  <a:srgbClr val="FF0000"/>
                </a:solidFill>
              </a:rPr>
              <a:t>Explain tasks that cannot be delegated to medication aides</a:t>
            </a:r>
          </a:p>
          <a:p>
            <a:endParaRPr lang="en-US" dirty="0"/>
          </a:p>
          <a:p>
            <a:r>
              <a:rPr lang="en-US" dirty="0"/>
              <a:t>These tasks may be allowed for medication aides in some states/facilities (with proper training):</a:t>
            </a:r>
          </a:p>
          <a:p>
            <a:pPr marL="342900" indent="-342900">
              <a:buFont typeface="Arial" panose="020B0604020202020204" pitchFamily="34" charset="0"/>
              <a:buChar char="•"/>
            </a:pPr>
            <a:r>
              <a:rPr lang="en-US" dirty="0"/>
              <a:t>Disposing of or destroying medications in quantities more than a single dose</a:t>
            </a:r>
          </a:p>
          <a:p>
            <a:pPr marL="342900" indent="-342900">
              <a:buFont typeface="Arial" panose="020B0604020202020204" pitchFamily="34" charset="0"/>
              <a:buChar char="•"/>
            </a:pPr>
            <a:r>
              <a:rPr lang="en-US" dirty="0"/>
              <a:t>Participating in controlled medication counts</a:t>
            </a:r>
          </a:p>
          <a:p>
            <a:pPr marL="342900" indent="-342900">
              <a:buFont typeface="Arial" panose="020B0604020202020204" pitchFamily="34" charset="0"/>
              <a:buChar char="•"/>
            </a:pPr>
            <a:r>
              <a:rPr lang="en-US" dirty="0"/>
              <a:t>Checking a resident’s blood sugar by finger stick</a:t>
            </a:r>
          </a:p>
          <a:p>
            <a:pPr marL="342900" indent="-342900">
              <a:buFont typeface="Arial" panose="020B0604020202020204" pitchFamily="34" charset="0"/>
              <a:buChar char="•"/>
            </a:pPr>
            <a:r>
              <a:rPr lang="en-US" dirty="0"/>
              <a:t>Administering subcutaneous medications (e.g., insulin)</a:t>
            </a:r>
          </a:p>
          <a:p>
            <a:pPr marL="342900" indent="-342900">
              <a:buFont typeface="Arial" panose="020B0604020202020204" pitchFamily="34" charset="0"/>
              <a:buChar char="•"/>
            </a:pPr>
            <a:r>
              <a:rPr lang="en-US" dirty="0"/>
              <a:t>Administering medications by feeding tube</a:t>
            </a:r>
          </a:p>
          <a:p>
            <a:pPr marL="342900" indent="-342900">
              <a:buFont typeface="Arial" panose="020B0604020202020204" pitchFamily="34" charset="0"/>
              <a:buChar char="•"/>
            </a:pPr>
            <a:r>
              <a:rPr lang="en-US" dirty="0"/>
              <a:t>Giving a resident PRN medications </a:t>
            </a:r>
          </a:p>
          <a:p>
            <a:endParaRPr lang="en-US" dirty="0"/>
          </a:p>
          <a:p>
            <a:endParaRPr lang="en-US" dirty="0"/>
          </a:p>
          <a:p>
            <a:endParaRPr lang="en-US" dirty="0"/>
          </a:p>
          <a:p>
            <a:endParaRPr lang="en-US" dirty="0"/>
          </a:p>
          <a:p>
            <a:endParaRPr lang="en-US" dirty="0"/>
          </a:p>
          <a:p>
            <a:endParaRPr lang="en-US" dirty="0">
              <a:solidFill>
                <a:srgbClr val="FF0000"/>
              </a:solidFill>
            </a:endParaRPr>
          </a:p>
        </p:txBody>
      </p:sp>
    </p:spTree>
    <p:extLst>
      <p:ext uri="{BB962C8B-B14F-4D97-AF65-F5344CB8AC3E}">
        <p14:creationId xmlns:p14="http://schemas.microsoft.com/office/powerpoint/2010/main" val="23625741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hidden="1">
            <a:extLst>
              <a:ext uri="{FF2B5EF4-FFF2-40B4-BE49-F238E27FC236}">
                <a16:creationId xmlns:a16="http://schemas.microsoft.com/office/drawing/2014/main" id="{6B6BA865-3E31-4433-8718-F66D4BF2B577}"/>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E19C8D7-53EE-4AF8-9E87-BBF55B67A655}" type="slidenum">
              <a:rPr kumimoji="0" lang="en-US" sz="1200" b="0" i="0" u="none" strike="noStrike" kern="1200" cap="none" spc="0" normalizeH="0" baseline="0" noProof="0" smtClean="0">
                <a:ln>
                  <a:noFill/>
                </a:ln>
                <a:solidFill>
                  <a:srgbClr val="B37924"/>
                </a:solidFill>
                <a:effectLst/>
                <a:uLnTx/>
                <a:uFillTx/>
                <a:latin typeface="Scala Sans"/>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dirty="0">
              <a:ln>
                <a:noFill/>
              </a:ln>
              <a:solidFill>
                <a:srgbClr val="B37924"/>
              </a:solidFill>
              <a:effectLst/>
              <a:uLnTx/>
              <a:uFillTx/>
              <a:latin typeface="Scala Sans"/>
              <a:ea typeface="+mn-ea"/>
              <a:cs typeface="+mn-cs"/>
            </a:endParaRPr>
          </a:p>
        </p:txBody>
      </p:sp>
      <p:sp>
        <p:nvSpPr>
          <p:cNvPr id="4" name="Title 3">
            <a:extLst>
              <a:ext uri="{FF2B5EF4-FFF2-40B4-BE49-F238E27FC236}">
                <a16:creationId xmlns:a16="http://schemas.microsoft.com/office/drawing/2014/main" id="{9992F1AD-0F0E-E04A-9749-8A907267C4D1}"/>
              </a:ext>
            </a:extLst>
          </p:cNvPr>
          <p:cNvSpPr>
            <a:spLocks noGrp="1"/>
          </p:cNvSpPr>
          <p:nvPr>
            <p:ph type="title"/>
          </p:nvPr>
        </p:nvSpPr>
        <p:spPr/>
        <p:txBody>
          <a:bodyPr>
            <a:normAutofit fontScale="90000"/>
          </a:bodyPr>
          <a:lstStyle/>
          <a:p>
            <a:r>
              <a:rPr lang="en-US" dirty="0"/>
              <a:t>LO4, content 1</a:t>
            </a:r>
          </a:p>
        </p:txBody>
      </p:sp>
      <p:sp>
        <p:nvSpPr>
          <p:cNvPr id="2" name="Content Placeholder 1">
            <a:extLst>
              <a:ext uri="{FF2B5EF4-FFF2-40B4-BE49-F238E27FC236}">
                <a16:creationId xmlns:a16="http://schemas.microsoft.com/office/drawing/2014/main" id="{A45265F3-BD43-4653-BF57-6B2D60085650}"/>
              </a:ext>
            </a:extLst>
          </p:cNvPr>
          <p:cNvSpPr>
            <a:spLocks noGrp="1"/>
          </p:cNvSpPr>
          <p:nvPr>
            <p:ph idx="1"/>
          </p:nvPr>
        </p:nvSpPr>
        <p:spPr/>
        <p:txBody>
          <a:bodyPr/>
          <a:lstStyle/>
          <a:p>
            <a:pPr marL="457200" indent="-457200">
              <a:buFont typeface="+mj-lt"/>
              <a:buAutoNum type="arabicPeriod" startAt="4"/>
            </a:pPr>
            <a:r>
              <a:rPr lang="en-US" dirty="0">
                <a:solidFill>
                  <a:srgbClr val="FF0000"/>
                </a:solidFill>
              </a:rPr>
              <a:t>Discuss the medication aide’s role in delegated tasks</a:t>
            </a:r>
          </a:p>
          <a:p>
            <a:endParaRPr lang="en-US" dirty="0"/>
          </a:p>
          <a:p>
            <a:r>
              <a:rPr lang="en-US" dirty="0"/>
              <a:t>REMEMBER:</a:t>
            </a:r>
          </a:p>
          <a:p>
            <a:endParaRPr lang="en-US" dirty="0"/>
          </a:p>
          <a:p>
            <a:r>
              <a:rPr lang="en-US" dirty="0"/>
              <a:t>MAs cannot delegate tasks. They have tasks delegated to them, usually by a nurse.</a:t>
            </a:r>
          </a:p>
          <a:p>
            <a:endParaRPr lang="en-US" dirty="0"/>
          </a:p>
          <a:p>
            <a:endParaRPr lang="en-US" dirty="0"/>
          </a:p>
          <a:p>
            <a:endParaRPr lang="en-US" dirty="0"/>
          </a:p>
          <a:p>
            <a:endParaRPr lang="en-US" dirty="0"/>
          </a:p>
          <a:p>
            <a:endParaRPr lang="en-US" dirty="0"/>
          </a:p>
          <a:p>
            <a:endParaRPr lang="en-US" dirty="0">
              <a:solidFill>
                <a:srgbClr val="FF0000"/>
              </a:solidFill>
            </a:endParaRPr>
          </a:p>
        </p:txBody>
      </p:sp>
    </p:spTree>
    <p:extLst>
      <p:ext uri="{BB962C8B-B14F-4D97-AF65-F5344CB8AC3E}">
        <p14:creationId xmlns:p14="http://schemas.microsoft.com/office/powerpoint/2010/main" val="21682402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hidden="1">
            <a:extLst>
              <a:ext uri="{FF2B5EF4-FFF2-40B4-BE49-F238E27FC236}">
                <a16:creationId xmlns:a16="http://schemas.microsoft.com/office/drawing/2014/main" id="{6B6BA865-3E31-4433-8718-F66D4BF2B577}"/>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E19C8D7-53EE-4AF8-9E87-BBF55B67A655}" type="slidenum">
              <a:rPr kumimoji="0" lang="en-US" sz="1200" b="0" i="0" u="none" strike="noStrike" kern="1200" cap="none" spc="0" normalizeH="0" baseline="0" noProof="0" smtClean="0">
                <a:ln>
                  <a:noFill/>
                </a:ln>
                <a:solidFill>
                  <a:srgbClr val="B37924"/>
                </a:solidFill>
                <a:effectLst/>
                <a:uLnTx/>
                <a:uFillTx/>
                <a:latin typeface="Scala Sans"/>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dirty="0">
              <a:ln>
                <a:noFill/>
              </a:ln>
              <a:solidFill>
                <a:srgbClr val="B37924"/>
              </a:solidFill>
              <a:effectLst/>
              <a:uLnTx/>
              <a:uFillTx/>
              <a:latin typeface="Scala Sans"/>
              <a:ea typeface="+mn-ea"/>
              <a:cs typeface="+mn-cs"/>
            </a:endParaRPr>
          </a:p>
        </p:txBody>
      </p:sp>
      <p:sp>
        <p:nvSpPr>
          <p:cNvPr id="4" name="Title 3">
            <a:extLst>
              <a:ext uri="{FF2B5EF4-FFF2-40B4-BE49-F238E27FC236}">
                <a16:creationId xmlns:a16="http://schemas.microsoft.com/office/drawing/2014/main" id="{0643F1B0-386D-7B44-B57B-0B5E8E99ACCF}"/>
              </a:ext>
            </a:extLst>
          </p:cNvPr>
          <p:cNvSpPr>
            <a:spLocks noGrp="1"/>
          </p:cNvSpPr>
          <p:nvPr>
            <p:ph type="title"/>
          </p:nvPr>
        </p:nvSpPr>
        <p:spPr/>
        <p:txBody>
          <a:bodyPr>
            <a:normAutofit fontScale="90000"/>
          </a:bodyPr>
          <a:lstStyle/>
          <a:p>
            <a:r>
              <a:rPr lang="en-US" dirty="0"/>
              <a:t>LO4, content 2</a:t>
            </a:r>
          </a:p>
        </p:txBody>
      </p:sp>
      <p:sp>
        <p:nvSpPr>
          <p:cNvPr id="2" name="Content Placeholder 1">
            <a:extLst>
              <a:ext uri="{FF2B5EF4-FFF2-40B4-BE49-F238E27FC236}">
                <a16:creationId xmlns:a16="http://schemas.microsoft.com/office/drawing/2014/main" id="{A45265F3-BD43-4653-BF57-6B2D60085650}"/>
              </a:ext>
            </a:extLst>
          </p:cNvPr>
          <p:cNvSpPr>
            <a:spLocks noGrp="1"/>
          </p:cNvSpPr>
          <p:nvPr>
            <p:ph idx="1"/>
          </p:nvPr>
        </p:nvSpPr>
        <p:spPr/>
        <p:txBody>
          <a:bodyPr/>
          <a:lstStyle/>
          <a:p>
            <a:r>
              <a:rPr lang="en-US" dirty="0"/>
              <a:t>Key Material 2-1: Questions to Consider Before Accepting a Task</a:t>
            </a:r>
          </a:p>
          <a:p>
            <a:endParaRPr lang="en-US" dirty="0"/>
          </a:p>
          <a:p>
            <a:pPr marL="342900" indent="-342900">
              <a:buFont typeface="Arial" panose="020B0604020202020204" pitchFamily="34" charset="0"/>
              <a:buChar char="•"/>
            </a:pPr>
            <a:r>
              <a:rPr lang="en-US" dirty="0"/>
              <a:t>Does this task fall within my scope of practice?</a:t>
            </a:r>
          </a:p>
          <a:p>
            <a:pPr marL="342900" indent="-342900">
              <a:buFont typeface="Arial" panose="020B0604020202020204" pitchFamily="34" charset="0"/>
              <a:buChar char="•"/>
            </a:pPr>
            <a:r>
              <a:rPr lang="en-US" dirty="0"/>
              <a:t>Do I have all the information I need to do this job? Are there questions I should ask?</a:t>
            </a:r>
          </a:p>
          <a:p>
            <a:pPr marL="342900" indent="-342900">
              <a:buFont typeface="Arial" panose="020B0604020202020204" pitchFamily="34" charset="0"/>
              <a:buChar char="•"/>
            </a:pPr>
            <a:r>
              <a:rPr lang="en-US" dirty="0"/>
              <a:t>Do I believe that I can do this task? Do I have the necessary skills?</a:t>
            </a:r>
          </a:p>
          <a:p>
            <a:pPr marL="342900" indent="-342900">
              <a:buFont typeface="Arial" panose="020B0604020202020204" pitchFamily="34" charset="0"/>
              <a:buChar char="•"/>
            </a:pPr>
            <a:r>
              <a:rPr lang="en-US" dirty="0"/>
              <a:t>Do I have the needed supplies and equipment?</a:t>
            </a:r>
          </a:p>
          <a:p>
            <a:pPr marL="342900" indent="-342900">
              <a:buFont typeface="Arial" panose="020B0604020202020204" pitchFamily="34" charset="0"/>
              <a:buChar char="•"/>
            </a:pPr>
            <a:r>
              <a:rPr lang="en-US" dirty="0"/>
              <a:t>Do I know how to reach my supervisor?</a:t>
            </a:r>
          </a:p>
          <a:p>
            <a:pPr marL="342900" indent="-342900">
              <a:buFont typeface="Arial" panose="020B0604020202020204" pitchFamily="34" charset="0"/>
              <a:buChar char="•"/>
            </a:pPr>
            <a:r>
              <a:rPr lang="en-US" dirty="0"/>
              <a:t>Do my supervisor and I both understand who is doing what?</a:t>
            </a:r>
          </a:p>
          <a:p>
            <a:endParaRPr lang="en-US" dirty="0"/>
          </a:p>
          <a:p>
            <a:endParaRPr lang="en-US" dirty="0"/>
          </a:p>
          <a:p>
            <a:endParaRPr lang="en-US" dirty="0"/>
          </a:p>
          <a:p>
            <a:endParaRPr lang="en-US" dirty="0">
              <a:solidFill>
                <a:srgbClr val="FF0000"/>
              </a:solidFill>
            </a:endParaRPr>
          </a:p>
        </p:txBody>
      </p:sp>
    </p:spTree>
    <p:extLst>
      <p:ext uri="{BB962C8B-B14F-4D97-AF65-F5344CB8AC3E}">
        <p14:creationId xmlns:p14="http://schemas.microsoft.com/office/powerpoint/2010/main" val="6642064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hidden="1">
            <a:extLst>
              <a:ext uri="{FF2B5EF4-FFF2-40B4-BE49-F238E27FC236}">
                <a16:creationId xmlns:a16="http://schemas.microsoft.com/office/drawing/2014/main" id="{6B6BA865-3E31-4433-8718-F66D4BF2B577}"/>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E19C8D7-53EE-4AF8-9E87-BBF55B67A655}" type="slidenum">
              <a:rPr kumimoji="0" lang="en-US" sz="1200" b="0" i="0" u="none" strike="noStrike" kern="1200" cap="none" spc="0" normalizeH="0" baseline="0" noProof="0" smtClean="0">
                <a:ln>
                  <a:noFill/>
                </a:ln>
                <a:solidFill>
                  <a:srgbClr val="B37924"/>
                </a:solidFill>
                <a:effectLst/>
                <a:uLnTx/>
                <a:uFillTx/>
                <a:latin typeface="Scala Sans"/>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dirty="0">
              <a:ln>
                <a:noFill/>
              </a:ln>
              <a:solidFill>
                <a:srgbClr val="B37924"/>
              </a:solidFill>
              <a:effectLst/>
              <a:uLnTx/>
              <a:uFillTx/>
              <a:latin typeface="Scala Sans"/>
              <a:ea typeface="+mn-ea"/>
              <a:cs typeface="+mn-cs"/>
            </a:endParaRPr>
          </a:p>
        </p:txBody>
      </p:sp>
      <p:sp>
        <p:nvSpPr>
          <p:cNvPr id="4" name="Title 3">
            <a:extLst>
              <a:ext uri="{FF2B5EF4-FFF2-40B4-BE49-F238E27FC236}">
                <a16:creationId xmlns:a16="http://schemas.microsoft.com/office/drawing/2014/main" id="{9992F1AD-0F0E-E04A-9749-8A907267C4D1}"/>
              </a:ext>
            </a:extLst>
          </p:cNvPr>
          <p:cNvSpPr>
            <a:spLocks noGrp="1"/>
          </p:cNvSpPr>
          <p:nvPr>
            <p:ph type="title"/>
          </p:nvPr>
        </p:nvSpPr>
        <p:spPr/>
        <p:txBody>
          <a:bodyPr>
            <a:normAutofit fontScale="90000"/>
          </a:bodyPr>
          <a:lstStyle/>
          <a:p>
            <a:r>
              <a:rPr lang="en-US" dirty="0"/>
              <a:t>LO4, content 3</a:t>
            </a:r>
          </a:p>
        </p:txBody>
      </p:sp>
      <p:sp>
        <p:nvSpPr>
          <p:cNvPr id="2" name="Content Placeholder 1">
            <a:extLst>
              <a:ext uri="{FF2B5EF4-FFF2-40B4-BE49-F238E27FC236}">
                <a16:creationId xmlns:a16="http://schemas.microsoft.com/office/drawing/2014/main" id="{A45265F3-BD43-4653-BF57-6B2D60085650}"/>
              </a:ext>
            </a:extLst>
          </p:cNvPr>
          <p:cNvSpPr>
            <a:spLocks noGrp="1"/>
          </p:cNvSpPr>
          <p:nvPr>
            <p:ph idx="1"/>
          </p:nvPr>
        </p:nvSpPr>
        <p:spPr/>
        <p:txBody>
          <a:bodyPr/>
          <a:lstStyle/>
          <a:p>
            <a:pPr marL="457200" indent="-457200">
              <a:buFont typeface="+mj-lt"/>
              <a:buAutoNum type="arabicPeriod" startAt="4"/>
            </a:pPr>
            <a:r>
              <a:rPr lang="en-US" dirty="0">
                <a:solidFill>
                  <a:srgbClr val="FF0000"/>
                </a:solidFill>
              </a:rPr>
              <a:t>Discuss the medication aide’s role in delegated tasks</a:t>
            </a:r>
          </a:p>
          <a:p>
            <a:endParaRPr lang="en-US" dirty="0"/>
          </a:p>
          <a:p>
            <a:r>
              <a:rPr lang="en-US" dirty="0"/>
              <a:t>REMEMBER:</a:t>
            </a:r>
          </a:p>
          <a:p>
            <a:endParaRPr lang="en-US" dirty="0"/>
          </a:p>
          <a:p>
            <a:r>
              <a:rPr lang="en-US" dirty="0"/>
              <a:t>Delegation is specific to each resident and situation</a:t>
            </a:r>
          </a:p>
          <a:p>
            <a:endParaRPr lang="en-US" dirty="0"/>
          </a:p>
          <a:p>
            <a:endParaRPr lang="en-US" dirty="0"/>
          </a:p>
          <a:p>
            <a:endParaRPr lang="en-US" dirty="0"/>
          </a:p>
          <a:p>
            <a:endParaRPr lang="en-US" dirty="0"/>
          </a:p>
          <a:p>
            <a:endParaRPr lang="en-US" dirty="0"/>
          </a:p>
          <a:p>
            <a:endParaRPr lang="en-US" dirty="0">
              <a:solidFill>
                <a:srgbClr val="FF0000"/>
              </a:solidFill>
            </a:endParaRPr>
          </a:p>
        </p:txBody>
      </p:sp>
    </p:spTree>
    <p:extLst>
      <p:ext uri="{BB962C8B-B14F-4D97-AF65-F5344CB8AC3E}">
        <p14:creationId xmlns:p14="http://schemas.microsoft.com/office/powerpoint/2010/main" val="9192422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hidden="1">
            <a:extLst>
              <a:ext uri="{FF2B5EF4-FFF2-40B4-BE49-F238E27FC236}">
                <a16:creationId xmlns:a16="http://schemas.microsoft.com/office/drawing/2014/main" id="{6B6BA865-3E31-4433-8718-F66D4BF2B577}"/>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E19C8D7-53EE-4AF8-9E87-BBF55B67A655}" type="slidenum">
              <a:rPr kumimoji="0" lang="en-US" sz="1200" b="0" i="0" u="none" strike="noStrike" kern="1200" cap="none" spc="0" normalizeH="0" baseline="0" noProof="0" smtClean="0">
                <a:ln>
                  <a:noFill/>
                </a:ln>
                <a:solidFill>
                  <a:srgbClr val="B37924"/>
                </a:solidFill>
                <a:effectLst/>
                <a:uLnTx/>
                <a:uFillTx/>
                <a:latin typeface="Scala Sans"/>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dirty="0">
              <a:ln>
                <a:noFill/>
              </a:ln>
              <a:solidFill>
                <a:srgbClr val="B37924"/>
              </a:solidFill>
              <a:effectLst/>
              <a:uLnTx/>
              <a:uFillTx/>
              <a:latin typeface="Scala Sans"/>
              <a:ea typeface="+mn-ea"/>
              <a:cs typeface="+mn-cs"/>
            </a:endParaRPr>
          </a:p>
        </p:txBody>
      </p:sp>
      <p:sp>
        <p:nvSpPr>
          <p:cNvPr id="4" name="Title 3">
            <a:extLst>
              <a:ext uri="{FF2B5EF4-FFF2-40B4-BE49-F238E27FC236}">
                <a16:creationId xmlns:a16="http://schemas.microsoft.com/office/drawing/2014/main" id="{9992F1AD-0F0E-E04A-9749-8A907267C4D1}"/>
              </a:ext>
            </a:extLst>
          </p:cNvPr>
          <p:cNvSpPr>
            <a:spLocks noGrp="1"/>
          </p:cNvSpPr>
          <p:nvPr>
            <p:ph type="title"/>
          </p:nvPr>
        </p:nvSpPr>
        <p:spPr/>
        <p:txBody>
          <a:bodyPr>
            <a:normAutofit fontScale="90000"/>
          </a:bodyPr>
          <a:lstStyle/>
          <a:p>
            <a:r>
              <a:rPr lang="en-US" dirty="0"/>
              <a:t>LO4, content 4</a:t>
            </a:r>
          </a:p>
        </p:txBody>
      </p:sp>
      <p:sp>
        <p:nvSpPr>
          <p:cNvPr id="2" name="Content Placeholder 1">
            <a:extLst>
              <a:ext uri="{FF2B5EF4-FFF2-40B4-BE49-F238E27FC236}">
                <a16:creationId xmlns:a16="http://schemas.microsoft.com/office/drawing/2014/main" id="{A45265F3-BD43-4653-BF57-6B2D60085650}"/>
              </a:ext>
            </a:extLst>
          </p:cNvPr>
          <p:cNvSpPr>
            <a:spLocks noGrp="1"/>
          </p:cNvSpPr>
          <p:nvPr>
            <p:ph idx="1"/>
          </p:nvPr>
        </p:nvSpPr>
        <p:spPr/>
        <p:txBody>
          <a:bodyPr/>
          <a:lstStyle/>
          <a:p>
            <a:pPr marL="457200" indent="-457200">
              <a:buFont typeface="+mj-lt"/>
              <a:buAutoNum type="arabicPeriod" startAt="4"/>
            </a:pPr>
            <a:r>
              <a:rPr lang="en-US" dirty="0">
                <a:solidFill>
                  <a:srgbClr val="FF0000"/>
                </a:solidFill>
              </a:rPr>
              <a:t>Discuss the medication aide’s role in delegated tasks</a:t>
            </a:r>
          </a:p>
          <a:p>
            <a:endParaRPr lang="en-US" dirty="0"/>
          </a:p>
          <a:p>
            <a:r>
              <a:rPr lang="en-US" dirty="0"/>
              <a:t>Critical Thinking: Conversation Starter</a:t>
            </a:r>
          </a:p>
          <a:p>
            <a:endParaRPr lang="en-US" dirty="0"/>
          </a:p>
          <a:p>
            <a:r>
              <a:rPr lang="en-US" dirty="0"/>
              <a:t>Have you ever had a task delegated to you that you did not feel able to accept (at work or in any other setting)? </a:t>
            </a:r>
          </a:p>
          <a:p>
            <a:endParaRPr lang="en-US" dirty="0"/>
          </a:p>
          <a:p>
            <a:r>
              <a:rPr lang="en-US" dirty="0"/>
              <a:t>What did you do?</a:t>
            </a:r>
          </a:p>
          <a:p>
            <a:endParaRPr lang="en-US" dirty="0"/>
          </a:p>
          <a:p>
            <a:r>
              <a:rPr lang="en-US" dirty="0"/>
              <a:t>Did you speak up? Why or why not?</a:t>
            </a:r>
          </a:p>
          <a:p>
            <a:endParaRPr lang="en-US" dirty="0"/>
          </a:p>
          <a:p>
            <a:r>
              <a:rPr lang="en-US" dirty="0"/>
              <a:t>What was the result?</a:t>
            </a:r>
          </a:p>
          <a:p>
            <a:endParaRPr lang="en-US" dirty="0"/>
          </a:p>
          <a:p>
            <a:r>
              <a:rPr lang="en-US" dirty="0"/>
              <a:t>What could go wrong if an MA accepts a delegated task that is not appropriate?</a:t>
            </a:r>
          </a:p>
          <a:p>
            <a:endParaRPr lang="en-US" dirty="0"/>
          </a:p>
          <a:p>
            <a:endParaRPr lang="en-US" dirty="0"/>
          </a:p>
          <a:p>
            <a:endParaRPr lang="en-US" dirty="0"/>
          </a:p>
          <a:p>
            <a:endParaRPr lang="en-US" dirty="0"/>
          </a:p>
          <a:p>
            <a:endParaRPr lang="en-US" dirty="0"/>
          </a:p>
          <a:p>
            <a:endParaRPr lang="en-US" dirty="0">
              <a:solidFill>
                <a:srgbClr val="FF0000"/>
              </a:solidFill>
            </a:endParaRPr>
          </a:p>
        </p:txBody>
      </p:sp>
    </p:spTree>
    <p:extLst>
      <p:ext uri="{BB962C8B-B14F-4D97-AF65-F5344CB8AC3E}">
        <p14:creationId xmlns:p14="http://schemas.microsoft.com/office/powerpoint/2010/main" val="29970222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hidden="1">
            <a:extLst>
              <a:ext uri="{FF2B5EF4-FFF2-40B4-BE49-F238E27FC236}">
                <a16:creationId xmlns:a16="http://schemas.microsoft.com/office/drawing/2014/main" id="{6B6BA865-3E31-4433-8718-F66D4BF2B577}"/>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E19C8D7-53EE-4AF8-9E87-BBF55B67A655}" type="slidenum">
              <a:rPr kumimoji="0" lang="en-US" sz="1200" b="0" i="0" u="none" strike="noStrike" kern="1200" cap="none" spc="0" normalizeH="0" baseline="0" noProof="0" smtClean="0">
                <a:ln>
                  <a:noFill/>
                </a:ln>
                <a:solidFill>
                  <a:srgbClr val="B37924"/>
                </a:solidFill>
                <a:effectLst/>
                <a:uLnTx/>
                <a:uFillTx/>
                <a:latin typeface="Scala Sans"/>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dirty="0">
              <a:ln>
                <a:noFill/>
              </a:ln>
              <a:solidFill>
                <a:srgbClr val="B37924"/>
              </a:solidFill>
              <a:effectLst/>
              <a:uLnTx/>
              <a:uFillTx/>
              <a:latin typeface="Scala Sans"/>
              <a:ea typeface="+mn-ea"/>
              <a:cs typeface="+mn-cs"/>
            </a:endParaRPr>
          </a:p>
        </p:txBody>
      </p:sp>
      <p:sp>
        <p:nvSpPr>
          <p:cNvPr id="4" name="Title 3">
            <a:extLst>
              <a:ext uri="{FF2B5EF4-FFF2-40B4-BE49-F238E27FC236}">
                <a16:creationId xmlns:a16="http://schemas.microsoft.com/office/drawing/2014/main" id="{0AAD91D2-051B-5A4E-AF75-2E4C27038A89}"/>
              </a:ext>
            </a:extLst>
          </p:cNvPr>
          <p:cNvSpPr>
            <a:spLocks noGrp="1"/>
          </p:cNvSpPr>
          <p:nvPr>
            <p:ph type="title"/>
          </p:nvPr>
        </p:nvSpPr>
        <p:spPr/>
        <p:txBody>
          <a:bodyPr>
            <a:normAutofit fontScale="90000"/>
          </a:bodyPr>
          <a:lstStyle/>
          <a:p>
            <a:r>
              <a:rPr lang="en-US" dirty="0"/>
              <a:t>LO5, key term</a:t>
            </a:r>
          </a:p>
        </p:txBody>
      </p:sp>
      <p:sp>
        <p:nvSpPr>
          <p:cNvPr id="2" name="Content Placeholder 1">
            <a:extLst>
              <a:ext uri="{FF2B5EF4-FFF2-40B4-BE49-F238E27FC236}">
                <a16:creationId xmlns:a16="http://schemas.microsoft.com/office/drawing/2014/main" id="{A45265F3-BD43-4653-BF57-6B2D60085650}"/>
              </a:ext>
            </a:extLst>
          </p:cNvPr>
          <p:cNvSpPr>
            <a:spLocks noGrp="1"/>
          </p:cNvSpPr>
          <p:nvPr>
            <p:ph idx="1"/>
          </p:nvPr>
        </p:nvSpPr>
        <p:spPr/>
        <p:txBody>
          <a:bodyPr>
            <a:normAutofit/>
          </a:bodyPr>
          <a:lstStyle/>
          <a:p>
            <a:pPr marL="457200" indent="-457200">
              <a:buFont typeface="+mj-lt"/>
              <a:buAutoNum type="arabicPeriod" startAt="5"/>
            </a:pPr>
            <a:r>
              <a:rPr lang="en-US" dirty="0">
                <a:solidFill>
                  <a:srgbClr val="FF0000"/>
                </a:solidFill>
              </a:rPr>
              <a:t>Explain Residents’ Rights and describe person-centered care</a:t>
            </a:r>
          </a:p>
          <a:p>
            <a:endParaRPr lang="en-US" dirty="0"/>
          </a:p>
          <a:p>
            <a:r>
              <a:rPr lang="en-US" sz="2200" dirty="0"/>
              <a:t>Define the following term:</a:t>
            </a:r>
          </a:p>
          <a:p>
            <a:endParaRPr lang="en-US" sz="2200" b="1" dirty="0"/>
          </a:p>
          <a:p>
            <a:r>
              <a:rPr lang="en-US" sz="2200" b="1" dirty="0"/>
              <a:t>Residents’ Rights</a:t>
            </a:r>
          </a:p>
          <a:p>
            <a:pPr lvl="1"/>
            <a:r>
              <a:rPr lang="en-US" dirty="0"/>
              <a:t>rights related to how residents must be treated while living in a facility; they provide an ethical code of conduct for healthcare workers</a:t>
            </a:r>
            <a:r>
              <a:rPr lang="en-US" sz="2200" dirty="0"/>
              <a:t>.</a:t>
            </a:r>
          </a:p>
          <a:p>
            <a:endParaRPr lang="en-US" dirty="0"/>
          </a:p>
          <a:p>
            <a:endParaRPr lang="en-US" dirty="0"/>
          </a:p>
          <a:p>
            <a:endParaRPr lang="en-US" dirty="0"/>
          </a:p>
          <a:p>
            <a:endParaRPr lang="en-US" dirty="0"/>
          </a:p>
          <a:p>
            <a:endParaRPr lang="en-US" dirty="0">
              <a:solidFill>
                <a:srgbClr val="FF0000"/>
              </a:solidFill>
            </a:endParaRPr>
          </a:p>
        </p:txBody>
      </p:sp>
    </p:spTree>
    <p:extLst>
      <p:ext uri="{BB962C8B-B14F-4D97-AF65-F5344CB8AC3E}">
        <p14:creationId xmlns:p14="http://schemas.microsoft.com/office/powerpoint/2010/main" val="9024456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hidden="1">
            <a:extLst>
              <a:ext uri="{FF2B5EF4-FFF2-40B4-BE49-F238E27FC236}">
                <a16:creationId xmlns:a16="http://schemas.microsoft.com/office/drawing/2014/main" id="{6B6BA865-3E31-4433-8718-F66D4BF2B577}"/>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E19C8D7-53EE-4AF8-9E87-BBF55B67A655}" type="slidenum">
              <a:rPr kumimoji="0" lang="en-US" sz="1200" b="0" i="0" u="none" strike="noStrike" kern="1200" cap="none" spc="0" normalizeH="0" baseline="0" noProof="0" smtClean="0">
                <a:ln>
                  <a:noFill/>
                </a:ln>
                <a:solidFill>
                  <a:srgbClr val="B37924"/>
                </a:solidFill>
                <a:effectLst/>
                <a:uLnTx/>
                <a:uFillTx/>
                <a:latin typeface="Scala Sans"/>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dirty="0">
              <a:ln>
                <a:noFill/>
              </a:ln>
              <a:solidFill>
                <a:srgbClr val="B37924"/>
              </a:solidFill>
              <a:effectLst/>
              <a:uLnTx/>
              <a:uFillTx/>
              <a:latin typeface="Scala Sans"/>
              <a:ea typeface="+mn-ea"/>
              <a:cs typeface="+mn-cs"/>
            </a:endParaRPr>
          </a:p>
        </p:txBody>
      </p:sp>
      <p:sp>
        <p:nvSpPr>
          <p:cNvPr id="4" name="Title 3">
            <a:extLst>
              <a:ext uri="{FF2B5EF4-FFF2-40B4-BE49-F238E27FC236}">
                <a16:creationId xmlns:a16="http://schemas.microsoft.com/office/drawing/2014/main" id="{0643F1B0-386D-7B44-B57B-0B5E8E99ACCF}"/>
              </a:ext>
            </a:extLst>
          </p:cNvPr>
          <p:cNvSpPr>
            <a:spLocks noGrp="1"/>
          </p:cNvSpPr>
          <p:nvPr>
            <p:ph type="title"/>
          </p:nvPr>
        </p:nvSpPr>
        <p:spPr/>
        <p:txBody>
          <a:bodyPr>
            <a:normAutofit fontScale="90000"/>
          </a:bodyPr>
          <a:lstStyle/>
          <a:p>
            <a:r>
              <a:rPr lang="en-US" dirty="0"/>
              <a:t>LO5, content 1</a:t>
            </a:r>
          </a:p>
        </p:txBody>
      </p:sp>
      <p:sp>
        <p:nvSpPr>
          <p:cNvPr id="2" name="Content Placeholder 1">
            <a:extLst>
              <a:ext uri="{FF2B5EF4-FFF2-40B4-BE49-F238E27FC236}">
                <a16:creationId xmlns:a16="http://schemas.microsoft.com/office/drawing/2014/main" id="{A45265F3-BD43-4653-BF57-6B2D60085650}"/>
              </a:ext>
            </a:extLst>
          </p:cNvPr>
          <p:cNvSpPr>
            <a:spLocks noGrp="1"/>
          </p:cNvSpPr>
          <p:nvPr>
            <p:ph idx="1"/>
          </p:nvPr>
        </p:nvSpPr>
        <p:spPr/>
        <p:txBody>
          <a:bodyPr/>
          <a:lstStyle/>
          <a:p>
            <a:pPr marL="457200" indent="-457200">
              <a:buFont typeface="+mj-lt"/>
              <a:buAutoNum type="arabicPeriod" startAt="5"/>
            </a:pPr>
            <a:r>
              <a:rPr lang="en-US" dirty="0">
                <a:solidFill>
                  <a:srgbClr val="FF0000"/>
                </a:solidFill>
              </a:rPr>
              <a:t>Explain Residents’ Rights and describe person-centered care</a:t>
            </a:r>
          </a:p>
          <a:p>
            <a:endParaRPr lang="en-US" dirty="0"/>
          </a:p>
          <a:p>
            <a:r>
              <a:rPr lang="en-US" dirty="0"/>
              <a:t>Review Residents’ Rights:</a:t>
            </a:r>
          </a:p>
          <a:p>
            <a:pPr marL="342900" indent="-342900">
              <a:buFont typeface="Arial" panose="020B0604020202020204" pitchFamily="34" charset="0"/>
              <a:buChar char="•"/>
            </a:pPr>
            <a:r>
              <a:rPr lang="en-US" dirty="0"/>
              <a:t>Quality of life</a:t>
            </a:r>
          </a:p>
          <a:p>
            <a:pPr marL="342900" indent="-342900">
              <a:buFont typeface="Arial" panose="020B0604020202020204" pitchFamily="34" charset="0"/>
              <a:buChar char="•"/>
            </a:pPr>
            <a:r>
              <a:rPr lang="en-US" dirty="0"/>
              <a:t>Services and activities to maintain a high level of wellness</a:t>
            </a:r>
          </a:p>
          <a:p>
            <a:pPr marL="342900" indent="-342900">
              <a:buFont typeface="Arial" panose="020B0604020202020204" pitchFamily="34" charset="0"/>
              <a:buChar char="•"/>
            </a:pPr>
            <a:r>
              <a:rPr lang="en-US" dirty="0"/>
              <a:t>The right to be fully informed about rights and services</a:t>
            </a:r>
          </a:p>
          <a:p>
            <a:pPr marL="342900" indent="-342900">
              <a:buFont typeface="Arial" panose="020B0604020202020204" pitchFamily="34" charset="0"/>
              <a:buChar char="•"/>
            </a:pPr>
            <a:r>
              <a:rPr lang="en-US" dirty="0"/>
              <a:t>The right to participate in their own care</a:t>
            </a:r>
          </a:p>
          <a:p>
            <a:pPr marL="342900" indent="-342900">
              <a:buFont typeface="Arial" panose="020B0604020202020204" pitchFamily="34" charset="0"/>
              <a:buChar char="•"/>
            </a:pPr>
            <a:r>
              <a:rPr lang="en-US" dirty="0"/>
              <a:t>The right to make independent choices</a:t>
            </a:r>
          </a:p>
          <a:p>
            <a:pPr marL="342900" indent="-342900">
              <a:buFont typeface="Arial" panose="020B0604020202020204" pitchFamily="34" charset="0"/>
              <a:buChar char="•"/>
            </a:pPr>
            <a:r>
              <a:rPr lang="en-US" dirty="0"/>
              <a:t>The right to privacy and confidentiality</a:t>
            </a:r>
          </a:p>
          <a:p>
            <a:pPr marL="342900" indent="-342900">
              <a:buFont typeface="Arial" panose="020B0604020202020204" pitchFamily="34" charset="0"/>
              <a:buChar char="•"/>
            </a:pPr>
            <a:r>
              <a:rPr lang="en-US" dirty="0"/>
              <a:t>The right to dignity, respect, and freedom</a:t>
            </a:r>
          </a:p>
          <a:p>
            <a:pPr marL="342900" indent="-342900">
              <a:buFont typeface="Arial" panose="020B0604020202020204" pitchFamily="34" charset="0"/>
              <a:buChar char="•"/>
            </a:pPr>
            <a:r>
              <a:rPr lang="en-US" dirty="0"/>
              <a:t>The right to security of possessions</a:t>
            </a:r>
          </a:p>
          <a:p>
            <a:pPr marL="342900" indent="-342900">
              <a:buFont typeface="Arial" panose="020B0604020202020204" pitchFamily="34" charset="0"/>
              <a:buChar char="•"/>
            </a:pPr>
            <a:r>
              <a:rPr lang="en-US" dirty="0"/>
              <a:t>Rights during transfers discharges</a:t>
            </a:r>
          </a:p>
          <a:p>
            <a:pPr marL="342900" indent="-342900">
              <a:buFont typeface="Arial" panose="020B0604020202020204" pitchFamily="34" charset="0"/>
              <a:buChar char="•"/>
            </a:pPr>
            <a:r>
              <a:rPr lang="en-US" dirty="0"/>
              <a:t>The right to complain</a:t>
            </a:r>
          </a:p>
          <a:p>
            <a:pPr marL="342900" indent="-342900">
              <a:buFont typeface="Arial" panose="020B0604020202020204" pitchFamily="34" charset="0"/>
              <a:buChar char="•"/>
            </a:pPr>
            <a:r>
              <a:rPr lang="en-US" dirty="0"/>
              <a:t>The right to visits</a:t>
            </a:r>
          </a:p>
          <a:p>
            <a:pPr marL="342900" indent="-342900">
              <a:buFont typeface="Arial" panose="020B0604020202020204" pitchFamily="34" charset="0"/>
              <a:buChar char="•"/>
            </a:pPr>
            <a:r>
              <a:rPr lang="en-US" dirty="0"/>
              <a:t>Rights with regard to social services</a:t>
            </a:r>
          </a:p>
          <a:p>
            <a:endParaRPr lang="en-US" dirty="0"/>
          </a:p>
          <a:p>
            <a:endParaRPr lang="en-US" dirty="0"/>
          </a:p>
          <a:p>
            <a:endParaRPr lang="en-US" dirty="0">
              <a:solidFill>
                <a:srgbClr val="FF0000"/>
              </a:solidFill>
            </a:endParaRPr>
          </a:p>
        </p:txBody>
      </p:sp>
    </p:spTree>
    <p:extLst>
      <p:ext uri="{BB962C8B-B14F-4D97-AF65-F5344CB8AC3E}">
        <p14:creationId xmlns:p14="http://schemas.microsoft.com/office/powerpoint/2010/main" val="2361954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hidden="1">
            <a:extLst>
              <a:ext uri="{FF2B5EF4-FFF2-40B4-BE49-F238E27FC236}">
                <a16:creationId xmlns:a16="http://schemas.microsoft.com/office/drawing/2014/main" id="{6B6BA865-3E31-4433-8718-F66D4BF2B577}"/>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E19C8D7-53EE-4AF8-9E87-BBF55B67A655}" type="slidenum">
              <a:rPr kumimoji="0" lang="en-US" sz="1200" b="0" i="0" u="none" strike="noStrike" kern="1200" cap="none" spc="0" normalizeH="0" baseline="0" noProof="0" smtClean="0">
                <a:ln>
                  <a:noFill/>
                </a:ln>
                <a:solidFill>
                  <a:srgbClr val="B37924"/>
                </a:solidFill>
                <a:effectLst/>
                <a:uLnTx/>
                <a:uFillTx/>
                <a:latin typeface="Scala Sans"/>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dirty="0">
              <a:ln>
                <a:noFill/>
              </a:ln>
              <a:solidFill>
                <a:srgbClr val="B37924"/>
              </a:solidFill>
              <a:effectLst/>
              <a:uLnTx/>
              <a:uFillTx/>
              <a:latin typeface="Scala Sans"/>
              <a:ea typeface="+mn-ea"/>
              <a:cs typeface="+mn-cs"/>
            </a:endParaRPr>
          </a:p>
        </p:txBody>
      </p:sp>
      <p:sp>
        <p:nvSpPr>
          <p:cNvPr id="4" name="Title 3">
            <a:extLst>
              <a:ext uri="{FF2B5EF4-FFF2-40B4-BE49-F238E27FC236}">
                <a16:creationId xmlns:a16="http://schemas.microsoft.com/office/drawing/2014/main" id="{0643F1B0-386D-7B44-B57B-0B5E8E99ACCF}"/>
              </a:ext>
            </a:extLst>
          </p:cNvPr>
          <p:cNvSpPr>
            <a:spLocks noGrp="1"/>
          </p:cNvSpPr>
          <p:nvPr>
            <p:ph type="title"/>
          </p:nvPr>
        </p:nvSpPr>
        <p:spPr/>
        <p:txBody>
          <a:bodyPr>
            <a:normAutofit fontScale="90000"/>
          </a:bodyPr>
          <a:lstStyle/>
          <a:p>
            <a:r>
              <a:rPr lang="en-US" dirty="0"/>
              <a:t>LO5, content 2</a:t>
            </a:r>
          </a:p>
        </p:txBody>
      </p:sp>
      <p:sp>
        <p:nvSpPr>
          <p:cNvPr id="2" name="Content Placeholder 1">
            <a:extLst>
              <a:ext uri="{FF2B5EF4-FFF2-40B4-BE49-F238E27FC236}">
                <a16:creationId xmlns:a16="http://schemas.microsoft.com/office/drawing/2014/main" id="{A45265F3-BD43-4653-BF57-6B2D60085650}"/>
              </a:ext>
            </a:extLst>
          </p:cNvPr>
          <p:cNvSpPr>
            <a:spLocks noGrp="1"/>
          </p:cNvSpPr>
          <p:nvPr>
            <p:ph idx="1"/>
          </p:nvPr>
        </p:nvSpPr>
        <p:spPr/>
        <p:txBody>
          <a:bodyPr/>
          <a:lstStyle/>
          <a:p>
            <a:pPr marL="457200" indent="-457200">
              <a:buFont typeface="+mj-lt"/>
              <a:buAutoNum type="arabicPeriod" startAt="5"/>
            </a:pPr>
            <a:r>
              <a:rPr lang="en-US" dirty="0">
                <a:solidFill>
                  <a:srgbClr val="FF0000"/>
                </a:solidFill>
              </a:rPr>
              <a:t>Explain Residents’ Rights and describe person-centered care</a:t>
            </a:r>
          </a:p>
          <a:p>
            <a:endParaRPr lang="en-US" dirty="0"/>
          </a:p>
          <a:p>
            <a:r>
              <a:rPr lang="en-US" dirty="0"/>
              <a:t>Think about this question:</a:t>
            </a:r>
          </a:p>
          <a:p>
            <a:endParaRPr lang="en-US" dirty="0"/>
          </a:p>
          <a:p>
            <a:r>
              <a:rPr lang="en-US" dirty="0"/>
              <a:t>How can medication aides provide person-centered care?</a:t>
            </a:r>
          </a:p>
          <a:p>
            <a:endParaRPr lang="en-US" dirty="0"/>
          </a:p>
          <a:p>
            <a:endParaRPr lang="en-US" dirty="0"/>
          </a:p>
          <a:p>
            <a:endParaRPr lang="en-US" dirty="0">
              <a:solidFill>
                <a:srgbClr val="FF0000"/>
              </a:solidFill>
            </a:endParaRPr>
          </a:p>
        </p:txBody>
      </p:sp>
    </p:spTree>
    <p:extLst>
      <p:ext uri="{BB962C8B-B14F-4D97-AF65-F5344CB8AC3E}">
        <p14:creationId xmlns:p14="http://schemas.microsoft.com/office/powerpoint/2010/main" val="392736485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hidden="1">
            <a:extLst>
              <a:ext uri="{FF2B5EF4-FFF2-40B4-BE49-F238E27FC236}">
                <a16:creationId xmlns:a16="http://schemas.microsoft.com/office/drawing/2014/main" id="{6B6BA865-3E31-4433-8718-F66D4BF2B577}"/>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E19C8D7-53EE-4AF8-9E87-BBF55B67A655}" type="slidenum">
              <a:rPr kumimoji="0" lang="en-US" sz="1200" b="0" i="0" u="none" strike="noStrike" kern="1200" cap="none" spc="0" normalizeH="0" baseline="0" noProof="0" smtClean="0">
                <a:ln>
                  <a:noFill/>
                </a:ln>
                <a:solidFill>
                  <a:srgbClr val="B37924"/>
                </a:solidFill>
                <a:effectLst/>
                <a:uLnTx/>
                <a:uFillTx/>
                <a:latin typeface="Scala Sans"/>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dirty="0">
              <a:ln>
                <a:noFill/>
              </a:ln>
              <a:solidFill>
                <a:srgbClr val="B37924"/>
              </a:solidFill>
              <a:effectLst/>
              <a:uLnTx/>
              <a:uFillTx/>
              <a:latin typeface="Scala Sans"/>
              <a:ea typeface="+mn-ea"/>
              <a:cs typeface="+mn-cs"/>
            </a:endParaRPr>
          </a:p>
        </p:txBody>
      </p:sp>
      <p:sp>
        <p:nvSpPr>
          <p:cNvPr id="4" name="Title 3">
            <a:extLst>
              <a:ext uri="{FF2B5EF4-FFF2-40B4-BE49-F238E27FC236}">
                <a16:creationId xmlns:a16="http://schemas.microsoft.com/office/drawing/2014/main" id="{0AAD91D2-051B-5A4E-AF75-2E4C27038A89}"/>
              </a:ext>
            </a:extLst>
          </p:cNvPr>
          <p:cNvSpPr>
            <a:spLocks noGrp="1"/>
          </p:cNvSpPr>
          <p:nvPr>
            <p:ph type="title"/>
          </p:nvPr>
        </p:nvSpPr>
        <p:spPr/>
        <p:txBody>
          <a:bodyPr>
            <a:normAutofit fontScale="90000"/>
          </a:bodyPr>
          <a:lstStyle/>
          <a:p>
            <a:r>
              <a:rPr lang="en-US" dirty="0"/>
              <a:t>LO6, key terms 1</a:t>
            </a:r>
          </a:p>
        </p:txBody>
      </p:sp>
      <p:sp>
        <p:nvSpPr>
          <p:cNvPr id="2" name="Content Placeholder 1">
            <a:extLst>
              <a:ext uri="{FF2B5EF4-FFF2-40B4-BE49-F238E27FC236}">
                <a16:creationId xmlns:a16="http://schemas.microsoft.com/office/drawing/2014/main" id="{A45265F3-BD43-4653-BF57-6B2D60085650}"/>
              </a:ext>
            </a:extLst>
          </p:cNvPr>
          <p:cNvSpPr>
            <a:spLocks noGrp="1"/>
          </p:cNvSpPr>
          <p:nvPr>
            <p:ph idx="1"/>
          </p:nvPr>
        </p:nvSpPr>
        <p:spPr/>
        <p:txBody>
          <a:bodyPr>
            <a:normAutofit lnSpcReduction="10000"/>
          </a:bodyPr>
          <a:lstStyle/>
          <a:p>
            <a:pPr marL="457200" indent="-457200">
              <a:buFont typeface="+mj-lt"/>
              <a:buAutoNum type="arabicPeriod" startAt="6"/>
            </a:pPr>
            <a:r>
              <a:rPr lang="en-US" dirty="0">
                <a:solidFill>
                  <a:srgbClr val="FF0000"/>
                </a:solidFill>
              </a:rPr>
              <a:t>Discuss HIPAA, abuse and neglect, and other legal issues</a:t>
            </a:r>
          </a:p>
          <a:p>
            <a:endParaRPr lang="en-US" dirty="0"/>
          </a:p>
          <a:p>
            <a:r>
              <a:rPr lang="en-US" sz="2200" dirty="0"/>
              <a:t>Define the following terms:</a:t>
            </a:r>
          </a:p>
          <a:p>
            <a:endParaRPr lang="en-US" sz="2200" b="1" dirty="0"/>
          </a:p>
          <a:p>
            <a:r>
              <a:rPr lang="en-US" sz="2200" b="1" dirty="0"/>
              <a:t>Health Insurance Portability and Accountability Act (HIPAA)</a:t>
            </a:r>
          </a:p>
          <a:p>
            <a:pPr lvl="1"/>
            <a:r>
              <a:rPr lang="en-US" dirty="0"/>
              <a:t>a federal law that requires health information be kept private and secure and that organizations take special steps to protect this information</a:t>
            </a:r>
            <a:r>
              <a:rPr lang="en-US" sz="2200" dirty="0"/>
              <a:t>.</a:t>
            </a:r>
          </a:p>
          <a:p>
            <a:r>
              <a:rPr lang="en-US" sz="2200" b="1" dirty="0"/>
              <a:t>protected health information (PHI)</a:t>
            </a:r>
          </a:p>
          <a:p>
            <a:pPr lvl="1"/>
            <a:r>
              <a:rPr lang="en-US" dirty="0"/>
              <a:t>a person’s private health information, which includes name, address, telephone number, social security number, email address, and medical record number.</a:t>
            </a:r>
            <a:endParaRPr lang="en-US" sz="2200" dirty="0"/>
          </a:p>
          <a:p>
            <a:r>
              <a:rPr lang="en-US" sz="2200" b="1" dirty="0"/>
              <a:t>abuse</a:t>
            </a:r>
          </a:p>
          <a:p>
            <a:pPr lvl="1"/>
            <a:r>
              <a:rPr lang="en-US" dirty="0"/>
              <a:t>purposeful mistreatment that causes physical, mental, or emotional pain or injury to someone</a:t>
            </a:r>
            <a:r>
              <a:rPr lang="en-US" sz="2200" dirty="0"/>
              <a:t>.</a:t>
            </a:r>
          </a:p>
          <a:p>
            <a:r>
              <a:rPr lang="en-US" sz="2200" b="1" dirty="0"/>
              <a:t>neglect</a:t>
            </a:r>
          </a:p>
          <a:p>
            <a:pPr lvl="1"/>
            <a:r>
              <a:rPr lang="en-US" dirty="0"/>
              <a:t>the failure to provide needed care that results in physical, mental, or emotional harm to a person</a:t>
            </a:r>
            <a:r>
              <a:rPr lang="en-US" sz="2200" dirty="0"/>
              <a:t>.</a:t>
            </a:r>
          </a:p>
          <a:p>
            <a:endParaRPr lang="en-US" dirty="0"/>
          </a:p>
          <a:p>
            <a:endParaRPr lang="en-US" dirty="0"/>
          </a:p>
          <a:p>
            <a:endParaRPr lang="en-US" dirty="0"/>
          </a:p>
          <a:p>
            <a:endParaRPr lang="en-US" dirty="0"/>
          </a:p>
          <a:p>
            <a:endParaRPr lang="en-US" dirty="0">
              <a:solidFill>
                <a:srgbClr val="FF0000"/>
              </a:solidFill>
            </a:endParaRPr>
          </a:p>
        </p:txBody>
      </p:sp>
    </p:spTree>
    <p:extLst>
      <p:ext uri="{BB962C8B-B14F-4D97-AF65-F5344CB8AC3E}">
        <p14:creationId xmlns:p14="http://schemas.microsoft.com/office/powerpoint/2010/main" val="71148690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hidden="1">
            <a:extLst>
              <a:ext uri="{FF2B5EF4-FFF2-40B4-BE49-F238E27FC236}">
                <a16:creationId xmlns:a16="http://schemas.microsoft.com/office/drawing/2014/main" id="{6B6BA865-3E31-4433-8718-F66D4BF2B577}"/>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E19C8D7-53EE-4AF8-9E87-BBF55B67A655}" type="slidenum">
              <a:rPr kumimoji="0" lang="en-US" sz="1200" b="0" i="0" u="none" strike="noStrike" kern="1200" cap="none" spc="0" normalizeH="0" baseline="0" noProof="0" smtClean="0">
                <a:ln>
                  <a:noFill/>
                </a:ln>
                <a:solidFill>
                  <a:srgbClr val="B37924"/>
                </a:solidFill>
                <a:effectLst/>
                <a:uLnTx/>
                <a:uFillTx/>
                <a:latin typeface="Scala Sans"/>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dirty="0">
              <a:ln>
                <a:noFill/>
              </a:ln>
              <a:solidFill>
                <a:srgbClr val="B37924"/>
              </a:solidFill>
              <a:effectLst/>
              <a:uLnTx/>
              <a:uFillTx/>
              <a:latin typeface="Scala Sans"/>
              <a:ea typeface="+mn-ea"/>
              <a:cs typeface="+mn-cs"/>
            </a:endParaRPr>
          </a:p>
        </p:txBody>
      </p:sp>
      <p:sp>
        <p:nvSpPr>
          <p:cNvPr id="4" name="Title 3">
            <a:extLst>
              <a:ext uri="{FF2B5EF4-FFF2-40B4-BE49-F238E27FC236}">
                <a16:creationId xmlns:a16="http://schemas.microsoft.com/office/drawing/2014/main" id="{0AAD91D2-051B-5A4E-AF75-2E4C27038A89}"/>
              </a:ext>
            </a:extLst>
          </p:cNvPr>
          <p:cNvSpPr>
            <a:spLocks noGrp="1"/>
          </p:cNvSpPr>
          <p:nvPr>
            <p:ph type="title"/>
          </p:nvPr>
        </p:nvSpPr>
        <p:spPr/>
        <p:txBody>
          <a:bodyPr>
            <a:normAutofit fontScale="90000"/>
          </a:bodyPr>
          <a:lstStyle/>
          <a:p>
            <a:r>
              <a:rPr lang="en-US" dirty="0"/>
              <a:t>LO6, key terms 2</a:t>
            </a:r>
          </a:p>
        </p:txBody>
      </p:sp>
      <p:sp>
        <p:nvSpPr>
          <p:cNvPr id="2" name="Content Placeholder 1">
            <a:extLst>
              <a:ext uri="{FF2B5EF4-FFF2-40B4-BE49-F238E27FC236}">
                <a16:creationId xmlns:a16="http://schemas.microsoft.com/office/drawing/2014/main" id="{A45265F3-BD43-4653-BF57-6B2D60085650}"/>
              </a:ext>
            </a:extLst>
          </p:cNvPr>
          <p:cNvSpPr>
            <a:spLocks noGrp="1"/>
          </p:cNvSpPr>
          <p:nvPr>
            <p:ph idx="1"/>
          </p:nvPr>
        </p:nvSpPr>
        <p:spPr/>
        <p:txBody>
          <a:bodyPr>
            <a:normAutofit/>
          </a:bodyPr>
          <a:lstStyle/>
          <a:p>
            <a:pPr marL="457200" indent="-457200">
              <a:buFont typeface="+mj-lt"/>
              <a:buAutoNum type="arabicPeriod" startAt="6"/>
            </a:pPr>
            <a:r>
              <a:rPr lang="en-US" dirty="0">
                <a:solidFill>
                  <a:srgbClr val="FF0000"/>
                </a:solidFill>
              </a:rPr>
              <a:t>Discuss HIPAA, abuse and neglect, and other legal issues</a:t>
            </a:r>
          </a:p>
          <a:p>
            <a:endParaRPr lang="en-US" dirty="0"/>
          </a:p>
          <a:p>
            <a:r>
              <a:rPr lang="en-US" sz="2200" dirty="0"/>
              <a:t>Define the following terms:</a:t>
            </a:r>
          </a:p>
          <a:p>
            <a:endParaRPr lang="en-US" sz="2200" b="1" dirty="0"/>
          </a:p>
          <a:p>
            <a:r>
              <a:rPr lang="en-US" sz="2200" b="1" dirty="0"/>
              <a:t>mandated reporter</a:t>
            </a:r>
          </a:p>
          <a:p>
            <a:pPr lvl="1"/>
            <a:r>
              <a:rPr lang="en-US" dirty="0"/>
              <a:t>a person who is legally required to report suspected or observed abuse or neglect because they have regular contact with vulnerable populations, such as the elderly in care facilities</a:t>
            </a:r>
            <a:r>
              <a:rPr lang="en-US" sz="2200" dirty="0"/>
              <a:t>.</a:t>
            </a:r>
          </a:p>
          <a:p>
            <a:r>
              <a:rPr lang="en-US" sz="2200" b="1" dirty="0"/>
              <a:t>negligence</a:t>
            </a:r>
          </a:p>
          <a:p>
            <a:pPr lvl="1"/>
            <a:r>
              <a:rPr lang="en-US" dirty="0"/>
              <a:t>an action, or the failure to act or provide the proper care, that results in unintended injury to a person</a:t>
            </a:r>
            <a:r>
              <a:rPr lang="en-US" sz="2200" dirty="0"/>
              <a:t>.</a:t>
            </a:r>
          </a:p>
          <a:p>
            <a:r>
              <a:rPr lang="en-US" sz="2200" b="1" dirty="0"/>
              <a:t>malpractice</a:t>
            </a:r>
          </a:p>
          <a:p>
            <a:pPr lvl="1"/>
            <a:r>
              <a:rPr lang="en-US" dirty="0"/>
              <a:t>injury to a person due to professional misconduct through negligence, carelessness, or lack of skill</a:t>
            </a:r>
            <a:r>
              <a:rPr lang="en-US" sz="2200" dirty="0"/>
              <a:t>.</a:t>
            </a:r>
          </a:p>
          <a:p>
            <a:endParaRPr lang="en-US" dirty="0"/>
          </a:p>
          <a:p>
            <a:endParaRPr lang="en-US" dirty="0"/>
          </a:p>
          <a:p>
            <a:endParaRPr lang="en-US" dirty="0"/>
          </a:p>
          <a:p>
            <a:endParaRPr lang="en-US" dirty="0"/>
          </a:p>
          <a:p>
            <a:endParaRPr lang="en-US" dirty="0">
              <a:solidFill>
                <a:srgbClr val="FF0000"/>
              </a:solidFill>
            </a:endParaRPr>
          </a:p>
        </p:txBody>
      </p:sp>
    </p:spTree>
    <p:extLst>
      <p:ext uri="{BB962C8B-B14F-4D97-AF65-F5344CB8AC3E}">
        <p14:creationId xmlns:p14="http://schemas.microsoft.com/office/powerpoint/2010/main" val="141031491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hidden="1">
            <a:extLst>
              <a:ext uri="{FF2B5EF4-FFF2-40B4-BE49-F238E27FC236}">
                <a16:creationId xmlns:a16="http://schemas.microsoft.com/office/drawing/2014/main" id="{6B6BA865-3E31-4433-8718-F66D4BF2B577}"/>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E19C8D7-53EE-4AF8-9E87-BBF55B67A655}" type="slidenum">
              <a:rPr kumimoji="0" lang="en-US" sz="1200" b="0" i="0" u="none" strike="noStrike" kern="1200" cap="none" spc="0" normalizeH="0" baseline="0" noProof="0" smtClean="0">
                <a:ln>
                  <a:noFill/>
                </a:ln>
                <a:solidFill>
                  <a:srgbClr val="B37924"/>
                </a:solidFill>
                <a:effectLst/>
                <a:uLnTx/>
                <a:uFillTx/>
                <a:latin typeface="Scala Sans"/>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dirty="0">
              <a:ln>
                <a:noFill/>
              </a:ln>
              <a:solidFill>
                <a:srgbClr val="B37924"/>
              </a:solidFill>
              <a:effectLst/>
              <a:uLnTx/>
              <a:uFillTx/>
              <a:latin typeface="Scala Sans"/>
              <a:ea typeface="+mn-ea"/>
              <a:cs typeface="+mn-cs"/>
            </a:endParaRPr>
          </a:p>
        </p:txBody>
      </p:sp>
      <p:sp>
        <p:nvSpPr>
          <p:cNvPr id="4" name="Title 3">
            <a:extLst>
              <a:ext uri="{FF2B5EF4-FFF2-40B4-BE49-F238E27FC236}">
                <a16:creationId xmlns:a16="http://schemas.microsoft.com/office/drawing/2014/main" id="{0AAD91D2-051B-5A4E-AF75-2E4C27038A89}"/>
              </a:ext>
            </a:extLst>
          </p:cNvPr>
          <p:cNvSpPr>
            <a:spLocks noGrp="1"/>
          </p:cNvSpPr>
          <p:nvPr>
            <p:ph type="title"/>
          </p:nvPr>
        </p:nvSpPr>
        <p:spPr/>
        <p:txBody>
          <a:bodyPr>
            <a:normAutofit fontScale="90000"/>
          </a:bodyPr>
          <a:lstStyle/>
          <a:p>
            <a:r>
              <a:rPr lang="en-US" dirty="0"/>
              <a:t>LO6, key terms 3</a:t>
            </a:r>
          </a:p>
        </p:txBody>
      </p:sp>
      <p:sp>
        <p:nvSpPr>
          <p:cNvPr id="2" name="Content Placeholder 1">
            <a:extLst>
              <a:ext uri="{FF2B5EF4-FFF2-40B4-BE49-F238E27FC236}">
                <a16:creationId xmlns:a16="http://schemas.microsoft.com/office/drawing/2014/main" id="{A45265F3-BD43-4653-BF57-6B2D60085650}"/>
              </a:ext>
            </a:extLst>
          </p:cNvPr>
          <p:cNvSpPr>
            <a:spLocks noGrp="1"/>
          </p:cNvSpPr>
          <p:nvPr>
            <p:ph idx="1"/>
          </p:nvPr>
        </p:nvSpPr>
        <p:spPr/>
        <p:txBody>
          <a:bodyPr>
            <a:normAutofit/>
          </a:bodyPr>
          <a:lstStyle/>
          <a:p>
            <a:pPr marL="457200" indent="-457200">
              <a:buFont typeface="+mj-lt"/>
              <a:buAutoNum type="arabicPeriod" startAt="6"/>
            </a:pPr>
            <a:r>
              <a:rPr lang="en-US" dirty="0">
                <a:solidFill>
                  <a:srgbClr val="FF0000"/>
                </a:solidFill>
              </a:rPr>
              <a:t>Discuss HIPAA, abuse and neglect, and other legal issues</a:t>
            </a:r>
          </a:p>
          <a:p>
            <a:endParaRPr lang="en-US" dirty="0"/>
          </a:p>
          <a:p>
            <a:r>
              <a:rPr lang="en-US" sz="2200" dirty="0"/>
              <a:t>Define the following terms:</a:t>
            </a:r>
          </a:p>
          <a:p>
            <a:endParaRPr lang="en-US" sz="2200" b="1" dirty="0"/>
          </a:p>
          <a:p>
            <a:r>
              <a:rPr lang="en-US" sz="2200" b="1" dirty="0"/>
              <a:t>diversion</a:t>
            </a:r>
          </a:p>
          <a:p>
            <a:pPr lvl="1"/>
            <a:r>
              <a:rPr lang="en-US" dirty="0"/>
              <a:t>removing medications prescribed for a resident for the purpose of personal use or sale to another person</a:t>
            </a:r>
            <a:r>
              <a:rPr lang="en-US" sz="2200" dirty="0"/>
              <a:t>.</a:t>
            </a:r>
            <a:endParaRPr lang="en-US" sz="2200" b="1" dirty="0"/>
          </a:p>
          <a:p>
            <a:r>
              <a:rPr lang="en-US" sz="2200" b="1" dirty="0"/>
              <a:t>fraud</a:t>
            </a:r>
          </a:p>
          <a:p>
            <a:pPr lvl="1"/>
            <a:r>
              <a:rPr lang="en-US" dirty="0"/>
              <a:t>deception or misrepresentation of truth; in healthcare this can involve falsely documenting care</a:t>
            </a:r>
            <a:r>
              <a:rPr lang="en-US" sz="2200" dirty="0"/>
              <a:t>.</a:t>
            </a:r>
          </a:p>
          <a:p>
            <a:endParaRPr lang="en-US" dirty="0"/>
          </a:p>
          <a:p>
            <a:endParaRPr lang="en-US" dirty="0"/>
          </a:p>
          <a:p>
            <a:endParaRPr lang="en-US" dirty="0"/>
          </a:p>
          <a:p>
            <a:endParaRPr lang="en-US" dirty="0"/>
          </a:p>
          <a:p>
            <a:endParaRPr lang="en-US" dirty="0">
              <a:solidFill>
                <a:srgbClr val="FF0000"/>
              </a:solidFill>
            </a:endParaRPr>
          </a:p>
        </p:txBody>
      </p:sp>
    </p:spTree>
    <p:extLst>
      <p:ext uri="{BB962C8B-B14F-4D97-AF65-F5344CB8AC3E}">
        <p14:creationId xmlns:p14="http://schemas.microsoft.com/office/powerpoint/2010/main" val="331747826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hidden="1">
            <a:extLst>
              <a:ext uri="{FF2B5EF4-FFF2-40B4-BE49-F238E27FC236}">
                <a16:creationId xmlns:a16="http://schemas.microsoft.com/office/drawing/2014/main" id="{6B6BA865-3E31-4433-8718-F66D4BF2B577}"/>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E19C8D7-53EE-4AF8-9E87-BBF55B67A655}" type="slidenum">
              <a:rPr kumimoji="0" lang="en-US" sz="1200" b="0" i="0" u="none" strike="noStrike" kern="1200" cap="none" spc="0" normalizeH="0" baseline="0" noProof="0" smtClean="0">
                <a:ln>
                  <a:noFill/>
                </a:ln>
                <a:solidFill>
                  <a:srgbClr val="B37924"/>
                </a:solidFill>
                <a:effectLst/>
                <a:uLnTx/>
                <a:uFillTx/>
                <a:latin typeface="Scala Sans"/>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21</a:t>
            </a:fld>
            <a:endParaRPr kumimoji="0" lang="en-US" sz="1200" b="0" i="0" u="none" strike="noStrike" kern="1200" cap="none" spc="0" normalizeH="0" baseline="0" noProof="0" dirty="0">
              <a:ln>
                <a:noFill/>
              </a:ln>
              <a:solidFill>
                <a:srgbClr val="B37924"/>
              </a:solidFill>
              <a:effectLst/>
              <a:uLnTx/>
              <a:uFillTx/>
              <a:latin typeface="Scala Sans"/>
              <a:ea typeface="+mn-ea"/>
              <a:cs typeface="+mn-cs"/>
            </a:endParaRPr>
          </a:p>
        </p:txBody>
      </p:sp>
      <p:sp>
        <p:nvSpPr>
          <p:cNvPr id="4" name="Title 3">
            <a:extLst>
              <a:ext uri="{FF2B5EF4-FFF2-40B4-BE49-F238E27FC236}">
                <a16:creationId xmlns:a16="http://schemas.microsoft.com/office/drawing/2014/main" id="{0643F1B0-386D-7B44-B57B-0B5E8E99ACCF}"/>
              </a:ext>
            </a:extLst>
          </p:cNvPr>
          <p:cNvSpPr>
            <a:spLocks noGrp="1"/>
          </p:cNvSpPr>
          <p:nvPr>
            <p:ph type="title"/>
          </p:nvPr>
        </p:nvSpPr>
        <p:spPr/>
        <p:txBody>
          <a:bodyPr>
            <a:normAutofit fontScale="90000"/>
          </a:bodyPr>
          <a:lstStyle/>
          <a:p>
            <a:r>
              <a:rPr lang="en-US" dirty="0"/>
              <a:t>LO6, content 1</a:t>
            </a:r>
          </a:p>
        </p:txBody>
      </p:sp>
      <p:sp>
        <p:nvSpPr>
          <p:cNvPr id="2" name="Content Placeholder 1">
            <a:extLst>
              <a:ext uri="{FF2B5EF4-FFF2-40B4-BE49-F238E27FC236}">
                <a16:creationId xmlns:a16="http://schemas.microsoft.com/office/drawing/2014/main" id="{A45265F3-BD43-4653-BF57-6B2D60085650}"/>
              </a:ext>
            </a:extLst>
          </p:cNvPr>
          <p:cNvSpPr>
            <a:spLocks noGrp="1"/>
          </p:cNvSpPr>
          <p:nvPr>
            <p:ph idx="1"/>
          </p:nvPr>
        </p:nvSpPr>
        <p:spPr/>
        <p:txBody>
          <a:bodyPr/>
          <a:lstStyle/>
          <a:p>
            <a:pPr marL="457200" indent="-457200">
              <a:buFont typeface="+mj-lt"/>
              <a:buAutoNum type="arabicPeriod" startAt="6"/>
            </a:pPr>
            <a:r>
              <a:rPr lang="en-US" dirty="0">
                <a:solidFill>
                  <a:srgbClr val="FF0000"/>
                </a:solidFill>
              </a:rPr>
              <a:t>Discuss HIPAA, abuse and neglect, and other legal issues</a:t>
            </a:r>
          </a:p>
          <a:p>
            <a:endParaRPr lang="en-US" dirty="0"/>
          </a:p>
          <a:p>
            <a:r>
              <a:rPr lang="en-US" dirty="0"/>
              <a:t>Critical Thinking: Conversation Starter</a:t>
            </a:r>
          </a:p>
          <a:p>
            <a:endParaRPr lang="en-US" dirty="0"/>
          </a:p>
          <a:p>
            <a:r>
              <a:rPr lang="en-US" dirty="0"/>
              <a:t>Remember that as a medication aide you will be administering medications that residents need to maintain health. </a:t>
            </a:r>
          </a:p>
          <a:p>
            <a:endParaRPr lang="en-US" dirty="0"/>
          </a:p>
          <a:p>
            <a:r>
              <a:rPr lang="en-US" dirty="0"/>
              <a:t>What steps can MAs take to avoid acting with </a:t>
            </a:r>
            <a:r>
              <a:rPr lang="en-US" i="1" dirty="0"/>
              <a:t>negligence? </a:t>
            </a:r>
            <a:r>
              <a:rPr lang="en-US" dirty="0"/>
              <a:t>What can MAs</a:t>
            </a:r>
            <a:r>
              <a:rPr lang="en-US" i="1" dirty="0"/>
              <a:t> </a:t>
            </a:r>
            <a:r>
              <a:rPr lang="en-US" dirty="0"/>
              <a:t>do to avoid </a:t>
            </a:r>
            <a:r>
              <a:rPr lang="en-US" i="1" dirty="0"/>
              <a:t>malpractice</a:t>
            </a:r>
            <a:r>
              <a:rPr lang="en-US" dirty="0"/>
              <a:t>?</a:t>
            </a:r>
          </a:p>
          <a:p>
            <a:endParaRPr lang="en-US" dirty="0"/>
          </a:p>
          <a:p>
            <a:endParaRPr lang="en-US" dirty="0"/>
          </a:p>
          <a:p>
            <a:endParaRPr lang="en-US" dirty="0"/>
          </a:p>
          <a:p>
            <a:endParaRPr lang="en-US" dirty="0"/>
          </a:p>
          <a:p>
            <a:endParaRPr lang="en-US" dirty="0"/>
          </a:p>
          <a:p>
            <a:endParaRPr lang="en-US" dirty="0">
              <a:solidFill>
                <a:srgbClr val="FF0000"/>
              </a:solidFill>
            </a:endParaRPr>
          </a:p>
        </p:txBody>
      </p:sp>
    </p:spTree>
    <p:extLst>
      <p:ext uri="{BB962C8B-B14F-4D97-AF65-F5344CB8AC3E}">
        <p14:creationId xmlns:p14="http://schemas.microsoft.com/office/powerpoint/2010/main" val="147500485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hidden="1">
            <a:extLst>
              <a:ext uri="{FF2B5EF4-FFF2-40B4-BE49-F238E27FC236}">
                <a16:creationId xmlns:a16="http://schemas.microsoft.com/office/drawing/2014/main" id="{6B6BA865-3E31-4433-8718-F66D4BF2B577}"/>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E19C8D7-53EE-4AF8-9E87-BBF55B67A655}" type="slidenum">
              <a:rPr kumimoji="0" lang="en-US" sz="1200" b="0" i="0" u="none" strike="noStrike" kern="1200" cap="none" spc="0" normalizeH="0" baseline="0" noProof="0" smtClean="0">
                <a:ln>
                  <a:noFill/>
                </a:ln>
                <a:solidFill>
                  <a:srgbClr val="B37924"/>
                </a:solidFill>
                <a:effectLst/>
                <a:uLnTx/>
                <a:uFillTx/>
                <a:latin typeface="Scala Sans"/>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22</a:t>
            </a:fld>
            <a:endParaRPr kumimoji="0" lang="en-US" sz="1200" b="0" i="0" u="none" strike="noStrike" kern="1200" cap="none" spc="0" normalizeH="0" baseline="0" noProof="0" dirty="0">
              <a:ln>
                <a:noFill/>
              </a:ln>
              <a:solidFill>
                <a:srgbClr val="B37924"/>
              </a:solidFill>
              <a:effectLst/>
              <a:uLnTx/>
              <a:uFillTx/>
              <a:latin typeface="Scala Sans"/>
              <a:ea typeface="+mn-ea"/>
              <a:cs typeface="+mn-cs"/>
            </a:endParaRPr>
          </a:p>
        </p:txBody>
      </p:sp>
      <p:sp>
        <p:nvSpPr>
          <p:cNvPr id="4" name="Title 3">
            <a:extLst>
              <a:ext uri="{FF2B5EF4-FFF2-40B4-BE49-F238E27FC236}">
                <a16:creationId xmlns:a16="http://schemas.microsoft.com/office/drawing/2014/main" id="{0643F1B0-386D-7B44-B57B-0B5E8E99ACCF}"/>
              </a:ext>
            </a:extLst>
          </p:cNvPr>
          <p:cNvSpPr>
            <a:spLocks noGrp="1"/>
          </p:cNvSpPr>
          <p:nvPr>
            <p:ph type="title"/>
          </p:nvPr>
        </p:nvSpPr>
        <p:spPr/>
        <p:txBody>
          <a:bodyPr>
            <a:normAutofit fontScale="90000"/>
          </a:bodyPr>
          <a:lstStyle/>
          <a:p>
            <a:r>
              <a:rPr lang="en-US" dirty="0"/>
              <a:t>LO6, content 2</a:t>
            </a:r>
          </a:p>
        </p:txBody>
      </p:sp>
      <p:sp>
        <p:nvSpPr>
          <p:cNvPr id="2" name="Content Placeholder 1">
            <a:extLst>
              <a:ext uri="{FF2B5EF4-FFF2-40B4-BE49-F238E27FC236}">
                <a16:creationId xmlns:a16="http://schemas.microsoft.com/office/drawing/2014/main" id="{A45265F3-BD43-4653-BF57-6B2D60085650}"/>
              </a:ext>
            </a:extLst>
          </p:cNvPr>
          <p:cNvSpPr>
            <a:spLocks noGrp="1"/>
          </p:cNvSpPr>
          <p:nvPr>
            <p:ph idx="1"/>
          </p:nvPr>
        </p:nvSpPr>
        <p:spPr/>
        <p:txBody>
          <a:bodyPr/>
          <a:lstStyle/>
          <a:p>
            <a:pPr marL="457200" indent="-457200">
              <a:buFont typeface="+mj-lt"/>
              <a:buAutoNum type="arabicPeriod" startAt="6"/>
            </a:pPr>
            <a:r>
              <a:rPr lang="en-US" dirty="0">
                <a:solidFill>
                  <a:srgbClr val="FF0000"/>
                </a:solidFill>
              </a:rPr>
              <a:t>Discuss HIPAA, abuse and neglect, and other legal issues</a:t>
            </a:r>
          </a:p>
          <a:p>
            <a:endParaRPr lang="en-US" dirty="0"/>
          </a:p>
          <a:p>
            <a:r>
              <a:rPr lang="en-US" dirty="0"/>
              <a:t>Critical Thinking: Case Studies </a:t>
            </a:r>
          </a:p>
          <a:p>
            <a:endParaRPr lang="en-US" dirty="0"/>
          </a:p>
          <a:p>
            <a:r>
              <a:rPr lang="en-US" dirty="0"/>
              <a:t>Consider these case studies. For each one, answer this question: Did something illegal or unethical happen?</a:t>
            </a:r>
          </a:p>
          <a:p>
            <a:endParaRPr lang="en-US" dirty="0"/>
          </a:p>
          <a:p>
            <a:r>
              <a:rPr lang="en-US" dirty="0"/>
              <a:t>Case Study #1: </a:t>
            </a:r>
          </a:p>
          <a:p>
            <a:r>
              <a:rPr lang="en-US" dirty="0"/>
              <a:t>Susana is an MA. She believes her grandmother, who is the same age as many of the residents she cares for, is suffering from depression. Her grandmother is reluctant to seek professional help or tell anyone about her situation. Susana tells her grandmother about Mrs. Ocampo, a resident who takes medications for depression, and invites her grandmother to visit or call Mrs. Ocampo and talk to her about her experiences with depression.</a:t>
            </a:r>
          </a:p>
          <a:p>
            <a:endParaRPr lang="en-US" dirty="0"/>
          </a:p>
          <a:p>
            <a:endParaRPr lang="en-US" dirty="0"/>
          </a:p>
          <a:p>
            <a:endParaRPr lang="en-US" dirty="0"/>
          </a:p>
          <a:p>
            <a:endParaRPr lang="en-US" dirty="0"/>
          </a:p>
          <a:p>
            <a:endParaRPr lang="en-US" dirty="0"/>
          </a:p>
          <a:p>
            <a:endParaRPr lang="en-US" dirty="0">
              <a:solidFill>
                <a:srgbClr val="FF0000"/>
              </a:solidFill>
            </a:endParaRPr>
          </a:p>
        </p:txBody>
      </p:sp>
    </p:spTree>
    <p:extLst>
      <p:ext uri="{BB962C8B-B14F-4D97-AF65-F5344CB8AC3E}">
        <p14:creationId xmlns:p14="http://schemas.microsoft.com/office/powerpoint/2010/main" val="152211179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hidden="1">
            <a:extLst>
              <a:ext uri="{FF2B5EF4-FFF2-40B4-BE49-F238E27FC236}">
                <a16:creationId xmlns:a16="http://schemas.microsoft.com/office/drawing/2014/main" id="{6B6BA865-3E31-4433-8718-F66D4BF2B577}"/>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E19C8D7-53EE-4AF8-9E87-BBF55B67A655}" type="slidenum">
              <a:rPr kumimoji="0" lang="en-US" sz="1200" b="0" i="0" u="none" strike="noStrike" kern="1200" cap="none" spc="0" normalizeH="0" baseline="0" noProof="0" smtClean="0">
                <a:ln>
                  <a:noFill/>
                </a:ln>
                <a:solidFill>
                  <a:srgbClr val="B37924"/>
                </a:solidFill>
                <a:effectLst/>
                <a:uLnTx/>
                <a:uFillTx/>
                <a:latin typeface="Scala Sans"/>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23</a:t>
            </a:fld>
            <a:endParaRPr kumimoji="0" lang="en-US" sz="1200" b="0" i="0" u="none" strike="noStrike" kern="1200" cap="none" spc="0" normalizeH="0" baseline="0" noProof="0" dirty="0">
              <a:ln>
                <a:noFill/>
              </a:ln>
              <a:solidFill>
                <a:srgbClr val="B37924"/>
              </a:solidFill>
              <a:effectLst/>
              <a:uLnTx/>
              <a:uFillTx/>
              <a:latin typeface="Scala Sans"/>
              <a:ea typeface="+mn-ea"/>
              <a:cs typeface="+mn-cs"/>
            </a:endParaRPr>
          </a:p>
        </p:txBody>
      </p:sp>
      <p:sp>
        <p:nvSpPr>
          <p:cNvPr id="4" name="Title 3">
            <a:extLst>
              <a:ext uri="{FF2B5EF4-FFF2-40B4-BE49-F238E27FC236}">
                <a16:creationId xmlns:a16="http://schemas.microsoft.com/office/drawing/2014/main" id="{0643F1B0-386D-7B44-B57B-0B5E8E99ACCF}"/>
              </a:ext>
            </a:extLst>
          </p:cNvPr>
          <p:cNvSpPr>
            <a:spLocks noGrp="1"/>
          </p:cNvSpPr>
          <p:nvPr>
            <p:ph type="title"/>
          </p:nvPr>
        </p:nvSpPr>
        <p:spPr/>
        <p:txBody>
          <a:bodyPr>
            <a:normAutofit fontScale="90000"/>
          </a:bodyPr>
          <a:lstStyle/>
          <a:p>
            <a:r>
              <a:rPr lang="en-US" dirty="0"/>
              <a:t>LO6, content 3</a:t>
            </a:r>
          </a:p>
        </p:txBody>
      </p:sp>
      <p:sp>
        <p:nvSpPr>
          <p:cNvPr id="2" name="Content Placeholder 1">
            <a:extLst>
              <a:ext uri="{FF2B5EF4-FFF2-40B4-BE49-F238E27FC236}">
                <a16:creationId xmlns:a16="http://schemas.microsoft.com/office/drawing/2014/main" id="{A45265F3-BD43-4653-BF57-6B2D60085650}"/>
              </a:ext>
            </a:extLst>
          </p:cNvPr>
          <p:cNvSpPr>
            <a:spLocks noGrp="1"/>
          </p:cNvSpPr>
          <p:nvPr>
            <p:ph idx="1"/>
          </p:nvPr>
        </p:nvSpPr>
        <p:spPr/>
        <p:txBody>
          <a:bodyPr>
            <a:normAutofit lnSpcReduction="10000"/>
          </a:bodyPr>
          <a:lstStyle/>
          <a:p>
            <a:pPr marL="457200" indent="-457200">
              <a:buFont typeface="+mj-lt"/>
              <a:buAutoNum type="arabicPeriod" startAt="6"/>
            </a:pPr>
            <a:r>
              <a:rPr lang="en-US" dirty="0">
                <a:solidFill>
                  <a:srgbClr val="FF0000"/>
                </a:solidFill>
              </a:rPr>
              <a:t>Discuss HIPAA, abuse and neglect, and other legal issues</a:t>
            </a:r>
          </a:p>
          <a:p>
            <a:endParaRPr lang="en-US" dirty="0"/>
          </a:p>
          <a:p>
            <a:r>
              <a:rPr lang="en-US" dirty="0"/>
              <a:t>Critical Thinking: Case Studies (cont’d)</a:t>
            </a:r>
          </a:p>
          <a:p>
            <a:endParaRPr lang="en-US" dirty="0"/>
          </a:p>
          <a:p>
            <a:r>
              <a:rPr lang="en-US" dirty="0"/>
              <a:t>Case Study #2:</a:t>
            </a:r>
          </a:p>
          <a:p>
            <a:r>
              <a:rPr lang="en-US" dirty="0"/>
              <a:t>Mr. Bello has been refusing a medication ordered to treat his high blood pressure because he does not like some of the side effects. Natasha is an MA who understands how important it is to keep hypertension under control. When preparing Mr. Bello’s medications, Natasha begins crushing his blood pressure medication and stirring it into applesauce. She gives him the applesauce without informing him that the medication is stirred in.</a:t>
            </a:r>
          </a:p>
          <a:p>
            <a:endParaRPr lang="en-US" dirty="0"/>
          </a:p>
          <a:p>
            <a:r>
              <a:rPr lang="en-US" dirty="0"/>
              <a:t>Case Study #3: </a:t>
            </a:r>
          </a:p>
          <a:p>
            <a:r>
              <a:rPr lang="en-US" dirty="0"/>
              <a:t>Noah and </a:t>
            </a:r>
            <a:r>
              <a:rPr lang="en-US" dirty="0" err="1"/>
              <a:t>Serafine</a:t>
            </a:r>
            <a:r>
              <a:rPr lang="en-US" dirty="0"/>
              <a:t> are medication aides at the same facility. </a:t>
            </a:r>
            <a:r>
              <a:rPr lang="en-US" dirty="0" err="1"/>
              <a:t>Serafine</a:t>
            </a:r>
            <a:r>
              <a:rPr lang="en-US" dirty="0"/>
              <a:t> tells Noah that she administered a PRN medication to a resident without first getting approval from the nurse, and asks him to sign the nurse’s name to the MAR for her. She explains that the nurse wasn’t available and the resident really needed the medication, which is a common OTC nasal spray. The resident is feeling better now and no harm came as a result of administering the medication.</a:t>
            </a:r>
          </a:p>
          <a:p>
            <a:endParaRPr lang="en-US" dirty="0"/>
          </a:p>
          <a:p>
            <a:endParaRPr lang="en-US" dirty="0"/>
          </a:p>
          <a:p>
            <a:endParaRPr lang="en-US" dirty="0"/>
          </a:p>
          <a:p>
            <a:endParaRPr lang="en-US" dirty="0"/>
          </a:p>
          <a:p>
            <a:endParaRPr lang="en-US" dirty="0"/>
          </a:p>
          <a:p>
            <a:endParaRPr lang="en-US" dirty="0">
              <a:solidFill>
                <a:srgbClr val="FF0000"/>
              </a:solidFill>
            </a:endParaRPr>
          </a:p>
        </p:txBody>
      </p:sp>
    </p:spTree>
    <p:extLst>
      <p:ext uri="{BB962C8B-B14F-4D97-AF65-F5344CB8AC3E}">
        <p14:creationId xmlns:p14="http://schemas.microsoft.com/office/powerpoint/2010/main" val="268761142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hidden="1">
            <a:extLst>
              <a:ext uri="{FF2B5EF4-FFF2-40B4-BE49-F238E27FC236}">
                <a16:creationId xmlns:a16="http://schemas.microsoft.com/office/drawing/2014/main" id="{6B6BA865-3E31-4433-8718-F66D4BF2B577}"/>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E19C8D7-53EE-4AF8-9E87-BBF55B67A655}" type="slidenum">
              <a:rPr kumimoji="0" lang="en-US" sz="1200" b="0" i="0" u="none" strike="noStrike" kern="1200" cap="none" spc="0" normalizeH="0" baseline="0" noProof="0" smtClean="0">
                <a:ln>
                  <a:noFill/>
                </a:ln>
                <a:solidFill>
                  <a:srgbClr val="B37924"/>
                </a:solidFill>
                <a:effectLst/>
                <a:uLnTx/>
                <a:uFillTx/>
                <a:latin typeface="Scala Sans"/>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24</a:t>
            </a:fld>
            <a:endParaRPr kumimoji="0" lang="en-US" sz="1200" b="0" i="0" u="none" strike="noStrike" kern="1200" cap="none" spc="0" normalizeH="0" baseline="0" noProof="0" dirty="0">
              <a:ln>
                <a:noFill/>
              </a:ln>
              <a:solidFill>
                <a:srgbClr val="B37924"/>
              </a:solidFill>
              <a:effectLst/>
              <a:uLnTx/>
              <a:uFillTx/>
              <a:latin typeface="Scala Sans"/>
              <a:ea typeface="+mn-ea"/>
              <a:cs typeface="+mn-cs"/>
            </a:endParaRPr>
          </a:p>
        </p:txBody>
      </p:sp>
      <p:sp>
        <p:nvSpPr>
          <p:cNvPr id="4" name="Title 3">
            <a:extLst>
              <a:ext uri="{FF2B5EF4-FFF2-40B4-BE49-F238E27FC236}">
                <a16:creationId xmlns:a16="http://schemas.microsoft.com/office/drawing/2014/main" id="{0643F1B0-386D-7B44-B57B-0B5E8E99ACCF}"/>
              </a:ext>
            </a:extLst>
          </p:cNvPr>
          <p:cNvSpPr>
            <a:spLocks noGrp="1"/>
          </p:cNvSpPr>
          <p:nvPr>
            <p:ph type="title"/>
          </p:nvPr>
        </p:nvSpPr>
        <p:spPr/>
        <p:txBody>
          <a:bodyPr>
            <a:normAutofit fontScale="90000"/>
          </a:bodyPr>
          <a:lstStyle/>
          <a:p>
            <a:r>
              <a:rPr lang="en-US" dirty="0"/>
              <a:t>LO6, content 4</a:t>
            </a:r>
          </a:p>
        </p:txBody>
      </p:sp>
      <p:sp>
        <p:nvSpPr>
          <p:cNvPr id="2" name="Content Placeholder 1">
            <a:extLst>
              <a:ext uri="{FF2B5EF4-FFF2-40B4-BE49-F238E27FC236}">
                <a16:creationId xmlns:a16="http://schemas.microsoft.com/office/drawing/2014/main" id="{A45265F3-BD43-4653-BF57-6B2D60085650}"/>
              </a:ext>
            </a:extLst>
          </p:cNvPr>
          <p:cNvSpPr>
            <a:spLocks noGrp="1"/>
          </p:cNvSpPr>
          <p:nvPr>
            <p:ph idx="1"/>
          </p:nvPr>
        </p:nvSpPr>
        <p:spPr/>
        <p:txBody>
          <a:bodyPr>
            <a:normAutofit/>
          </a:bodyPr>
          <a:lstStyle/>
          <a:p>
            <a:pPr marL="457200" indent="-457200">
              <a:buFont typeface="+mj-lt"/>
              <a:buAutoNum type="arabicPeriod" startAt="6"/>
            </a:pPr>
            <a:r>
              <a:rPr lang="en-US" dirty="0">
                <a:solidFill>
                  <a:srgbClr val="FF0000"/>
                </a:solidFill>
              </a:rPr>
              <a:t>Discuss HIPAA, abuse and neglect, and other legal issues</a:t>
            </a:r>
          </a:p>
          <a:p>
            <a:endParaRPr lang="en-US" dirty="0"/>
          </a:p>
          <a:p>
            <a:r>
              <a:rPr lang="en-US" dirty="0"/>
              <a:t>Critical Thinking: Case Studies (cont’d)</a:t>
            </a:r>
          </a:p>
          <a:p>
            <a:r>
              <a:rPr lang="en-US" dirty="0"/>
              <a:t> </a:t>
            </a:r>
          </a:p>
          <a:p>
            <a:r>
              <a:rPr lang="en-US" dirty="0"/>
              <a:t>Case Study #4: </a:t>
            </a:r>
          </a:p>
          <a:p>
            <a:r>
              <a:rPr lang="en-US" dirty="0"/>
              <a:t>Nurse Christine frequently asks different MAs at her facility to sign that they witnessed destruction of medications that they did not witness. She says the two-witness requirement is “just red tape” and she doesn’t always have time to have a second person present when medications are destroyed. </a:t>
            </a:r>
          </a:p>
          <a:p>
            <a:endParaRPr lang="en-US" dirty="0"/>
          </a:p>
          <a:p>
            <a:endParaRPr lang="en-US" dirty="0"/>
          </a:p>
          <a:p>
            <a:endParaRPr lang="en-US" dirty="0"/>
          </a:p>
          <a:p>
            <a:endParaRPr lang="en-US" dirty="0"/>
          </a:p>
          <a:p>
            <a:endParaRPr lang="en-US" dirty="0"/>
          </a:p>
          <a:p>
            <a:endParaRPr lang="en-US" dirty="0">
              <a:solidFill>
                <a:srgbClr val="FF0000"/>
              </a:solidFill>
            </a:endParaRPr>
          </a:p>
        </p:txBody>
      </p:sp>
    </p:spTree>
    <p:extLst>
      <p:ext uri="{BB962C8B-B14F-4D97-AF65-F5344CB8AC3E}">
        <p14:creationId xmlns:p14="http://schemas.microsoft.com/office/powerpoint/2010/main" val="413865599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hidden="1">
            <a:extLst>
              <a:ext uri="{FF2B5EF4-FFF2-40B4-BE49-F238E27FC236}">
                <a16:creationId xmlns:a16="http://schemas.microsoft.com/office/drawing/2014/main" id="{6B6BA865-3E31-4433-8718-F66D4BF2B577}"/>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E19C8D7-53EE-4AF8-9E87-BBF55B67A655}" type="slidenum">
              <a:rPr kumimoji="0" lang="en-US" sz="1200" b="0" i="0" u="none" strike="noStrike" kern="1200" cap="none" spc="0" normalizeH="0" baseline="0" noProof="0" smtClean="0">
                <a:ln>
                  <a:noFill/>
                </a:ln>
                <a:solidFill>
                  <a:srgbClr val="B37924"/>
                </a:solidFill>
                <a:effectLst/>
                <a:uLnTx/>
                <a:uFillTx/>
                <a:latin typeface="Scala Sans"/>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25</a:t>
            </a:fld>
            <a:endParaRPr kumimoji="0" lang="en-US" sz="1200" b="0" i="0" u="none" strike="noStrike" kern="1200" cap="none" spc="0" normalizeH="0" baseline="0" noProof="0" dirty="0">
              <a:ln>
                <a:noFill/>
              </a:ln>
              <a:solidFill>
                <a:srgbClr val="B37924"/>
              </a:solidFill>
              <a:effectLst/>
              <a:uLnTx/>
              <a:uFillTx/>
              <a:latin typeface="Scala Sans"/>
              <a:ea typeface="+mn-ea"/>
              <a:cs typeface="+mn-cs"/>
            </a:endParaRPr>
          </a:p>
        </p:txBody>
      </p:sp>
      <p:sp>
        <p:nvSpPr>
          <p:cNvPr id="4" name="Title 3">
            <a:extLst>
              <a:ext uri="{FF2B5EF4-FFF2-40B4-BE49-F238E27FC236}">
                <a16:creationId xmlns:a16="http://schemas.microsoft.com/office/drawing/2014/main" id="{0AAD91D2-051B-5A4E-AF75-2E4C27038A89}"/>
              </a:ext>
            </a:extLst>
          </p:cNvPr>
          <p:cNvSpPr>
            <a:spLocks noGrp="1"/>
          </p:cNvSpPr>
          <p:nvPr>
            <p:ph type="title"/>
          </p:nvPr>
        </p:nvSpPr>
        <p:spPr/>
        <p:txBody>
          <a:bodyPr>
            <a:normAutofit fontScale="90000"/>
          </a:bodyPr>
          <a:lstStyle/>
          <a:p>
            <a:r>
              <a:rPr lang="en-US" dirty="0"/>
              <a:t>LO7, key term</a:t>
            </a:r>
          </a:p>
        </p:txBody>
      </p:sp>
      <p:sp>
        <p:nvSpPr>
          <p:cNvPr id="2" name="Content Placeholder 1">
            <a:extLst>
              <a:ext uri="{FF2B5EF4-FFF2-40B4-BE49-F238E27FC236}">
                <a16:creationId xmlns:a16="http://schemas.microsoft.com/office/drawing/2014/main" id="{A45265F3-BD43-4653-BF57-6B2D60085650}"/>
              </a:ext>
            </a:extLst>
          </p:cNvPr>
          <p:cNvSpPr>
            <a:spLocks noGrp="1"/>
          </p:cNvSpPr>
          <p:nvPr>
            <p:ph idx="1"/>
          </p:nvPr>
        </p:nvSpPr>
        <p:spPr/>
        <p:txBody>
          <a:bodyPr>
            <a:normAutofit/>
          </a:bodyPr>
          <a:lstStyle/>
          <a:p>
            <a:pPr marL="457200" indent="-457200">
              <a:buFont typeface="+mj-lt"/>
              <a:buAutoNum type="arabicPeriod" startAt="7"/>
            </a:pPr>
            <a:r>
              <a:rPr lang="en-US" dirty="0">
                <a:solidFill>
                  <a:srgbClr val="FF0000"/>
                </a:solidFill>
              </a:rPr>
              <a:t>Explain laws related to controlled substances</a:t>
            </a:r>
          </a:p>
          <a:p>
            <a:endParaRPr lang="en-US" dirty="0"/>
          </a:p>
          <a:p>
            <a:r>
              <a:rPr lang="en-US" sz="2200" dirty="0"/>
              <a:t>Define the </a:t>
            </a:r>
            <a:r>
              <a:rPr lang="en-US" sz="2200"/>
              <a:t>following term:</a:t>
            </a:r>
            <a:endParaRPr lang="en-US" sz="2200" dirty="0"/>
          </a:p>
          <a:p>
            <a:endParaRPr lang="en-US" sz="2200" b="1" dirty="0"/>
          </a:p>
          <a:p>
            <a:r>
              <a:rPr lang="en-US" sz="2200" b="1" dirty="0"/>
              <a:t>Controlled Substances Act (CSA)</a:t>
            </a:r>
          </a:p>
          <a:p>
            <a:pPr lvl="1"/>
            <a:r>
              <a:rPr lang="en-US" dirty="0"/>
              <a:t>a law defining drugs that pose a risk for addiction or abuse.</a:t>
            </a:r>
            <a:r>
              <a:rPr lang="en-US" sz="2400" dirty="0"/>
              <a:t> </a:t>
            </a:r>
            <a:endParaRPr lang="en-US" dirty="0"/>
          </a:p>
          <a:p>
            <a:endParaRPr lang="en-US" dirty="0"/>
          </a:p>
          <a:p>
            <a:endParaRPr lang="en-US" dirty="0"/>
          </a:p>
          <a:p>
            <a:endParaRPr lang="en-US" dirty="0"/>
          </a:p>
          <a:p>
            <a:endParaRPr lang="en-US" dirty="0">
              <a:solidFill>
                <a:srgbClr val="FF0000"/>
              </a:solidFill>
            </a:endParaRPr>
          </a:p>
        </p:txBody>
      </p:sp>
    </p:spTree>
    <p:extLst>
      <p:ext uri="{BB962C8B-B14F-4D97-AF65-F5344CB8AC3E}">
        <p14:creationId xmlns:p14="http://schemas.microsoft.com/office/powerpoint/2010/main" val="321684444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hidden="1">
            <a:extLst>
              <a:ext uri="{FF2B5EF4-FFF2-40B4-BE49-F238E27FC236}">
                <a16:creationId xmlns:a16="http://schemas.microsoft.com/office/drawing/2014/main" id="{6B6BA865-3E31-4433-8718-F66D4BF2B577}"/>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E19C8D7-53EE-4AF8-9E87-BBF55B67A655}" type="slidenum">
              <a:rPr kumimoji="0" lang="en-US" sz="1200" b="0" i="0" u="none" strike="noStrike" kern="1200" cap="none" spc="0" normalizeH="0" baseline="0" noProof="0" smtClean="0">
                <a:ln>
                  <a:noFill/>
                </a:ln>
                <a:solidFill>
                  <a:srgbClr val="B37924"/>
                </a:solidFill>
                <a:effectLst/>
                <a:uLnTx/>
                <a:uFillTx/>
                <a:latin typeface="Scala Sans"/>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26</a:t>
            </a:fld>
            <a:endParaRPr kumimoji="0" lang="en-US" sz="1200" b="0" i="0" u="none" strike="noStrike" kern="1200" cap="none" spc="0" normalizeH="0" baseline="0" noProof="0" dirty="0">
              <a:ln>
                <a:noFill/>
              </a:ln>
              <a:solidFill>
                <a:srgbClr val="B37924"/>
              </a:solidFill>
              <a:effectLst/>
              <a:uLnTx/>
              <a:uFillTx/>
              <a:latin typeface="Scala Sans"/>
              <a:ea typeface="+mn-ea"/>
              <a:cs typeface="+mn-cs"/>
            </a:endParaRPr>
          </a:p>
        </p:txBody>
      </p:sp>
      <p:sp>
        <p:nvSpPr>
          <p:cNvPr id="4" name="Title 3">
            <a:extLst>
              <a:ext uri="{FF2B5EF4-FFF2-40B4-BE49-F238E27FC236}">
                <a16:creationId xmlns:a16="http://schemas.microsoft.com/office/drawing/2014/main" id="{0643F1B0-386D-7B44-B57B-0B5E8E99ACCF}"/>
              </a:ext>
            </a:extLst>
          </p:cNvPr>
          <p:cNvSpPr>
            <a:spLocks noGrp="1"/>
          </p:cNvSpPr>
          <p:nvPr>
            <p:ph type="title"/>
          </p:nvPr>
        </p:nvSpPr>
        <p:spPr/>
        <p:txBody>
          <a:bodyPr>
            <a:normAutofit fontScale="90000"/>
          </a:bodyPr>
          <a:lstStyle/>
          <a:p>
            <a:r>
              <a:rPr lang="en-US" dirty="0"/>
              <a:t>LO7, content 1</a:t>
            </a:r>
          </a:p>
        </p:txBody>
      </p:sp>
      <p:sp>
        <p:nvSpPr>
          <p:cNvPr id="2" name="Content Placeholder 1">
            <a:extLst>
              <a:ext uri="{FF2B5EF4-FFF2-40B4-BE49-F238E27FC236}">
                <a16:creationId xmlns:a16="http://schemas.microsoft.com/office/drawing/2014/main" id="{A45265F3-BD43-4653-BF57-6B2D60085650}"/>
              </a:ext>
            </a:extLst>
          </p:cNvPr>
          <p:cNvSpPr>
            <a:spLocks noGrp="1"/>
          </p:cNvSpPr>
          <p:nvPr>
            <p:ph idx="1"/>
          </p:nvPr>
        </p:nvSpPr>
        <p:spPr/>
        <p:txBody>
          <a:bodyPr/>
          <a:lstStyle/>
          <a:p>
            <a:pPr marL="457200" indent="-457200">
              <a:buFont typeface="+mj-lt"/>
              <a:buAutoNum type="arabicPeriod" startAt="7"/>
            </a:pPr>
            <a:r>
              <a:rPr lang="en-US" dirty="0">
                <a:solidFill>
                  <a:srgbClr val="FF0000"/>
                </a:solidFill>
              </a:rPr>
              <a:t>Explain laws related to controlled substances</a:t>
            </a:r>
          </a:p>
          <a:p>
            <a:endParaRPr lang="en-US" dirty="0"/>
          </a:p>
          <a:p>
            <a:r>
              <a:rPr lang="en-US" dirty="0"/>
              <a:t>REMEMBER:</a:t>
            </a:r>
          </a:p>
          <a:p>
            <a:endParaRPr lang="en-US" dirty="0"/>
          </a:p>
          <a:p>
            <a:r>
              <a:rPr lang="en-US" dirty="0"/>
              <a:t>Legal penalties can result if controlled substances are not managed properly. Medication aides should know state laws and facility policies related to handling and administration of medications considered to be </a:t>
            </a:r>
            <a:r>
              <a:rPr lang="en-US"/>
              <a:t>controlled substances.</a:t>
            </a:r>
            <a:endParaRPr lang="en-US" dirty="0"/>
          </a:p>
          <a:p>
            <a:endParaRPr lang="en-US" dirty="0"/>
          </a:p>
          <a:p>
            <a:endParaRPr lang="en-US" dirty="0"/>
          </a:p>
          <a:p>
            <a:endParaRPr lang="en-US" dirty="0"/>
          </a:p>
          <a:p>
            <a:endParaRPr lang="en-US" dirty="0">
              <a:solidFill>
                <a:srgbClr val="FF0000"/>
              </a:solidFill>
            </a:endParaRPr>
          </a:p>
        </p:txBody>
      </p:sp>
    </p:spTree>
    <p:extLst>
      <p:ext uri="{BB962C8B-B14F-4D97-AF65-F5344CB8AC3E}">
        <p14:creationId xmlns:p14="http://schemas.microsoft.com/office/powerpoint/2010/main" val="406041288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752353507"/>
      </p:ext>
    </p:extLst>
  </p:cSld>
  <p:clrMapOvr>
    <a:masterClrMapping/>
  </p:clrMapOvr>
</p:sld>
</file>

<file path=ppt/theme/theme1.xml><?xml version="1.0" encoding="utf-8"?>
<a:theme xmlns:a="http://schemas.openxmlformats.org/drawingml/2006/main" name="1_Office Theme">
  <a:themeElements>
    <a:clrScheme name="Custom 1">
      <a:dk1>
        <a:sysClr val="windowText" lastClr="000000"/>
      </a:dk1>
      <a:lt1>
        <a:sysClr val="window" lastClr="FFFFFF"/>
      </a:lt1>
      <a:dk2>
        <a:srgbClr val="44546A"/>
      </a:dk2>
      <a:lt2>
        <a:srgbClr val="E7E6E6"/>
      </a:lt2>
      <a:accent1>
        <a:srgbClr val="329C76"/>
      </a:accent1>
      <a:accent2>
        <a:srgbClr val="B37924"/>
      </a:accent2>
      <a:accent3>
        <a:srgbClr val="E3567D"/>
      </a:accent3>
      <a:accent4>
        <a:srgbClr val="0091B9"/>
      </a:accent4>
      <a:accent5>
        <a:srgbClr val="D6BF00"/>
      </a:accent5>
      <a:accent6>
        <a:srgbClr val="934C93"/>
      </a:accent6>
      <a:hlink>
        <a:srgbClr val="0563C1"/>
      </a:hlink>
      <a:folHlink>
        <a:srgbClr val="954F72"/>
      </a:folHlink>
    </a:clrScheme>
    <a:fontScheme name="Susan Hedman - Hartman Publishing">
      <a:majorFont>
        <a:latin typeface="Scala Sans"/>
        <a:ea typeface=""/>
        <a:cs typeface=""/>
      </a:majorFont>
      <a:minorFont>
        <a:latin typeface="Scala Sans"/>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514</TotalTime>
  <Words>1881</Words>
  <Application>Microsoft Macintosh PowerPoint</Application>
  <PresentationFormat>Widescreen</PresentationFormat>
  <Paragraphs>336</Paragraphs>
  <Slides>27</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Arial</vt:lpstr>
      <vt:lpstr>Scala Sans</vt:lpstr>
      <vt:lpstr>1_Office Theme</vt:lpstr>
      <vt:lpstr>PowerPoint Presentation</vt:lpstr>
      <vt:lpstr>Chapter 2, LO1, key terms</vt:lpstr>
      <vt:lpstr>LO1, content 1</vt:lpstr>
      <vt:lpstr>LO1, content 2</vt:lpstr>
      <vt:lpstr>LO1, content 3</vt:lpstr>
      <vt:lpstr>LO2, key term</vt:lpstr>
      <vt:lpstr>LO2, content 1</vt:lpstr>
      <vt:lpstr>LO3, key terms</vt:lpstr>
      <vt:lpstr>LO3, content 1</vt:lpstr>
      <vt:lpstr>LO3, content 2</vt:lpstr>
      <vt:lpstr>LO4, content 1</vt:lpstr>
      <vt:lpstr>LO4, content 2</vt:lpstr>
      <vt:lpstr>LO4, content 3</vt:lpstr>
      <vt:lpstr>LO4, content 4</vt:lpstr>
      <vt:lpstr>LO5, key term</vt:lpstr>
      <vt:lpstr>LO5, content 1</vt:lpstr>
      <vt:lpstr>LO5, content 2</vt:lpstr>
      <vt:lpstr>LO6, key terms 1</vt:lpstr>
      <vt:lpstr>LO6, key terms 2</vt:lpstr>
      <vt:lpstr>LO6, key terms 3</vt:lpstr>
      <vt:lpstr>LO6, content 1</vt:lpstr>
      <vt:lpstr>LO6, content 2</vt:lpstr>
      <vt:lpstr>LO6, content 3</vt:lpstr>
      <vt:lpstr>LO6, content 4</vt:lpstr>
      <vt:lpstr>LO7, key term</vt:lpstr>
      <vt:lpstr>LO7, content 1</vt:lpstr>
      <vt:lpstr>PowerPoint Presentation</vt:lpstr>
    </vt:vector>
  </TitlesOfParts>
  <LinksUpToDate>false</LinksUpToDate>
  <SharedDoc>false</SharedDoc>
  <HyperlinksChanged>false</HyperlinksChanged>
  <AppVersion>16.0016</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Angela Storey</dc:creator>
  <cp:lastModifiedBy>Kristin Calderon</cp:lastModifiedBy>
  <cp:revision>68</cp:revision>
  <dcterms:created xsi:type="dcterms:W3CDTF">2020-03-18T20:54:41Z</dcterms:created>
  <dcterms:modified xsi:type="dcterms:W3CDTF">2021-05-20T13:27:35Z</dcterms:modified>
</cp:coreProperties>
</file>