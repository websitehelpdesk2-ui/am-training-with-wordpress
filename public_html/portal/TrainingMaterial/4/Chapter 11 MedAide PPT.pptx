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9" r:id="rId2"/>
    <p:sldId id="334" r:id="rId3"/>
    <p:sldId id="321" r:id="rId4"/>
    <p:sldId id="349" r:id="rId5"/>
    <p:sldId id="307" r:id="rId6"/>
    <p:sldId id="326" r:id="rId7"/>
    <p:sldId id="350" r:id="rId8"/>
    <p:sldId id="351" r:id="rId9"/>
    <p:sldId id="352" r:id="rId10"/>
    <p:sldId id="353" r:id="rId11"/>
    <p:sldId id="306" r:id="rId12"/>
    <p:sldId id="343" r:id="rId13"/>
    <p:sldId id="354" r:id="rId14"/>
    <p:sldId id="355" r:id="rId15"/>
    <p:sldId id="356" r:id="rId16"/>
    <p:sldId id="305" r:id="rId17"/>
    <p:sldId id="357" r:id="rId18"/>
    <p:sldId id="348" r:id="rId19"/>
    <p:sldId id="358" r:id="rId20"/>
    <p:sldId id="359" r:id="rId21"/>
    <p:sldId id="2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1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Musculoskeletal System and Common Medications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1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5178F-7366-154C-872C-6D7DCB4C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09490"/>
            <a:ext cx="7058891" cy="715528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600"/>
            <a:ext cx="553998" cy="33210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Musculoskeletal System and Common Medications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11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1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5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41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86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B9A21-B6A2-DE47-B8C1-24A2BE05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Material 11-1: The Musculoskeletal System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 descr="Human figure showing skeleton">
            <a:extLst>
              <a:ext uri="{FF2B5EF4-FFF2-40B4-BE49-F238E27FC236}">
                <a16:creationId xmlns:a16="http://schemas.microsoft.com/office/drawing/2014/main" id="{AF91F24B-B2EA-E24E-8AB9-E181946C2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581" y="793054"/>
            <a:ext cx="167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15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DD394F-6D74-4C47-A785-939C6C44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musculoskeletal system</a:t>
            </a:r>
          </a:p>
          <a:p>
            <a:endParaRPr lang="en-US" dirty="0"/>
          </a:p>
          <a:p>
            <a:r>
              <a:rPr lang="en-US" dirty="0"/>
              <a:t>Remember these points about the musculoskeletal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human body has 206 bones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Two bones meet at a joint (for movement). Joints make movement possible in either all directions or in one direction only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Muscles provide movement and produce body heat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Physical activity/exercise increases circulation, increasing blood flow to organs and tissues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Inactivity can cause depression, pneumonia, constipation, UTIs, loss of self-esteem, and blood clots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Muscles develop atrophy or contractures from inactivity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Range of motion exercises help prevent atrophy or contractures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8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DD394F-6D74-4C47-A785-939C6C44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musculoskeletal system</a:t>
            </a:r>
          </a:p>
          <a:p>
            <a:endParaRPr lang="en-US" dirty="0"/>
          </a:p>
          <a:p>
            <a:r>
              <a:rPr lang="en-US" dirty="0"/>
              <a:t>Normal changes of aging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Weaker, less toned muscles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Slower body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Less dense and more brittle bones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Stiffer, painful joints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Loss of height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81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61C707-B4DB-CA4A-8FA7-45CA9B11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key terms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arthritis and gout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osteoarthritis</a:t>
            </a:r>
          </a:p>
          <a:p>
            <a:pPr lvl="1"/>
            <a:r>
              <a:rPr lang="en-US" dirty="0"/>
              <a:t>a common type of arthritis that usually affects the hips, knees, fingers, thumbs, and spine; also called </a:t>
            </a:r>
            <a:r>
              <a:rPr lang="en-US" i="1" dirty="0"/>
              <a:t>degenerative joint disease</a:t>
            </a:r>
            <a:r>
              <a:rPr lang="en-US" dirty="0"/>
              <a:t> or </a:t>
            </a:r>
            <a:r>
              <a:rPr lang="en-US" i="1" dirty="0"/>
              <a:t>degenerative arthritis.</a:t>
            </a:r>
            <a:endParaRPr lang="en-US" dirty="0"/>
          </a:p>
          <a:p>
            <a:r>
              <a:rPr lang="en-US" b="1" dirty="0"/>
              <a:t>gout</a:t>
            </a:r>
          </a:p>
          <a:p>
            <a:pPr lvl="1"/>
            <a:r>
              <a:rPr lang="en-US" dirty="0"/>
              <a:t>a condition caused by the painful buildup of uric acid crystals in the joints.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39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B9A21-B6A2-DE47-B8C1-24A2BE05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arthritis and gout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osteoarthritis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Analgesic medications including OTC acetaminophen or NSAIDs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Prescription NSAIDs (oral or topical)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NSAIDs may be contraindicated for residents with heart failure, kidney disease, liver disease, and bleeding risk (including those with stomach ulcers and those taking anticoagulant medications)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Signs/symptoms of bleeding to observe and report include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Black, tarry stools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Nausea/vomiting; vomit with appearance of coffee grounds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Vomiting blood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Unexplained weight loss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8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B9A21-B6A2-DE47-B8C1-24A2BE05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arthritis and gout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osteoarthritis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Opioid analgesics are treatment of last resort due to side effects (drowsiness, dizziness, nausea), which can be stronger in elderly 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Creams (capsaicin, </a:t>
            </a:r>
            <a:r>
              <a:rPr lang="en-US" dirty="0" err="1"/>
              <a:t>Bengay</a:t>
            </a:r>
            <a:r>
              <a:rPr lang="en-US" dirty="0"/>
              <a:t>) can ease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Injections (hyaluronic acid, corticosteroids) may be administered to affected joints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pp. 93–94 (or handout) details other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48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B9A21-B6A2-DE47-B8C1-24A2BE05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arthritis and gout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gout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Avoiding dietary triggers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to reduce uric acid in the body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corticosteroids may be ordered to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Corticosteroid injections to the affected joints may be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Analgesics can ease pain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34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B9A21-B6A2-DE47-B8C1-24A2BE05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arthritis and gout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gout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Anti-gout drug colchicine is a narrow therapeutic index drug and residents taken it should be observed for signs of toxicity, including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Nausea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Vomiting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Diarrhea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Seizure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Abnormal heart rhythm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94 (or handout) details other specific drugs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44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B9A21-B6A2-DE47-B8C1-24A2BE05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arthritis and gout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arthritis and gout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Residents may take more than one medication that contains the same drug (e.g.,  acetaminophen). Maximum daily dosage for a drug includes </a:t>
            </a:r>
            <a:r>
              <a:rPr lang="en-US" i="1" dirty="0"/>
              <a:t>all </a:t>
            </a:r>
            <a:r>
              <a:rPr lang="en-US" dirty="0"/>
              <a:t>sources. Report any concerns about dosage to a nurse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any signs of digestive tract bleeding when residents are taking NSAIDs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Support and encourage lifestyle changes recommended for residents with arthritis and gout (e.g., exercise, diet changes)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Assistive devices such as walkers can help with the management of arthritis pain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44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80EB79-76AF-6548-B9FA-983CF63B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osteoporosis, osteomyelitis, and back pain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osteoporosis</a:t>
            </a:r>
          </a:p>
          <a:p>
            <a:pPr lvl="1"/>
            <a:r>
              <a:rPr lang="en-US" dirty="0"/>
              <a:t>a condition in which bones become porous or brittle, causing them to break easily.</a:t>
            </a:r>
          </a:p>
          <a:p>
            <a:r>
              <a:rPr lang="en-US" b="1" dirty="0"/>
              <a:t>osteomyelitis</a:t>
            </a:r>
          </a:p>
          <a:p>
            <a:pPr lvl="1"/>
            <a:r>
              <a:rPr lang="en-US" dirty="0"/>
              <a:t>an infection of bone tissue.</a:t>
            </a:r>
          </a:p>
          <a:p>
            <a:r>
              <a:rPr lang="en-US" b="1" dirty="0"/>
              <a:t>culture</a:t>
            </a:r>
          </a:p>
          <a:p>
            <a:pPr lvl="1"/>
            <a:r>
              <a:rPr lang="en-US" dirty="0"/>
              <a:t>a test performed to grow and analyze a sample of bacteria.</a:t>
            </a:r>
          </a:p>
          <a:p>
            <a:r>
              <a:rPr lang="en-US" b="1" dirty="0"/>
              <a:t>sedation</a:t>
            </a:r>
          </a:p>
          <a:p>
            <a:pPr lvl="1"/>
            <a:r>
              <a:rPr lang="en-US" dirty="0"/>
              <a:t>a general relaxation of the body.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67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80EB79-76AF-6548-B9FA-983CF63B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osteoporosis, osteomyelitis, and back pain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these points about treatment for osteoporosis: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Calcium and vitamin D can help prevent osteoporosis. Supplements may be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Hormone therapy may help strengthen bones and prevent bone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Bisphosphonates bind to bones and slow the resorption, or breaking down, of bone tissue.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Taken weekly or monthly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cause inflammation of the esophagus, so should be administered with a full glass of water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Resident should stay upright for 30–60 minutes after administration.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Should be administered first thing in the morning, before any other medication, food, or drinks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95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191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80EB79-76AF-6548-B9FA-983CF63B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osteoporosis, osteomyelitis, and back pain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these points about treatment for osteomyelitis: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First treatment is usually with a broad-spectrum antibiotic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Culture may be performed to determine a more targeted antibiotic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usually lasts six weeks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95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26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80EB79-76AF-6548-B9FA-983CF63B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osteoporosis, osteomyelitis, and back pain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these points about treatment for back pain: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may be similar to treatment of osteoarthritis (analgesics, with opioids being the last-line medications)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Muscle relaxants, which decrease muscle tone and reduce painful spasms, may be ordered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Sedation and low blood pressure are risks associated with these drugs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Antidepressants may be prescribed to treat residents with long-term, debilitating back pain.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pp. 95–96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770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80EB79-76AF-6548-B9FA-983CF63B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osteoporosis, osteomyelitis, and back pain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osteoporosis and back pain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gastrointestinal side effects in residents taking bisphosphonates (e.g., alendronate [Fosamax]) for osteoporosis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Exercise can help prevent or reduce severity of back pain. Encourage exercise as appropriate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Watch for signs/symptoms of sedation in residents taking muscle relaxants. Report unsteadiness/stumbling to the nurse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134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633E22-442A-AA45-8A09-81BF8828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strains, sprains, and fractures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strain</a:t>
            </a:r>
          </a:p>
          <a:p>
            <a:pPr lvl="1"/>
            <a:r>
              <a:rPr lang="en-US" dirty="0"/>
              <a:t>an injury caused by damage to tendons or muscles.</a:t>
            </a:r>
          </a:p>
          <a:p>
            <a:r>
              <a:rPr lang="en-US" b="1" dirty="0"/>
              <a:t>sprain</a:t>
            </a:r>
          </a:p>
          <a:p>
            <a:pPr lvl="1"/>
            <a:r>
              <a:rPr lang="en-US" dirty="0"/>
              <a:t>an injury caused by damage to ligaments, or the bands that connect bones. </a:t>
            </a:r>
          </a:p>
          <a:p>
            <a:r>
              <a:rPr lang="en-US" b="1" dirty="0"/>
              <a:t>fracture</a:t>
            </a:r>
          </a:p>
          <a:p>
            <a:pPr lvl="1"/>
            <a:r>
              <a:rPr lang="en-US" dirty="0"/>
              <a:t>a broken bone.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12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633E22-442A-AA45-8A09-81BF8828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strains, sprains, and fractures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closed fracture</a:t>
            </a:r>
          </a:p>
          <a:p>
            <a:pPr lvl="1"/>
            <a:r>
              <a:rPr lang="en-US" dirty="0"/>
              <a:t>a broken bone that does not break the skin.</a:t>
            </a:r>
          </a:p>
          <a:p>
            <a:r>
              <a:rPr lang="en-US" b="1" dirty="0"/>
              <a:t>open fracture</a:t>
            </a:r>
          </a:p>
          <a:p>
            <a:pPr lvl="1"/>
            <a:r>
              <a:rPr lang="en-US" dirty="0"/>
              <a:t>a broken bone that penetrates the skin; also known as </a:t>
            </a:r>
            <a:r>
              <a:rPr lang="en-US" i="1" dirty="0"/>
              <a:t>compound fracture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931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20605D-0DD9-174D-9383-37B20D71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strains, sprains, and fractures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these points about treatment for strains and sprains: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and topical NSAIDs are commonly used for strains and sprains (in addition to nonpharmaceutical treatments)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Acetaminophen may be ordered for those who cannot take NSAIDs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Opioids may be combined with NSAIDs to relieve severe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96 (or handout) details other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337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20605D-0DD9-174D-9383-37B20D71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strains, sprains, and fractures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these points about treatment for fractures: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Open fractures carry a high risk of infection (osteomyelitis) and usually require surgery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Antibiotics may be ordered to prevent infection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Analgesics are ordered for pain management (similar to those used for strains/sprains)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Calcium and vitamin D supplements may be ordered to improve bone strength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96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235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D265607-14A8-43AB-97AE-7E711E7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6BF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6BF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20605D-0DD9-174D-9383-37B20D71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06E36-1A1B-47F2-8088-1727E030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strains, sprains, and fractures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strains, sprains, and fractures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uncontrolled pain to the nurse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signs of pain, including tightening the jaw, squeezing eyes shut, sighing or groaning, and difficulty moving or walking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abnormal vital signs, especially a change in temperature, which could indicate infection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105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0918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1533</TotalTime>
  <Words>1415</Words>
  <Application>Microsoft Macintosh PowerPoint</Application>
  <PresentationFormat>Widescreen</PresentationFormat>
  <Paragraphs>272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Scala Sans</vt:lpstr>
      <vt:lpstr>1_Office Theme</vt:lpstr>
      <vt:lpstr>PowerPoint Presentation</vt:lpstr>
      <vt:lpstr>LO2, content 13</vt:lpstr>
      <vt:lpstr>LO1, content 1</vt:lpstr>
      <vt:lpstr>LO1, content 2</vt:lpstr>
      <vt:lpstr>LO2, key terms </vt:lpstr>
      <vt:lpstr>LO2, content 1</vt:lpstr>
      <vt:lpstr>LO2, content 2</vt:lpstr>
      <vt:lpstr>LO2, content 3</vt:lpstr>
      <vt:lpstr>LO2, content 4</vt:lpstr>
      <vt:lpstr>LO2, content 5</vt:lpstr>
      <vt:lpstr>LO3, key terms</vt:lpstr>
      <vt:lpstr>LO3, content 1</vt:lpstr>
      <vt:lpstr>LO3, content 2</vt:lpstr>
      <vt:lpstr>LO3, content 3</vt:lpstr>
      <vt:lpstr>LO3, content 4</vt:lpstr>
      <vt:lpstr>LO4, key terms 1</vt:lpstr>
      <vt:lpstr>LO4, key terms 2</vt:lpstr>
      <vt:lpstr>LO4, content 1</vt:lpstr>
      <vt:lpstr>LO4, content 2</vt:lpstr>
      <vt:lpstr>LO4, content 3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Kristin Calderon</cp:lastModifiedBy>
  <cp:revision>76</cp:revision>
  <dcterms:created xsi:type="dcterms:W3CDTF">2020-03-18T21:24:31Z</dcterms:created>
  <dcterms:modified xsi:type="dcterms:W3CDTF">2021-05-20T13:49:18Z</dcterms:modified>
</cp:coreProperties>
</file>