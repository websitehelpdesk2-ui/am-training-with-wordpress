
<file path=[Content_Types].xml><?xml version="1.0" encoding="utf-8"?>
<Types xmlns="http://schemas.openxmlformats.org/package/2006/content-types">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04" r:id="rId2"/>
    <p:sldId id="326" r:id="rId3"/>
    <p:sldId id="327" r:id="rId4"/>
    <p:sldId id="352" r:id="rId5"/>
    <p:sldId id="305" r:id="rId6"/>
    <p:sldId id="331" r:id="rId7"/>
    <p:sldId id="353" r:id="rId8"/>
    <p:sldId id="354" r:id="rId9"/>
    <p:sldId id="355" r:id="rId10"/>
    <p:sldId id="356" r:id="rId11"/>
    <p:sldId id="308" r:id="rId12"/>
    <p:sldId id="334" r:id="rId13"/>
    <p:sldId id="357" r:id="rId14"/>
    <p:sldId id="358" r:id="rId15"/>
    <p:sldId id="359" r:id="rId16"/>
    <p:sldId id="360" r:id="rId17"/>
    <p:sldId id="361" r:id="rId18"/>
    <p:sldId id="362" r:id="rId19"/>
    <p:sldId id="315" r:id="rId20"/>
    <p:sldId id="343" r:id="rId21"/>
    <p:sldId id="363" r:id="rId22"/>
    <p:sldId id="364" r:id="rId23"/>
    <p:sldId id="365" r:id="rId24"/>
    <p:sldId id="309" r:id="rId25"/>
    <p:sldId id="351" r:id="rId26"/>
    <p:sldId id="366" r:id="rId27"/>
    <p:sldId id="367" r:id="rId28"/>
    <p:sldId id="368" r:id="rId29"/>
    <p:sldId id="369" r:id="rId30"/>
    <p:sldId id="257"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6864" autoAdjust="0"/>
    <p:restoredTop sz="94660"/>
  </p:normalViewPr>
  <p:slideViewPr>
    <p:cSldViewPr snapToGrid="0">
      <p:cViewPr varScale="1">
        <p:scale>
          <a:sx n="102" d="100"/>
          <a:sy n="102" d="100"/>
        </p:scale>
        <p:origin x="208" y="320"/>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75C2F09-6D1A-4A21-97DF-F888DD13FD39}"/>
              </a:ext>
            </a:extLst>
          </p:cNvPr>
          <p:cNvSpPr txBox="1"/>
          <p:nvPr userDrawn="1"/>
        </p:nvSpPr>
        <p:spPr>
          <a:xfrm>
            <a:off x="1142997" y="539293"/>
            <a:ext cx="1816272" cy="1862048"/>
          </a:xfrm>
          <a:prstGeom prst="rect">
            <a:avLst/>
          </a:prstGeom>
          <a:solidFill>
            <a:schemeClr val="accent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500" b="0" i="0" u="none" strike="noStrike" kern="1200" cap="none" spc="0" normalizeH="0" baseline="0" noProof="0" dirty="0">
                <a:ln>
                  <a:noFill/>
                </a:ln>
                <a:solidFill>
                  <a:prstClr val="white"/>
                </a:solidFill>
                <a:effectLst/>
                <a:uLnTx/>
                <a:uFillTx/>
                <a:latin typeface="Scala Sans" panose="02000503060000020003" pitchFamily="2" charset="0"/>
                <a:ea typeface="+mn-ea"/>
                <a:cs typeface="+mn-cs"/>
              </a:rPr>
              <a:t>13</a:t>
            </a:r>
          </a:p>
        </p:txBody>
      </p:sp>
      <p:sp>
        <p:nvSpPr>
          <p:cNvPr id="8" name="TextBox 7">
            <a:extLst>
              <a:ext uri="{FF2B5EF4-FFF2-40B4-BE49-F238E27FC236}">
                <a16:creationId xmlns:a16="http://schemas.microsoft.com/office/drawing/2014/main" id="{F1FEBFBB-1425-4277-8500-4300AD017EDA}"/>
              </a:ext>
            </a:extLst>
          </p:cNvPr>
          <p:cNvSpPr txBox="1"/>
          <p:nvPr userDrawn="1"/>
        </p:nvSpPr>
        <p:spPr>
          <a:xfrm>
            <a:off x="1150229" y="2062986"/>
            <a:ext cx="8717075" cy="132343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white"/>
                </a:solidFill>
                <a:effectLst/>
                <a:uLnTx/>
                <a:uFillTx/>
                <a:latin typeface="Scala Sans" panose="02000503060000020003" pitchFamily="2" charset="0"/>
                <a:ea typeface="+mn-ea"/>
                <a:cs typeface="+mn-cs"/>
              </a:rPr>
              <a:t>The Circulatory System and Common Medications</a:t>
            </a:r>
          </a:p>
        </p:txBody>
      </p:sp>
      <p:pic>
        <p:nvPicPr>
          <p:cNvPr id="9" name="Picture 8">
            <a:extLst>
              <a:ext uri="{FF2B5EF4-FFF2-40B4-BE49-F238E27FC236}">
                <a16:creationId xmlns:a16="http://schemas.microsoft.com/office/drawing/2014/main" id="{EF1DCB50-4D11-4F0B-AF02-F0797361079C}"/>
              </a:ext>
            </a:extLst>
          </p:cNvPr>
          <p:cNvPicPr>
            <a:picLocks noChangeAspect="1"/>
          </p:cNvPicPr>
          <p:nvPr userDrawn="1"/>
        </p:nvPicPr>
        <p:blipFill>
          <a:blip r:embed="rId2">
            <a:lum bright="100000"/>
          </a:blip>
          <a:stretch>
            <a:fillRect/>
          </a:stretch>
        </p:blipFill>
        <p:spPr>
          <a:xfrm>
            <a:off x="1325043" y="4825851"/>
            <a:ext cx="1236907" cy="1282700"/>
          </a:xfrm>
          <a:prstGeom prst="rect">
            <a:avLst/>
          </a:prstGeom>
        </p:spPr>
      </p:pic>
    </p:spTree>
    <p:extLst>
      <p:ext uri="{BB962C8B-B14F-4D97-AF65-F5344CB8AC3E}">
        <p14:creationId xmlns:p14="http://schemas.microsoft.com/office/powerpoint/2010/main" val="4136266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9" name="Slide Number Placeholder 18">
            <a:extLst>
              <a:ext uri="{FF2B5EF4-FFF2-40B4-BE49-F238E27FC236}">
                <a16:creationId xmlns:a16="http://schemas.microsoft.com/office/drawing/2014/main" id="{DE03F057-80E6-4933-B039-F692BF84B8A2}"/>
              </a:ext>
            </a:extLst>
          </p:cNvPr>
          <p:cNvSpPr>
            <a:spLocks noGrp="1"/>
          </p:cNvSpPr>
          <p:nvPr>
            <p:ph type="sldNum" sz="quarter" idx="12"/>
          </p:nvPr>
        </p:nvSpPr>
        <p:spPr>
          <a:xfrm>
            <a:off x="9518452" y="6279454"/>
            <a:ext cx="1297633" cy="365125"/>
          </a:xfrm>
        </p:spPr>
        <p:txBody>
          <a:bodyPr/>
          <a:lstStyle>
            <a:lvl1pPr>
              <a:defRPr>
                <a:solidFill>
                  <a:schemeClr val="accent1"/>
                </a:solidFill>
                <a:latin typeface="+mn-lt"/>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2" name="Title 1">
            <a:extLst>
              <a:ext uri="{FF2B5EF4-FFF2-40B4-BE49-F238E27FC236}">
                <a16:creationId xmlns:a16="http://schemas.microsoft.com/office/drawing/2014/main" id="{A1281402-EEAD-3849-9AE2-4ABD963D7E5A}"/>
              </a:ext>
            </a:extLst>
          </p:cNvPr>
          <p:cNvSpPr>
            <a:spLocks noGrp="1"/>
          </p:cNvSpPr>
          <p:nvPr>
            <p:ph type="title"/>
          </p:nvPr>
        </p:nvSpPr>
        <p:spPr>
          <a:xfrm>
            <a:off x="0" y="-1006473"/>
            <a:ext cx="7031182" cy="812509"/>
          </a:xfrm>
        </p:spPr>
        <p:txBody>
          <a:bodyPr/>
          <a:lstStyle>
            <a:lvl1pPr>
              <a:defRPr b="0"/>
            </a:lvl1pPr>
          </a:lstStyle>
          <a:p>
            <a:r>
              <a:rPr lang="en-US" dirty="0"/>
              <a:t>Click to edit Master title style</a:t>
            </a:r>
          </a:p>
        </p:txBody>
      </p:sp>
      <p:sp>
        <p:nvSpPr>
          <p:cNvPr id="3" name="Content Placeholder 2"/>
          <p:cNvSpPr>
            <a:spLocks noGrp="1"/>
          </p:cNvSpPr>
          <p:nvPr>
            <p:ph idx="1"/>
          </p:nvPr>
        </p:nvSpPr>
        <p:spPr>
          <a:xfrm>
            <a:off x="635393" y="780226"/>
            <a:ext cx="10234377" cy="5396738"/>
          </a:xfrm>
        </p:spPr>
        <p:txBody>
          <a:bodyPr>
            <a:normAutofit/>
          </a:bodyPr>
          <a:lstStyle>
            <a:lvl1pPr marL="0" indent="0">
              <a:spcBef>
                <a:spcPts val="0"/>
              </a:spcBef>
              <a:spcAft>
                <a:spcPts val="600"/>
              </a:spcAft>
              <a:buNone/>
              <a:defRPr sz="2000">
                <a:latin typeface="+mn-lt"/>
              </a:defRPr>
            </a:lvl1pPr>
            <a:lvl2pPr marL="457200" indent="0">
              <a:spcBef>
                <a:spcPts val="0"/>
              </a:spcBef>
              <a:spcAft>
                <a:spcPts val="600"/>
              </a:spcAft>
              <a:buNone/>
              <a:defRPr sz="2000">
                <a:latin typeface="+mn-lt"/>
              </a:defRPr>
            </a:lvl2pPr>
            <a:lvl3pPr marL="914400" indent="0">
              <a:spcBef>
                <a:spcPts val="0"/>
              </a:spcBef>
              <a:spcAft>
                <a:spcPts val="600"/>
              </a:spcAft>
              <a:buNone/>
              <a:defRPr sz="2000">
                <a:latin typeface="+mn-lt"/>
              </a:defRPr>
            </a:lvl3pPr>
            <a:lvl4pPr marL="1371600" indent="0">
              <a:spcBef>
                <a:spcPts val="0"/>
              </a:spcBef>
              <a:spcAft>
                <a:spcPts val="600"/>
              </a:spcAft>
              <a:buNone/>
              <a:defRPr sz="2000">
                <a:latin typeface="+mn-lt"/>
              </a:defRPr>
            </a:lvl4pPr>
            <a:lvl5pPr marL="1828800" indent="0">
              <a:spcBef>
                <a:spcPts val="0"/>
              </a:spcBef>
              <a:spcAft>
                <a:spcPts val="600"/>
              </a:spcAft>
              <a:buNone/>
              <a:defRPr sz="20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A4F5F491-9531-4861-B658-DB5FE7E2FEAE}"/>
              </a:ext>
            </a:extLst>
          </p:cNvPr>
          <p:cNvSpPr/>
          <p:nvPr userDrawn="1"/>
        </p:nvSpPr>
        <p:spPr>
          <a:xfrm>
            <a:off x="11328400" y="0"/>
            <a:ext cx="863600" cy="1606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cala Sans"/>
              <a:ea typeface="+mn-ea"/>
              <a:cs typeface="+mn-cs"/>
            </a:endParaRPr>
          </a:p>
        </p:txBody>
      </p:sp>
      <p:sp>
        <p:nvSpPr>
          <p:cNvPr id="7" name="TextBox 6">
            <a:extLst>
              <a:ext uri="{FF2B5EF4-FFF2-40B4-BE49-F238E27FC236}">
                <a16:creationId xmlns:a16="http://schemas.microsoft.com/office/drawing/2014/main" id="{2328F0E1-C264-477A-8C68-5954EE75A404}"/>
              </a:ext>
            </a:extLst>
          </p:cNvPr>
          <p:cNvSpPr txBox="1"/>
          <p:nvPr userDrawn="1"/>
        </p:nvSpPr>
        <p:spPr>
          <a:xfrm>
            <a:off x="11506200" y="1752600"/>
            <a:ext cx="369332" cy="3321050"/>
          </a:xfrm>
          <a:prstGeom prst="rect">
            <a:avLst/>
          </a:prstGeom>
          <a:noFill/>
        </p:spPr>
        <p:txBody>
          <a:bodyPr vert="vert270"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cala Sans" panose="02000503060000020003" pitchFamily="2" charset="0"/>
                <a:ea typeface="+mn-ea"/>
                <a:cs typeface="+mn-cs"/>
              </a:rPr>
              <a:t>The Circulatory System and Common Medications</a:t>
            </a:r>
          </a:p>
        </p:txBody>
      </p:sp>
      <p:sp>
        <p:nvSpPr>
          <p:cNvPr id="9" name="TextBox 8">
            <a:extLst>
              <a:ext uri="{FF2B5EF4-FFF2-40B4-BE49-F238E27FC236}">
                <a16:creationId xmlns:a16="http://schemas.microsoft.com/office/drawing/2014/main" id="{31CA6800-7865-48FF-933D-2164FAE0ACC9}"/>
              </a:ext>
            </a:extLst>
          </p:cNvPr>
          <p:cNvSpPr txBox="1"/>
          <p:nvPr userDrawn="1"/>
        </p:nvSpPr>
        <p:spPr>
          <a:xfrm>
            <a:off x="11506197" y="101143"/>
            <a:ext cx="1816272"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a:ln>
                  <a:noFill/>
                </a:ln>
                <a:solidFill>
                  <a:prstClr val="white"/>
                </a:solidFill>
                <a:effectLst/>
                <a:uLnTx/>
                <a:uFillTx/>
                <a:latin typeface="Scala Sans"/>
                <a:ea typeface="+mn-ea"/>
                <a:cs typeface="+mn-cs"/>
              </a:rPr>
              <a:t>1</a:t>
            </a:r>
            <a:r>
              <a:rPr kumimoji="0" lang="en-US" sz="4000" b="0" i="0" u="none" strike="noStrike" kern="1200" cap="none" spc="0" normalizeH="0" baseline="0" noProof="0" dirty="0">
                <a:ln>
                  <a:noFill/>
                </a:ln>
                <a:solidFill>
                  <a:prstClr val="white"/>
                </a:solidFill>
                <a:effectLst/>
                <a:uLnTx/>
                <a:uFillTx/>
                <a:latin typeface="Scala Sans"/>
                <a:ea typeface="+mn-ea"/>
                <a:cs typeface="+mn-cs"/>
              </a:rPr>
              <a:t>3</a:t>
            </a:r>
          </a:p>
        </p:txBody>
      </p:sp>
      <p:cxnSp>
        <p:nvCxnSpPr>
          <p:cNvPr id="13" name="Straight Connector 12">
            <a:extLst>
              <a:ext uri="{FF2B5EF4-FFF2-40B4-BE49-F238E27FC236}">
                <a16:creationId xmlns:a16="http://schemas.microsoft.com/office/drawing/2014/main" id="{685C658E-B179-4C5F-B3AF-13638309A3D4}"/>
              </a:ext>
            </a:extLst>
          </p:cNvPr>
          <p:cNvCxnSpPr>
            <a:cxnSpLocks/>
          </p:cNvCxnSpPr>
          <p:nvPr userDrawn="1"/>
        </p:nvCxnSpPr>
        <p:spPr>
          <a:xfrm flipH="1">
            <a:off x="745067" y="6629400"/>
            <a:ext cx="100076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Date Placeholder 16" hidden="1">
            <a:extLst>
              <a:ext uri="{FF2B5EF4-FFF2-40B4-BE49-F238E27FC236}">
                <a16:creationId xmlns:a16="http://schemas.microsoft.com/office/drawing/2014/main" id="{C71CCBE0-D1B9-42FA-8DAC-87EEE4FE9F42}"/>
              </a:ext>
            </a:extLst>
          </p:cNvPr>
          <p:cNvSpPr>
            <a:spLocks noGrp="1"/>
          </p:cNvSpPr>
          <p:nvPr>
            <p:ph type="dt" sz="half" idx="10"/>
          </p:nvPr>
        </p:nvSpPr>
        <p:spPr>
          <a:xfrm>
            <a:off x="838200" y="6279454"/>
            <a:ext cx="2743200" cy="365125"/>
          </a:xfrm>
        </p:spPr>
        <p:txBody>
          <a:bodyPr/>
          <a:lstStyle>
            <a:lvl1pPr>
              <a:defRPr>
                <a:solidFill>
                  <a:sysClr val="windowText" lastClr="000000"/>
                </a:solidFill>
                <a:latin typeface="+mn-lt"/>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C1E1F3-686D-4F52-826D-70A4F80E72A5}" type="datetime1">
              <a:rPr kumimoji="0" lang="en-US" sz="1200" b="0" i="0" u="none" strike="noStrike" kern="1200" cap="none" spc="0" normalizeH="0" baseline="0" noProof="0" smtClean="0">
                <a:ln>
                  <a:noFill/>
                </a:ln>
                <a:solidFill>
                  <a:sysClr val="windowText" lastClr="000000"/>
                </a:solidFill>
                <a:effectLst/>
                <a:uLnTx/>
                <a:uFillTx/>
                <a:latin typeface="Scala Sans"/>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5/20/21</a:t>
            </a:fld>
            <a:endParaRPr kumimoji="0" lang="en-US" sz="1200" b="0" i="0" u="none" strike="noStrike" kern="1200" cap="none" spc="0" normalizeH="0" baseline="0" noProof="0" dirty="0">
              <a:ln>
                <a:noFill/>
              </a:ln>
              <a:solidFill>
                <a:sysClr val="windowText" lastClr="000000"/>
              </a:solidFill>
              <a:effectLst/>
              <a:uLnTx/>
              <a:uFillTx/>
              <a:latin typeface="Scala Sans"/>
              <a:ea typeface="+mn-ea"/>
              <a:cs typeface="+mn-cs"/>
            </a:endParaRPr>
          </a:p>
        </p:txBody>
      </p:sp>
      <p:sp>
        <p:nvSpPr>
          <p:cNvPr id="18" name="Footer Placeholder 17" hidden="1">
            <a:extLst>
              <a:ext uri="{FF2B5EF4-FFF2-40B4-BE49-F238E27FC236}">
                <a16:creationId xmlns:a16="http://schemas.microsoft.com/office/drawing/2014/main" id="{33E0703D-A83A-40F4-A8D2-8D56B297D859}"/>
              </a:ext>
            </a:extLst>
          </p:cNvPr>
          <p:cNvSpPr>
            <a:spLocks noGrp="1"/>
          </p:cNvSpPr>
          <p:nvPr>
            <p:ph type="ftr" sz="quarter" idx="11"/>
          </p:nvPr>
        </p:nvSpPr>
        <p:spPr>
          <a:xfrm>
            <a:off x="4038599" y="6279454"/>
            <a:ext cx="4993783" cy="365125"/>
          </a:xfrm>
        </p:spPr>
        <p:txBody>
          <a:bodyPr/>
          <a:lstStyle>
            <a:lvl1pPr>
              <a:defRPr>
                <a:solidFill>
                  <a:sysClr val="windowText" lastClr="000000"/>
                </a:solidFill>
                <a:latin typeface="+mn-lt"/>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ysClr val="windowText" lastClr="000000"/>
              </a:solidFill>
              <a:effectLst/>
              <a:uLnTx/>
              <a:uFillTx/>
              <a:latin typeface="Scala Sans"/>
              <a:ea typeface="+mn-ea"/>
              <a:cs typeface="+mn-cs"/>
            </a:endParaRPr>
          </a:p>
        </p:txBody>
      </p:sp>
      <p:pic>
        <p:nvPicPr>
          <p:cNvPr id="63" name="Graphic 62">
            <a:extLst>
              <a:ext uri="{FF2B5EF4-FFF2-40B4-BE49-F238E27FC236}">
                <a16:creationId xmlns:a16="http://schemas.microsoft.com/office/drawing/2014/main" id="{A0274B49-780C-479A-B0DB-0F3EABBF8D8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41641" y="5924550"/>
            <a:ext cx="719715" cy="744742"/>
          </a:xfrm>
          <a:prstGeom prst="rect">
            <a:avLst/>
          </a:prstGeom>
        </p:spPr>
      </p:pic>
    </p:spTree>
    <p:extLst>
      <p:ext uri="{BB962C8B-B14F-4D97-AF65-F5344CB8AC3E}">
        <p14:creationId xmlns:p14="http://schemas.microsoft.com/office/powerpoint/2010/main" val="4246391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accent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F1DCB50-4D11-4F0B-AF02-F0797361079C}"/>
              </a:ext>
            </a:extLst>
          </p:cNvPr>
          <p:cNvPicPr>
            <a:picLocks noChangeAspect="1"/>
          </p:cNvPicPr>
          <p:nvPr userDrawn="1"/>
        </p:nvPicPr>
        <p:blipFill>
          <a:blip r:embed="rId2">
            <a:lum bright="100000"/>
          </a:blip>
          <a:stretch>
            <a:fillRect/>
          </a:stretch>
        </p:blipFill>
        <p:spPr>
          <a:xfrm>
            <a:off x="4798611" y="2338649"/>
            <a:ext cx="2539591" cy="2633613"/>
          </a:xfrm>
          <a:prstGeom prst="rect">
            <a:avLst/>
          </a:prstGeom>
        </p:spPr>
      </p:pic>
    </p:spTree>
    <p:extLst>
      <p:ext uri="{BB962C8B-B14F-4D97-AF65-F5344CB8AC3E}">
        <p14:creationId xmlns:p14="http://schemas.microsoft.com/office/powerpoint/2010/main" val="181805978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b="0">
                <a:solidFill>
                  <a:schemeClr val="tx1"/>
                </a:solidFill>
                <a:latin typeface="Scala Sans" panose="02000503060000020003" pitchFamily="2"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63182F9F-E9DB-44F9-8F4D-A11E49818C55}" type="datetime1">
              <a:rPr kumimoji="0" lang="en-US" sz="1200" b="0" i="0" u="none" strike="noStrike" kern="1200" cap="none" spc="0" normalizeH="0" baseline="0" noProof="0" smtClean="0">
                <a:ln>
                  <a:noFill/>
                </a:ln>
                <a:solidFill>
                  <a:prstClr val="black"/>
                </a:solidFill>
                <a:effectLst/>
                <a:uLnTx/>
                <a:uFillTx/>
                <a:latin typeface="Scala Sans" panose="02000503060000020003" pitchFamily="2" charset="0"/>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5/20/21</a:t>
            </a:fld>
            <a:endParaRPr kumimoji="0" lang="en-US" sz="1200" b="0" i="0" u="none" strike="noStrike" kern="1200" cap="none" spc="0" normalizeH="0" baseline="0" noProof="0" dirty="0">
              <a:ln>
                <a:noFill/>
              </a:ln>
              <a:solidFill>
                <a:prstClr val="black"/>
              </a:solidFill>
              <a:effectLst/>
              <a:uLnTx/>
              <a:uFillTx/>
              <a:latin typeface="Scala Sans" panose="02000503060000020003" pitchFamily="2" charset="0"/>
              <a:ea typeface="+mn-ea"/>
              <a:cs typeface="+mn-cs"/>
            </a:endParaRP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b="0">
                <a:solidFill>
                  <a:schemeClr val="tx1"/>
                </a:solidFill>
                <a:latin typeface="Scala Sans" panose="02000503060000020003" pitchFamily="2" charset="0"/>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cala Sans" panose="02000503060000020003" pitchFamily="2" charset="0"/>
              <a:ea typeface="+mn-ea"/>
              <a:cs typeface="+mn-cs"/>
            </a:endParaRP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b="0">
                <a:solidFill>
                  <a:schemeClr val="tx1"/>
                </a:solidFill>
                <a:latin typeface="Scala Sans" panose="02000503060000020003" pitchFamily="2" charset="0"/>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prstClr val="black"/>
                </a:solidFill>
                <a:effectLst/>
                <a:uLnTx/>
                <a:uFillTx/>
                <a:latin typeface="Scala Sans" panose="02000503060000020003"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solidFill>
              <a:effectLst/>
              <a:uLnTx/>
              <a:uFillTx/>
              <a:latin typeface="Scala Sans" panose="02000503060000020003" pitchFamily="2" charset="0"/>
              <a:ea typeface="+mn-ea"/>
              <a:cs typeface="+mn-cs"/>
            </a:endParaRPr>
          </a:p>
        </p:txBody>
      </p:sp>
    </p:spTree>
    <p:extLst>
      <p:ext uri="{BB962C8B-B14F-4D97-AF65-F5344CB8AC3E}">
        <p14:creationId xmlns:p14="http://schemas.microsoft.com/office/powerpoint/2010/main" val="26646886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hdr="0" ftr="0" dt="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8890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F475445B-5AB6-44F4-8112-3587AA2B416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7BF04F8D-B55A-9F42-BE76-7A62E0FFD9BE}"/>
              </a:ext>
            </a:extLst>
          </p:cNvPr>
          <p:cNvSpPr>
            <a:spLocks noGrp="1"/>
          </p:cNvSpPr>
          <p:nvPr>
            <p:ph type="title"/>
          </p:nvPr>
        </p:nvSpPr>
        <p:spPr/>
        <p:txBody>
          <a:bodyPr/>
          <a:lstStyle/>
          <a:p>
            <a:r>
              <a:rPr lang="en-US" dirty="0"/>
              <a:t>LO1, content 1</a:t>
            </a:r>
          </a:p>
        </p:txBody>
      </p:sp>
      <p:sp>
        <p:nvSpPr>
          <p:cNvPr id="2" name="Content Placeholder 1">
            <a:extLst>
              <a:ext uri="{FF2B5EF4-FFF2-40B4-BE49-F238E27FC236}">
                <a16:creationId xmlns:a16="http://schemas.microsoft.com/office/drawing/2014/main" id="{C4B13B96-2487-4C6C-88E9-51107D3F79FD}"/>
              </a:ext>
            </a:extLst>
          </p:cNvPr>
          <p:cNvSpPr>
            <a:spLocks noGrp="1"/>
          </p:cNvSpPr>
          <p:nvPr>
            <p:ph idx="1"/>
          </p:nvPr>
        </p:nvSpPr>
        <p:spPr/>
        <p:txBody>
          <a:bodyPr/>
          <a:lstStyle/>
          <a:p>
            <a:r>
              <a:rPr lang="en-US" dirty="0"/>
              <a:t>Key Material 7-1: The Circulatory System</a:t>
            </a:r>
          </a:p>
          <a:p>
            <a:endParaRPr lang="en-US" dirty="0"/>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pic>
        <p:nvPicPr>
          <p:cNvPr id="6" name="Picture 5" descr="Human figure illustrating the parts of the circulatory system">
            <a:extLst>
              <a:ext uri="{FF2B5EF4-FFF2-40B4-BE49-F238E27FC236}">
                <a16:creationId xmlns:a16="http://schemas.microsoft.com/office/drawing/2014/main" id="{2B3D435D-541B-0747-BD4B-B1F85906762A}"/>
              </a:ext>
            </a:extLst>
          </p:cNvPr>
          <p:cNvPicPr>
            <a:picLocks noChangeAspect="1"/>
          </p:cNvPicPr>
          <p:nvPr/>
        </p:nvPicPr>
        <p:blipFill rotWithShape="1">
          <a:blip r:embed="rId2">
            <a:extLst>
              <a:ext uri="{28A0092B-C50C-407E-A947-70E740481C1C}">
                <a14:useLocalDpi xmlns:a14="http://schemas.microsoft.com/office/drawing/2010/main" val="0"/>
              </a:ext>
            </a:extLst>
          </a:blip>
          <a:srcRect b="16315"/>
          <a:stretch/>
        </p:blipFill>
        <p:spPr>
          <a:xfrm>
            <a:off x="3908400" y="840234"/>
            <a:ext cx="4295075" cy="5439220"/>
          </a:xfrm>
          <a:prstGeom prst="rect">
            <a:avLst/>
          </a:prstGeom>
        </p:spPr>
      </p:pic>
    </p:spTree>
    <p:extLst>
      <p:ext uri="{BB962C8B-B14F-4D97-AF65-F5344CB8AC3E}">
        <p14:creationId xmlns:p14="http://schemas.microsoft.com/office/powerpoint/2010/main" val="42821096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F475445B-5AB6-44F4-8112-3587AA2B416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7BF04F8D-B55A-9F42-BE76-7A62E0FFD9BE}"/>
              </a:ext>
            </a:extLst>
          </p:cNvPr>
          <p:cNvSpPr>
            <a:spLocks noGrp="1"/>
          </p:cNvSpPr>
          <p:nvPr>
            <p:ph type="title"/>
          </p:nvPr>
        </p:nvSpPr>
        <p:spPr/>
        <p:txBody>
          <a:bodyPr/>
          <a:lstStyle/>
          <a:p>
            <a:r>
              <a:rPr lang="en-US" dirty="0"/>
              <a:t>LO1, content 2</a:t>
            </a:r>
          </a:p>
        </p:txBody>
      </p:sp>
      <p:sp>
        <p:nvSpPr>
          <p:cNvPr id="2" name="Content Placeholder 1">
            <a:extLst>
              <a:ext uri="{FF2B5EF4-FFF2-40B4-BE49-F238E27FC236}">
                <a16:creationId xmlns:a16="http://schemas.microsoft.com/office/drawing/2014/main" id="{C4B13B96-2487-4C6C-88E9-51107D3F79FD}"/>
              </a:ext>
            </a:extLst>
          </p:cNvPr>
          <p:cNvSpPr>
            <a:spLocks noGrp="1"/>
          </p:cNvSpPr>
          <p:nvPr>
            <p:ph idx="1"/>
          </p:nvPr>
        </p:nvSpPr>
        <p:spPr/>
        <p:txBody>
          <a:bodyPr/>
          <a:lstStyle/>
          <a:p>
            <a:pPr marL="457200" indent="-457200">
              <a:buFont typeface="+mj-lt"/>
              <a:buAutoNum type="arabicPeriod"/>
            </a:pPr>
            <a:r>
              <a:rPr lang="en-US" dirty="0">
                <a:solidFill>
                  <a:srgbClr val="FF0000"/>
                </a:solidFill>
              </a:rPr>
              <a:t>Describe the structure and function of the circulatory system</a:t>
            </a:r>
          </a:p>
          <a:p>
            <a:endParaRPr lang="en-US" dirty="0"/>
          </a:p>
          <a:p>
            <a:r>
              <a:rPr lang="en-US" dirty="0"/>
              <a:t>Remember the following points about the circulatory system:</a:t>
            </a:r>
          </a:p>
          <a:p>
            <a:pPr marL="342900" indent="-342900">
              <a:buFont typeface="Arial" panose="020B0604020202020204" pitchFamily="34" charset="0"/>
              <a:buChar char="•"/>
            </a:pPr>
            <a:r>
              <a:rPr lang="en-US" dirty="0"/>
              <a:t>Made up of heart, blood vessels, and blood</a:t>
            </a:r>
          </a:p>
          <a:p>
            <a:pPr marL="342900" indent="-342900">
              <a:buFont typeface="Arial" panose="020B0604020202020204" pitchFamily="34" charset="0"/>
              <a:buChar char="•"/>
            </a:pPr>
            <a:r>
              <a:rPr lang="en-US" dirty="0"/>
              <a:t>Blood carries food, oxygen, and essential substances to cells</a:t>
            </a:r>
          </a:p>
          <a:p>
            <a:pPr marL="342900" indent="-342900">
              <a:buFont typeface="Arial" panose="020B0604020202020204" pitchFamily="34" charset="0"/>
              <a:buChar char="•"/>
            </a:pPr>
            <a:r>
              <a:rPr lang="en-US" dirty="0"/>
              <a:t>Heart has four chambers (two atria/upper chambers and two ventricles/lower chambers)</a:t>
            </a:r>
          </a:p>
          <a:p>
            <a:pPr marL="342900" indent="-342900">
              <a:buFont typeface="Arial" panose="020B0604020202020204" pitchFamily="34" charset="0"/>
              <a:buChar char="•"/>
            </a:pPr>
            <a:r>
              <a:rPr lang="en-US" dirty="0"/>
              <a:t>Heart functions in two phases: resting phase—diastole (chambers fill with blood) and contracting phase—systole (ventricles pump blood)</a:t>
            </a:r>
          </a:p>
          <a:p>
            <a:pPr marL="342900" indent="-342900">
              <a:buFont typeface="Arial" panose="020B0604020202020204" pitchFamily="34" charset="0"/>
              <a:buChar char="•"/>
            </a:pPr>
            <a:r>
              <a:rPr lang="en-US" dirty="0"/>
              <a:t>Major functions are to</a:t>
            </a:r>
          </a:p>
          <a:p>
            <a:pPr marL="800100" lvl="1" indent="-342900">
              <a:buFont typeface="Arial" panose="020B0604020202020204" pitchFamily="34" charset="0"/>
              <a:buChar char="•"/>
            </a:pPr>
            <a:r>
              <a:rPr lang="en-US" dirty="0"/>
              <a:t>Supply food, oxygen, and hormones to cells</a:t>
            </a:r>
          </a:p>
          <a:p>
            <a:pPr marL="800100" lvl="1" indent="-342900">
              <a:buFont typeface="Arial" panose="020B0604020202020204" pitchFamily="34" charset="0"/>
              <a:buChar char="•"/>
            </a:pPr>
            <a:r>
              <a:rPr lang="en-US" dirty="0"/>
              <a:t>Supply antibodies</a:t>
            </a:r>
          </a:p>
          <a:p>
            <a:pPr marL="800100" lvl="1" indent="-342900">
              <a:buFont typeface="Arial" panose="020B0604020202020204" pitchFamily="34" charset="0"/>
              <a:buChar char="•"/>
            </a:pPr>
            <a:r>
              <a:rPr lang="en-US" dirty="0"/>
              <a:t>Remove waste products from cells</a:t>
            </a:r>
          </a:p>
          <a:p>
            <a:pPr marL="800100" lvl="1" indent="-342900">
              <a:buFont typeface="Arial" panose="020B0604020202020204" pitchFamily="34" charset="0"/>
              <a:buChar char="•"/>
            </a:pPr>
            <a:r>
              <a:rPr lang="en-US" dirty="0"/>
              <a:t>Control body temperature</a:t>
            </a:r>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27226975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F475445B-5AB6-44F4-8112-3587AA2B416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7BF04F8D-B55A-9F42-BE76-7A62E0FFD9BE}"/>
              </a:ext>
            </a:extLst>
          </p:cNvPr>
          <p:cNvSpPr>
            <a:spLocks noGrp="1"/>
          </p:cNvSpPr>
          <p:nvPr>
            <p:ph type="title"/>
          </p:nvPr>
        </p:nvSpPr>
        <p:spPr/>
        <p:txBody>
          <a:bodyPr/>
          <a:lstStyle/>
          <a:p>
            <a:r>
              <a:rPr lang="en-US" dirty="0"/>
              <a:t>LO1, content 3</a:t>
            </a:r>
          </a:p>
        </p:txBody>
      </p:sp>
      <p:sp>
        <p:nvSpPr>
          <p:cNvPr id="2" name="Content Placeholder 1">
            <a:extLst>
              <a:ext uri="{FF2B5EF4-FFF2-40B4-BE49-F238E27FC236}">
                <a16:creationId xmlns:a16="http://schemas.microsoft.com/office/drawing/2014/main" id="{C4B13B96-2487-4C6C-88E9-51107D3F79FD}"/>
              </a:ext>
            </a:extLst>
          </p:cNvPr>
          <p:cNvSpPr>
            <a:spLocks noGrp="1"/>
          </p:cNvSpPr>
          <p:nvPr>
            <p:ph idx="1"/>
          </p:nvPr>
        </p:nvSpPr>
        <p:spPr/>
        <p:txBody>
          <a:bodyPr/>
          <a:lstStyle/>
          <a:p>
            <a:pPr marL="457200" indent="-457200">
              <a:buFont typeface="+mj-lt"/>
              <a:buAutoNum type="arabicPeriod"/>
            </a:pPr>
            <a:r>
              <a:rPr lang="en-US" dirty="0">
                <a:solidFill>
                  <a:srgbClr val="FF0000"/>
                </a:solidFill>
              </a:rPr>
              <a:t>Describe the structure and function of the circulatory system</a:t>
            </a:r>
          </a:p>
          <a:p>
            <a:r>
              <a:rPr lang="en-US" dirty="0"/>
              <a:t> </a:t>
            </a:r>
          </a:p>
          <a:p>
            <a:r>
              <a:rPr lang="en-US" dirty="0"/>
              <a:t>Normal changes of aging include the following:</a:t>
            </a:r>
          </a:p>
          <a:p>
            <a:pPr marL="342900" indent="-342900">
              <a:buFont typeface="Arial" panose="020B0604020202020204" pitchFamily="34" charset="0"/>
              <a:buChar char="•"/>
            </a:pPr>
            <a:r>
              <a:rPr lang="en-US" dirty="0"/>
              <a:t>Less efficient heart</a:t>
            </a:r>
          </a:p>
          <a:p>
            <a:pPr marL="342900" indent="-342900">
              <a:buFont typeface="Arial" panose="020B0604020202020204" pitchFamily="34" charset="0"/>
              <a:buChar char="•"/>
            </a:pPr>
            <a:r>
              <a:rPr lang="en-US" dirty="0"/>
              <a:t>Decreased blood flow</a:t>
            </a:r>
          </a:p>
          <a:p>
            <a:pPr marL="342900" indent="-342900">
              <a:buFont typeface="Arial" panose="020B0604020202020204" pitchFamily="34" charset="0"/>
              <a:buChar char="•"/>
            </a:pPr>
            <a:r>
              <a:rPr lang="en-US" dirty="0"/>
              <a:t>Narrowed blood vessels</a:t>
            </a:r>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2312698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F475445B-5AB6-44F4-8112-3587AA2B416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DDBEDF11-F27B-AB47-9B80-5BD48C0036E7}"/>
              </a:ext>
            </a:extLst>
          </p:cNvPr>
          <p:cNvSpPr>
            <a:spLocks noGrp="1"/>
          </p:cNvSpPr>
          <p:nvPr>
            <p:ph type="title"/>
          </p:nvPr>
        </p:nvSpPr>
        <p:spPr/>
        <p:txBody>
          <a:bodyPr/>
          <a:lstStyle/>
          <a:p>
            <a:r>
              <a:rPr lang="en-US" dirty="0"/>
              <a:t>LO2, key terms</a:t>
            </a:r>
          </a:p>
        </p:txBody>
      </p:sp>
      <p:sp>
        <p:nvSpPr>
          <p:cNvPr id="2" name="Content Placeholder 1">
            <a:extLst>
              <a:ext uri="{FF2B5EF4-FFF2-40B4-BE49-F238E27FC236}">
                <a16:creationId xmlns:a16="http://schemas.microsoft.com/office/drawing/2014/main" id="{C4B13B96-2487-4C6C-88E9-51107D3F79FD}"/>
              </a:ext>
            </a:extLst>
          </p:cNvPr>
          <p:cNvSpPr>
            <a:spLocks noGrp="1"/>
          </p:cNvSpPr>
          <p:nvPr>
            <p:ph idx="1"/>
          </p:nvPr>
        </p:nvSpPr>
        <p:spPr/>
        <p:txBody>
          <a:bodyPr>
            <a:normAutofit/>
          </a:bodyPr>
          <a:lstStyle/>
          <a:p>
            <a:pPr marL="457200" indent="-457200">
              <a:buFont typeface="+mj-lt"/>
              <a:buAutoNum type="arabicPeriod" startAt="2"/>
            </a:pPr>
            <a:r>
              <a:rPr lang="en-US" dirty="0">
                <a:solidFill>
                  <a:srgbClr val="FF0000"/>
                </a:solidFill>
              </a:rPr>
              <a:t>Discuss common medications used to treat hypertension</a:t>
            </a:r>
            <a:endParaRPr lang="en-US" dirty="0"/>
          </a:p>
          <a:p>
            <a:endParaRPr lang="en-US" dirty="0"/>
          </a:p>
          <a:p>
            <a:r>
              <a:rPr lang="en-US" dirty="0"/>
              <a:t>Define the following terms:</a:t>
            </a:r>
            <a:br>
              <a:rPr lang="en-US" dirty="0"/>
            </a:br>
            <a:endParaRPr lang="en-US" dirty="0"/>
          </a:p>
          <a:p>
            <a:r>
              <a:rPr lang="en-US" b="1" dirty="0"/>
              <a:t>hypertension</a:t>
            </a:r>
          </a:p>
          <a:p>
            <a:pPr lvl="1"/>
            <a:r>
              <a:rPr lang="en-US" dirty="0"/>
              <a:t>high blood pressure, regularly measuring 130/80 mm Hg or higher.</a:t>
            </a:r>
          </a:p>
          <a:p>
            <a:r>
              <a:rPr lang="en-US" b="1" dirty="0"/>
              <a:t>atherosclerosis</a:t>
            </a:r>
          </a:p>
          <a:p>
            <a:pPr lvl="1"/>
            <a:r>
              <a:rPr lang="en-US" dirty="0"/>
              <a:t>a hardening and narrowing of the blood vessels.</a:t>
            </a:r>
          </a:p>
          <a:p>
            <a:r>
              <a:rPr lang="en-US" b="1" dirty="0"/>
              <a:t>hypotension</a:t>
            </a:r>
          </a:p>
          <a:p>
            <a:pPr lvl="1"/>
            <a:r>
              <a:rPr lang="en-US" dirty="0"/>
              <a:t>low blood pressure, regularly measuring 90/60 mm Hg or lower.</a:t>
            </a:r>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1963650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F475445B-5AB6-44F4-8112-3587AA2B416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FF3C4334-B640-F144-B0AB-5CF393F57269}"/>
              </a:ext>
            </a:extLst>
          </p:cNvPr>
          <p:cNvSpPr>
            <a:spLocks noGrp="1"/>
          </p:cNvSpPr>
          <p:nvPr>
            <p:ph type="title"/>
          </p:nvPr>
        </p:nvSpPr>
        <p:spPr/>
        <p:txBody>
          <a:bodyPr/>
          <a:lstStyle/>
          <a:p>
            <a:r>
              <a:rPr lang="en-US" dirty="0"/>
              <a:t>LO2, content 1</a:t>
            </a:r>
          </a:p>
        </p:txBody>
      </p:sp>
      <p:sp>
        <p:nvSpPr>
          <p:cNvPr id="2" name="Content Placeholder 1">
            <a:extLst>
              <a:ext uri="{FF2B5EF4-FFF2-40B4-BE49-F238E27FC236}">
                <a16:creationId xmlns:a16="http://schemas.microsoft.com/office/drawing/2014/main" id="{C4B13B96-2487-4C6C-88E9-51107D3F79FD}"/>
              </a:ext>
            </a:extLst>
          </p:cNvPr>
          <p:cNvSpPr>
            <a:spLocks noGrp="1"/>
          </p:cNvSpPr>
          <p:nvPr>
            <p:ph idx="1"/>
          </p:nvPr>
        </p:nvSpPr>
        <p:spPr/>
        <p:txBody>
          <a:bodyPr>
            <a:normAutofit/>
          </a:bodyPr>
          <a:lstStyle/>
          <a:p>
            <a:pPr marL="457200" indent="-457200">
              <a:buFont typeface="+mj-lt"/>
              <a:buAutoNum type="arabicPeriod" startAt="2"/>
            </a:pPr>
            <a:r>
              <a:rPr lang="en-US" dirty="0">
                <a:solidFill>
                  <a:srgbClr val="FF0000"/>
                </a:solidFill>
              </a:rPr>
              <a:t>Discuss common medications used to treat hypertension</a:t>
            </a:r>
            <a:endParaRPr lang="en-US" dirty="0"/>
          </a:p>
          <a:p>
            <a:endParaRPr lang="en-US" dirty="0"/>
          </a:p>
          <a:p>
            <a:r>
              <a:rPr lang="en-US" dirty="0"/>
              <a:t>Understand the following about treatment for hypertension:</a:t>
            </a:r>
          </a:p>
          <a:p>
            <a:pPr marL="342900" indent="-342900">
              <a:buFont typeface="Arial" panose="020B0604020202020204" pitchFamily="34" charset="0"/>
              <a:buChar char="•"/>
            </a:pPr>
            <a:r>
              <a:rPr lang="en-US" i="1" dirty="0"/>
              <a:t>Antihypertensive </a:t>
            </a:r>
            <a:r>
              <a:rPr lang="en-US" dirty="0"/>
              <a:t>is a general term for medications to reduce blood pressure</a:t>
            </a:r>
          </a:p>
          <a:p>
            <a:pPr marL="342900" indent="-342900">
              <a:buFont typeface="Arial" panose="020B0604020202020204" pitchFamily="34" charset="0"/>
              <a:buChar char="•"/>
            </a:pPr>
            <a:r>
              <a:rPr lang="en-US" dirty="0"/>
              <a:t>Diuretics reduce the amount of fluid in the body, lowering blood pressure (sometimes called </a:t>
            </a:r>
            <a:r>
              <a:rPr lang="en-US" i="1" dirty="0"/>
              <a:t>water pills</a:t>
            </a:r>
            <a:r>
              <a:rPr lang="en-US" dirty="0"/>
              <a:t>)</a:t>
            </a:r>
          </a:p>
          <a:p>
            <a:pPr marL="800100" lvl="1" indent="-342900">
              <a:buFont typeface="Arial" panose="020B0604020202020204" pitchFamily="34" charset="0"/>
              <a:buChar char="•"/>
            </a:pPr>
            <a:r>
              <a:rPr lang="en-US" dirty="0"/>
              <a:t>Diuretics can cause mineral imbalances, especially with potassium (low potassium)</a:t>
            </a:r>
          </a:p>
          <a:p>
            <a:pPr marL="800100" lvl="1" indent="-342900">
              <a:buFont typeface="Arial" panose="020B0604020202020204" pitchFamily="34" charset="0"/>
              <a:buChar char="•"/>
            </a:pPr>
            <a:r>
              <a:rPr lang="en-US" dirty="0"/>
              <a:t>Potassium-sparing diuretics may be ordered if potassium loss is a problem</a:t>
            </a:r>
          </a:p>
          <a:p>
            <a:pPr marL="342900" indent="-342900">
              <a:buFont typeface="Arial" panose="020B0604020202020204" pitchFamily="34" charset="0"/>
              <a:buChar char="•"/>
            </a:pPr>
            <a:r>
              <a:rPr lang="en-US" dirty="0"/>
              <a:t>Calcium channel blockers relax the heart and blood vessels to lower blood pressure.</a:t>
            </a:r>
          </a:p>
          <a:p>
            <a:pPr marL="800100" lvl="1" indent="-342900">
              <a:buFont typeface="Arial" panose="020B0604020202020204" pitchFamily="34" charset="0"/>
              <a:buChar char="•"/>
            </a:pPr>
            <a:r>
              <a:rPr lang="en-US" dirty="0"/>
              <a:t>Generic names end in </a:t>
            </a:r>
            <a:r>
              <a:rPr lang="en-US" i="1" dirty="0"/>
              <a:t>-pine</a:t>
            </a:r>
            <a:endParaRPr lang="en-US" dirty="0"/>
          </a:p>
          <a:p>
            <a:pPr marL="800100" lvl="1" indent="-342900">
              <a:buFont typeface="Arial" panose="020B0604020202020204" pitchFamily="34" charset="0"/>
              <a:buChar char="•"/>
            </a:pPr>
            <a:r>
              <a:rPr lang="en-US" dirty="0"/>
              <a:t>Side effects include irregular or rapid heart rate, overgrowth of gum tissue around teeth</a:t>
            </a:r>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3370399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F475445B-5AB6-44F4-8112-3587AA2B416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FF3C4334-B640-F144-B0AB-5CF393F57269}"/>
              </a:ext>
            </a:extLst>
          </p:cNvPr>
          <p:cNvSpPr>
            <a:spLocks noGrp="1"/>
          </p:cNvSpPr>
          <p:nvPr>
            <p:ph type="title"/>
          </p:nvPr>
        </p:nvSpPr>
        <p:spPr/>
        <p:txBody>
          <a:bodyPr/>
          <a:lstStyle/>
          <a:p>
            <a:r>
              <a:rPr lang="en-US" dirty="0"/>
              <a:t>LO2, content 2</a:t>
            </a:r>
          </a:p>
        </p:txBody>
      </p:sp>
      <p:sp>
        <p:nvSpPr>
          <p:cNvPr id="2" name="Content Placeholder 1">
            <a:extLst>
              <a:ext uri="{FF2B5EF4-FFF2-40B4-BE49-F238E27FC236}">
                <a16:creationId xmlns:a16="http://schemas.microsoft.com/office/drawing/2014/main" id="{C4B13B96-2487-4C6C-88E9-51107D3F79FD}"/>
              </a:ext>
            </a:extLst>
          </p:cNvPr>
          <p:cNvSpPr>
            <a:spLocks noGrp="1"/>
          </p:cNvSpPr>
          <p:nvPr>
            <p:ph idx="1"/>
          </p:nvPr>
        </p:nvSpPr>
        <p:spPr/>
        <p:txBody>
          <a:bodyPr>
            <a:normAutofit/>
          </a:bodyPr>
          <a:lstStyle/>
          <a:p>
            <a:pPr marL="457200" indent="-457200">
              <a:buFont typeface="+mj-lt"/>
              <a:buAutoNum type="arabicPeriod" startAt="2"/>
            </a:pPr>
            <a:r>
              <a:rPr lang="en-US" dirty="0">
                <a:solidFill>
                  <a:srgbClr val="FF0000"/>
                </a:solidFill>
              </a:rPr>
              <a:t>Discuss common medications used to treat hypertension</a:t>
            </a:r>
            <a:endParaRPr lang="en-US" dirty="0"/>
          </a:p>
          <a:p>
            <a:endParaRPr lang="en-US" dirty="0"/>
          </a:p>
          <a:p>
            <a:r>
              <a:rPr lang="en-US" dirty="0"/>
              <a:t>Treatment for hypertension (cont’d):</a:t>
            </a:r>
          </a:p>
          <a:p>
            <a:pPr marL="342900" indent="-342900">
              <a:buFont typeface="Arial" panose="020B0604020202020204" pitchFamily="34" charset="0"/>
              <a:buChar char="•"/>
            </a:pPr>
            <a:r>
              <a:rPr lang="en-US" dirty="0"/>
              <a:t>Angiotensin-converting enzyme inhibitors (ACE inhibitors) and angiotensin receptor blockers (ARBs) block the formation or action of chemicals that cause blood pressure to rise</a:t>
            </a:r>
          </a:p>
          <a:p>
            <a:pPr marL="800100" lvl="1" indent="-342900">
              <a:buFont typeface="Arial" panose="020B0604020202020204" pitchFamily="34" charset="0"/>
              <a:buChar char="•"/>
            </a:pPr>
            <a:r>
              <a:rPr lang="en-US" dirty="0"/>
              <a:t>Generic names of ACE inhibitors end in </a:t>
            </a:r>
            <a:r>
              <a:rPr lang="en-US" i="1" dirty="0"/>
              <a:t>-</a:t>
            </a:r>
            <a:r>
              <a:rPr lang="en-US" i="1" dirty="0" err="1"/>
              <a:t>pril</a:t>
            </a:r>
            <a:endParaRPr lang="en-US" dirty="0"/>
          </a:p>
          <a:p>
            <a:pPr marL="800100" lvl="1" indent="-342900">
              <a:buFont typeface="Arial" panose="020B0604020202020204" pitchFamily="34" charset="0"/>
              <a:buChar char="•"/>
            </a:pPr>
            <a:r>
              <a:rPr lang="en-US" dirty="0"/>
              <a:t>ACE inhibitors can cause a rare, dangerous side effect called </a:t>
            </a:r>
            <a:r>
              <a:rPr lang="en-US" i="1" dirty="0"/>
              <a:t>angioedema</a:t>
            </a:r>
            <a:r>
              <a:rPr lang="en-US" dirty="0"/>
              <a:t>; swelling of the lips and tongue can be life-threatening</a:t>
            </a:r>
          </a:p>
          <a:p>
            <a:pPr marL="800100" lvl="1" indent="-342900">
              <a:buFont typeface="Arial" panose="020B0604020202020204" pitchFamily="34" charset="0"/>
              <a:buChar char="•"/>
            </a:pPr>
            <a:r>
              <a:rPr lang="en-US" dirty="0"/>
              <a:t>Other side effects include high potassium levels, dry cough, and kidney injury</a:t>
            </a:r>
          </a:p>
          <a:p>
            <a:pPr marL="800100" lvl="1" indent="-342900">
              <a:buFont typeface="Arial" panose="020B0604020202020204" pitchFamily="34" charset="0"/>
              <a:buChar char="•"/>
            </a:pPr>
            <a:r>
              <a:rPr lang="en-US" dirty="0"/>
              <a:t>Generic names of ARBs end in </a:t>
            </a:r>
            <a:r>
              <a:rPr lang="en-US" i="1" dirty="0"/>
              <a:t>-</a:t>
            </a:r>
            <a:r>
              <a:rPr lang="en-US" i="1" dirty="0" err="1"/>
              <a:t>sartan</a:t>
            </a:r>
            <a:endParaRPr lang="en-US" dirty="0"/>
          </a:p>
          <a:p>
            <a:pPr marL="800100" lvl="1" indent="-342900">
              <a:buFont typeface="Arial" panose="020B0604020202020204" pitchFamily="34" charset="0"/>
              <a:buChar char="•"/>
            </a:pPr>
            <a:r>
              <a:rPr lang="en-US" dirty="0"/>
              <a:t>ARBs can cause side effects similar to those of ACE inhibitors, but are less likely to cause cough and angioedema</a:t>
            </a:r>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1855597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475445B-5AB6-44F4-8112-3587AA2B416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FF3C4334-B640-F144-B0AB-5CF393F57269}"/>
              </a:ext>
            </a:extLst>
          </p:cNvPr>
          <p:cNvSpPr>
            <a:spLocks noGrp="1"/>
          </p:cNvSpPr>
          <p:nvPr>
            <p:ph type="title"/>
          </p:nvPr>
        </p:nvSpPr>
        <p:spPr/>
        <p:txBody>
          <a:bodyPr/>
          <a:lstStyle/>
          <a:p>
            <a:r>
              <a:rPr lang="en-US" dirty="0"/>
              <a:t>LO2, content 3</a:t>
            </a:r>
          </a:p>
        </p:txBody>
      </p:sp>
      <p:sp>
        <p:nvSpPr>
          <p:cNvPr id="2" name="Content Placeholder 1">
            <a:extLst>
              <a:ext uri="{FF2B5EF4-FFF2-40B4-BE49-F238E27FC236}">
                <a16:creationId xmlns:a16="http://schemas.microsoft.com/office/drawing/2014/main" id="{C4B13B96-2487-4C6C-88E9-51107D3F79FD}"/>
              </a:ext>
            </a:extLst>
          </p:cNvPr>
          <p:cNvSpPr>
            <a:spLocks noGrp="1"/>
          </p:cNvSpPr>
          <p:nvPr>
            <p:ph idx="1"/>
          </p:nvPr>
        </p:nvSpPr>
        <p:spPr/>
        <p:txBody>
          <a:bodyPr>
            <a:normAutofit/>
          </a:bodyPr>
          <a:lstStyle/>
          <a:p>
            <a:pPr marL="457200" indent="-457200">
              <a:buFont typeface="+mj-lt"/>
              <a:buAutoNum type="arabicPeriod" startAt="2"/>
            </a:pPr>
            <a:r>
              <a:rPr lang="en-US" dirty="0">
                <a:solidFill>
                  <a:srgbClr val="FF0000"/>
                </a:solidFill>
              </a:rPr>
              <a:t>Discuss common medications used to treat hypertension</a:t>
            </a:r>
            <a:endParaRPr lang="en-US" dirty="0"/>
          </a:p>
          <a:p>
            <a:endParaRPr lang="en-US" dirty="0"/>
          </a:p>
          <a:p>
            <a:r>
              <a:rPr lang="en-US" dirty="0"/>
              <a:t>Treatment for hypertension (cont’d):</a:t>
            </a:r>
          </a:p>
          <a:p>
            <a:pPr marL="342900" indent="-342900">
              <a:buFont typeface="Arial" panose="020B0604020202020204" pitchFamily="34" charset="0"/>
              <a:buChar char="•"/>
            </a:pPr>
            <a:r>
              <a:rPr lang="en-US" dirty="0"/>
              <a:t>Beta-blockers work to block another type of chemical that can increase blood pressure</a:t>
            </a:r>
          </a:p>
          <a:p>
            <a:pPr marL="800100" lvl="1" indent="-342900">
              <a:buFont typeface="Arial" panose="020B0604020202020204" pitchFamily="34" charset="0"/>
              <a:buChar char="•"/>
            </a:pPr>
            <a:r>
              <a:rPr lang="en-US" dirty="0"/>
              <a:t>Generic names end in -</a:t>
            </a:r>
            <a:r>
              <a:rPr lang="en-US" i="1" dirty="0" err="1"/>
              <a:t>olol</a:t>
            </a:r>
            <a:endParaRPr lang="en-US" dirty="0"/>
          </a:p>
          <a:p>
            <a:pPr marL="800100" lvl="1" indent="-342900">
              <a:buFont typeface="Arial" panose="020B0604020202020204" pitchFamily="34" charset="0"/>
              <a:buChar char="•"/>
            </a:pPr>
            <a:r>
              <a:rPr lang="en-US" dirty="0"/>
              <a:t>Can reduce heart rate</a:t>
            </a:r>
          </a:p>
          <a:p>
            <a:pPr marL="800100" lvl="1" indent="-342900">
              <a:buFont typeface="Arial" panose="020B0604020202020204" pitchFamily="34" charset="0"/>
              <a:buChar char="•"/>
            </a:pPr>
            <a:r>
              <a:rPr lang="en-US" dirty="0"/>
              <a:t>Side effects include dizziness and fatigue</a:t>
            </a:r>
          </a:p>
          <a:p>
            <a:pPr marL="800100" lvl="1" indent="-342900">
              <a:buFont typeface="Arial" panose="020B0604020202020204" pitchFamily="34" charset="0"/>
              <a:buChar char="•"/>
            </a:pPr>
            <a:r>
              <a:rPr lang="en-US" dirty="0"/>
              <a:t>Some beta-blockers may be contraindicated for residents with breathing disorders</a:t>
            </a:r>
          </a:p>
          <a:p>
            <a:pPr marL="342900" indent="-342900">
              <a:buFont typeface="Arial" panose="020B0604020202020204" pitchFamily="34" charset="0"/>
              <a:buChar char="•"/>
            </a:pPr>
            <a:r>
              <a:rPr lang="en-US" dirty="0"/>
              <a:t>Medications that widen, or dilate, the blood vessels can also reduce blood pressure; these medications are generally used when hypertension does not respond to other treatments</a:t>
            </a:r>
          </a:p>
          <a:p>
            <a:pPr marL="342900" indent="-342900">
              <a:buFont typeface="Arial" panose="020B0604020202020204" pitchFamily="34" charset="0"/>
              <a:buChar char="•"/>
            </a:pPr>
            <a:r>
              <a:rPr lang="en-US" dirty="0"/>
              <a:t>Table on textbook pp. 122–123 (or handout) details specific drugs</a:t>
            </a:r>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1842749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475445B-5AB6-44F4-8112-3587AA2B416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FF3C4334-B640-F144-B0AB-5CF393F57269}"/>
              </a:ext>
            </a:extLst>
          </p:cNvPr>
          <p:cNvSpPr>
            <a:spLocks noGrp="1"/>
          </p:cNvSpPr>
          <p:nvPr>
            <p:ph type="title"/>
          </p:nvPr>
        </p:nvSpPr>
        <p:spPr/>
        <p:txBody>
          <a:bodyPr/>
          <a:lstStyle/>
          <a:p>
            <a:r>
              <a:rPr lang="en-US" dirty="0"/>
              <a:t>LO2, content 4</a:t>
            </a:r>
          </a:p>
        </p:txBody>
      </p:sp>
      <p:sp>
        <p:nvSpPr>
          <p:cNvPr id="2" name="Content Placeholder 1">
            <a:extLst>
              <a:ext uri="{FF2B5EF4-FFF2-40B4-BE49-F238E27FC236}">
                <a16:creationId xmlns:a16="http://schemas.microsoft.com/office/drawing/2014/main" id="{C4B13B96-2487-4C6C-88E9-51107D3F79FD}"/>
              </a:ext>
            </a:extLst>
          </p:cNvPr>
          <p:cNvSpPr>
            <a:spLocks noGrp="1"/>
          </p:cNvSpPr>
          <p:nvPr>
            <p:ph idx="1"/>
          </p:nvPr>
        </p:nvSpPr>
        <p:spPr/>
        <p:txBody>
          <a:bodyPr>
            <a:normAutofit/>
          </a:bodyPr>
          <a:lstStyle/>
          <a:p>
            <a:pPr marL="457200" indent="-457200">
              <a:buFont typeface="+mj-lt"/>
              <a:buAutoNum type="arabicPeriod" startAt="2"/>
            </a:pPr>
            <a:r>
              <a:rPr lang="en-US" dirty="0">
                <a:solidFill>
                  <a:srgbClr val="FF0000"/>
                </a:solidFill>
              </a:rPr>
              <a:t>Discuss common medications used to treat hypertension</a:t>
            </a:r>
            <a:endParaRPr lang="en-US" dirty="0"/>
          </a:p>
          <a:p>
            <a:endParaRPr lang="en-US" dirty="0"/>
          </a:p>
          <a:p>
            <a:r>
              <a:rPr lang="en-US" dirty="0"/>
              <a:t>Care guidelines for hypertension include the following:</a:t>
            </a:r>
          </a:p>
          <a:p>
            <a:pPr marL="342900" indent="-342900">
              <a:buFont typeface="Arial" panose="020B0604020202020204" pitchFamily="34" charset="0"/>
              <a:buChar char="•"/>
            </a:pPr>
            <a:r>
              <a:rPr lang="en-US" dirty="0"/>
              <a:t>Encourage healthy lifestyle and diet choices. Exercise, a low-sodium diet, and stress relief often help lower blood pressure</a:t>
            </a:r>
          </a:p>
          <a:p>
            <a:pPr marL="342900" indent="-342900">
              <a:buFont typeface="Arial" panose="020B0604020202020204" pitchFamily="34" charset="0"/>
              <a:buChar char="•"/>
            </a:pPr>
            <a:r>
              <a:rPr lang="en-US" dirty="0"/>
              <a:t>Residents taking diuretics may need to eat foods rich in potassium to prevent low potassium levels. Bananas, cantaloupe, spinach, broccoli, and potatoes are some high-potassium foods</a:t>
            </a:r>
          </a:p>
          <a:p>
            <a:pPr marL="342900" indent="-342900">
              <a:buFont typeface="Arial" panose="020B0604020202020204" pitchFamily="34" charset="0"/>
              <a:buChar char="•"/>
            </a:pPr>
            <a:r>
              <a:rPr lang="en-US" dirty="0"/>
              <a:t>Combining loop diuretics (more information in Learning Objective 4) and NSAIDs increases risk of kidney injury and failure. These medications should not be taken together</a:t>
            </a:r>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9240019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475445B-5AB6-44F4-8112-3587AA2B416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FF3C4334-B640-F144-B0AB-5CF393F57269}"/>
              </a:ext>
            </a:extLst>
          </p:cNvPr>
          <p:cNvSpPr>
            <a:spLocks noGrp="1"/>
          </p:cNvSpPr>
          <p:nvPr>
            <p:ph type="title"/>
          </p:nvPr>
        </p:nvSpPr>
        <p:spPr/>
        <p:txBody>
          <a:bodyPr/>
          <a:lstStyle/>
          <a:p>
            <a:r>
              <a:rPr lang="en-US" dirty="0"/>
              <a:t>LO2, content 5</a:t>
            </a:r>
          </a:p>
        </p:txBody>
      </p:sp>
      <p:sp>
        <p:nvSpPr>
          <p:cNvPr id="2" name="Content Placeholder 1">
            <a:extLst>
              <a:ext uri="{FF2B5EF4-FFF2-40B4-BE49-F238E27FC236}">
                <a16:creationId xmlns:a16="http://schemas.microsoft.com/office/drawing/2014/main" id="{C4B13B96-2487-4C6C-88E9-51107D3F79FD}"/>
              </a:ext>
            </a:extLst>
          </p:cNvPr>
          <p:cNvSpPr>
            <a:spLocks noGrp="1"/>
          </p:cNvSpPr>
          <p:nvPr>
            <p:ph idx="1"/>
          </p:nvPr>
        </p:nvSpPr>
        <p:spPr/>
        <p:txBody>
          <a:bodyPr>
            <a:normAutofit/>
          </a:bodyPr>
          <a:lstStyle/>
          <a:p>
            <a:pPr marL="457200" indent="-457200">
              <a:buFont typeface="+mj-lt"/>
              <a:buAutoNum type="arabicPeriod" startAt="2"/>
            </a:pPr>
            <a:r>
              <a:rPr lang="en-US" dirty="0">
                <a:solidFill>
                  <a:srgbClr val="FF0000"/>
                </a:solidFill>
              </a:rPr>
              <a:t>Discuss common medications used to treat hypertension</a:t>
            </a:r>
            <a:endParaRPr lang="en-US" dirty="0"/>
          </a:p>
          <a:p>
            <a:endParaRPr lang="en-US" dirty="0"/>
          </a:p>
          <a:p>
            <a:r>
              <a:rPr lang="en-US" dirty="0"/>
              <a:t>Care guidelines for hypertension (cont’d):</a:t>
            </a:r>
          </a:p>
          <a:p>
            <a:pPr marL="342900" indent="-342900">
              <a:buFont typeface="Arial" panose="020B0604020202020204" pitchFamily="34" charset="0"/>
              <a:buChar char="•"/>
            </a:pPr>
            <a:r>
              <a:rPr lang="en-US" dirty="0"/>
              <a:t>Diuretics increase the need to urinate and should be administered early in the day to avoid sleep disturbance</a:t>
            </a:r>
          </a:p>
          <a:p>
            <a:pPr marL="342900" indent="-342900">
              <a:buFont typeface="Arial" panose="020B0604020202020204" pitchFamily="34" charset="0"/>
              <a:buChar char="•"/>
            </a:pPr>
            <a:r>
              <a:rPr lang="en-US" dirty="0"/>
              <a:t>Monitor blood pressure/pulse as ordered. Antihypertensives can cause hypotension and/or low heart rate</a:t>
            </a:r>
          </a:p>
          <a:p>
            <a:pPr marL="342900" indent="-342900">
              <a:buFont typeface="Arial" panose="020B0604020202020204" pitchFamily="34" charset="0"/>
              <a:buChar char="•"/>
            </a:pPr>
            <a:r>
              <a:rPr lang="en-US" dirty="0"/>
              <a:t>Side effects of some antihypertensives are similar to those of low blood sugar and can mask signs of low blood sugar in residents with diabetes. Observe residents with diabetes who take beta-blockers. Report dizziness, fainting, loss of balance, and fatigue to the nurse immediately</a:t>
            </a:r>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10774247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F475445B-5AB6-44F4-8112-3587AA2B416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1A2F2D62-E2CE-CF46-A37B-7F9403F7F075}"/>
              </a:ext>
            </a:extLst>
          </p:cNvPr>
          <p:cNvSpPr>
            <a:spLocks noGrp="1"/>
          </p:cNvSpPr>
          <p:nvPr>
            <p:ph type="title"/>
          </p:nvPr>
        </p:nvSpPr>
        <p:spPr/>
        <p:txBody>
          <a:bodyPr/>
          <a:lstStyle/>
          <a:p>
            <a:r>
              <a:rPr lang="en-US" dirty="0"/>
              <a:t>LO3, key terms 1</a:t>
            </a:r>
          </a:p>
        </p:txBody>
      </p:sp>
      <p:sp>
        <p:nvSpPr>
          <p:cNvPr id="2" name="Content Placeholder 1">
            <a:extLst>
              <a:ext uri="{FF2B5EF4-FFF2-40B4-BE49-F238E27FC236}">
                <a16:creationId xmlns:a16="http://schemas.microsoft.com/office/drawing/2014/main" id="{C4B13B96-2487-4C6C-88E9-51107D3F79FD}"/>
              </a:ext>
            </a:extLst>
          </p:cNvPr>
          <p:cNvSpPr>
            <a:spLocks noGrp="1"/>
          </p:cNvSpPr>
          <p:nvPr>
            <p:ph idx="1"/>
          </p:nvPr>
        </p:nvSpPr>
        <p:spPr/>
        <p:txBody>
          <a:bodyPr/>
          <a:lstStyle/>
          <a:p>
            <a:pPr marL="457200" indent="-457200">
              <a:buFont typeface="+mj-lt"/>
              <a:buAutoNum type="arabicPeriod" startAt="3"/>
            </a:pPr>
            <a:r>
              <a:rPr lang="en-US" dirty="0">
                <a:solidFill>
                  <a:srgbClr val="FF0000"/>
                </a:solidFill>
              </a:rPr>
              <a:t>Discuss common medications used to treat coronary artery disease and related conditions</a:t>
            </a:r>
          </a:p>
          <a:p>
            <a:endParaRPr lang="en-US" dirty="0"/>
          </a:p>
          <a:p>
            <a:r>
              <a:rPr lang="en-US" dirty="0"/>
              <a:t>Define the following terms:</a:t>
            </a:r>
            <a:br>
              <a:rPr lang="en-US" dirty="0"/>
            </a:br>
            <a:endParaRPr lang="en-US" dirty="0"/>
          </a:p>
          <a:p>
            <a:r>
              <a:rPr lang="en-US" b="1" dirty="0"/>
              <a:t>cholesterol</a:t>
            </a:r>
          </a:p>
          <a:p>
            <a:pPr lvl="1"/>
            <a:r>
              <a:rPr lang="en-US" dirty="0"/>
              <a:t>a fat-like substance in the blood.</a:t>
            </a:r>
          </a:p>
          <a:p>
            <a:r>
              <a:rPr lang="en-US" b="1" dirty="0"/>
              <a:t>hypercholesterolemia</a:t>
            </a:r>
          </a:p>
          <a:p>
            <a:pPr lvl="1"/>
            <a:r>
              <a:rPr lang="en-US" dirty="0"/>
              <a:t>high cholesterol.</a:t>
            </a:r>
          </a:p>
          <a:p>
            <a:r>
              <a:rPr lang="en-US" b="1" dirty="0"/>
              <a:t>coronary artery disease (CAD)</a:t>
            </a:r>
          </a:p>
          <a:p>
            <a:pPr lvl="1"/>
            <a:r>
              <a:rPr lang="en-US" dirty="0"/>
              <a:t>condition caused by the narrowing of the coronary arteries.</a:t>
            </a:r>
          </a:p>
          <a:p>
            <a:r>
              <a:rPr lang="en-US" b="1" dirty="0"/>
              <a:t>angina</a:t>
            </a:r>
          </a:p>
          <a:p>
            <a:pPr lvl="1"/>
            <a:r>
              <a:rPr lang="en-US" dirty="0"/>
              <a:t>chest pain, pressure, or discomfort.</a:t>
            </a:r>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40976143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F475445B-5AB6-44F4-8112-3587AA2B416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43FE5409-E24A-584F-A6A6-3AF8940DAB80}"/>
              </a:ext>
            </a:extLst>
          </p:cNvPr>
          <p:cNvSpPr>
            <a:spLocks noGrp="1"/>
          </p:cNvSpPr>
          <p:nvPr>
            <p:ph type="title"/>
          </p:nvPr>
        </p:nvSpPr>
        <p:spPr/>
        <p:txBody>
          <a:bodyPr/>
          <a:lstStyle/>
          <a:p>
            <a:r>
              <a:rPr lang="en-US" dirty="0"/>
              <a:t>LO3, content 1</a:t>
            </a:r>
          </a:p>
        </p:txBody>
      </p:sp>
      <p:sp>
        <p:nvSpPr>
          <p:cNvPr id="2" name="Content Placeholder 1">
            <a:extLst>
              <a:ext uri="{FF2B5EF4-FFF2-40B4-BE49-F238E27FC236}">
                <a16:creationId xmlns:a16="http://schemas.microsoft.com/office/drawing/2014/main" id="{C4B13B96-2487-4C6C-88E9-51107D3F79FD}"/>
              </a:ext>
            </a:extLst>
          </p:cNvPr>
          <p:cNvSpPr>
            <a:spLocks noGrp="1"/>
          </p:cNvSpPr>
          <p:nvPr>
            <p:ph idx="1"/>
          </p:nvPr>
        </p:nvSpPr>
        <p:spPr/>
        <p:txBody>
          <a:bodyPr>
            <a:normAutofit/>
          </a:bodyPr>
          <a:lstStyle/>
          <a:p>
            <a:pPr marL="457200" indent="-457200">
              <a:buFont typeface="+mj-lt"/>
              <a:buAutoNum type="arabicPeriod" startAt="3"/>
            </a:pPr>
            <a:r>
              <a:rPr lang="en-US" dirty="0">
                <a:solidFill>
                  <a:srgbClr val="FF0000"/>
                </a:solidFill>
              </a:rPr>
              <a:t>Discuss common medications used to treat coronary artery disease and related conditions</a:t>
            </a:r>
          </a:p>
          <a:p>
            <a:endParaRPr lang="en-US" dirty="0"/>
          </a:p>
          <a:p>
            <a:r>
              <a:rPr lang="en-US" dirty="0"/>
              <a:t>Understand the following about treatment for hypercholesterolemia:</a:t>
            </a:r>
          </a:p>
          <a:p>
            <a:pPr marL="342900" indent="-342900">
              <a:buFont typeface="Arial" panose="020B0604020202020204" pitchFamily="34" charset="0"/>
              <a:buChar char="•"/>
            </a:pPr>
            <a:r>
              <a:rPr lang="en-US" dirty="0"/>
              <a:t>Statins are the drug class most commonly used to control cholesterol levels</a:t>
            </a:r>
          </a:p>
          <a:p>
            <a:pPr marL="800100" lvl="1" indent="-342900">
              <a:buFont typeface="Arial" panose="020B0604020202020204" pitchFamily="34" charset="0"/>
              <a:buChar char="•"/>
            </a:pPr>
            <a:r>
              <a:rPr lang="en-US" dirty="0"/>
              <a:t>These drugs can cause </a:t>
            </a:r>
            <a:r>
              <a:rPr lang="en-US" i="1" dirty="0"/>
              <a:t>rhabdomyolysis</a:t>
            </a:r>
            <a:r>
              <a:rPr lang="en-US" dirty="0"/>
              <a:t>, a breakdown of muscle that results in aches and weakness (rare)</a:t>
            </a:r>
          </a:p>
          <a:p>
            <a:pPr marL="800100" lvl="1" indent="-342900">
              <a:buFont typeface="Arial" panose="020B0604020202020204" pitchFamily="34" charset="0"/>
              <a:buChar char="•"/>
            </a:pPr>
            <a:r>
              <a:rPr lang="en-US" dirty="0"/>
              <a:t>Statins increase liver enzymes; contraindicated for anyone with liver disease or liver failure</a:t>
            </a:r>
          </a:p>
          <a:p>
            <a:pPr marL="800100" lvl="1" indent="-342900">
              <a:buFont typeface="Arial" panose="020B0604020202020204" pitchFamily="34" charset="0"/>
              <a:buChar char="•"/>
            </a:pPr>
            <a:r>
              <a:rPr lang="en-US" dirty="0"/>
              <a:t>Grapefruit juice increases the effects, which can lead to toxicity</a:t>
            </a:r>
          </a:p>
          <a:p>
            <a:endParaRPr lang="en-US" dirty="0">
              <a:solidFill>
                <a:srgbClr val="FF0000"/>
              </a:solidFill>
            </a:endParaRPr>
          </a:p>
        </p:txBody>
      </p:sp>
    </p:spTree>
    <p:extLst>
      <p:ext uri="{BB962C8B-B14F-4D97-AF65-F5344CB8AC3E}">
        <p14:creationId xmlns:p14="http://schemas.microsoft.com/office/powerpoint/2010/main" val="40413904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F475445B-5AB6-44F4-8112-3587AA2B416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43FE5409-E24A-584F-A6A6-3AF8940DAB80}"/>
              </a:ext>
            </a:extLst>
          </p:cNvPr>
          <p:cNvSpPr>
            <a:spLocks noGrp="1"/>
          </p:cNvSpPr>
          <p:nvPr>
            <p:ph type="title"/>
          </p:nvPr>
        </p:nvSpPr>
        <p:spPr/>
        <p:txBody>
          <a:bodyPr/>
          <a:lstStyle/>
          <a:p>
            <a:r>
              <a:rPr lang="en-US" dirty="0"/>
              <a:t>LO3, content 2</a:t>
            </a:r>
          </a:p>
        </p:txBody>
      </p:sp>
      <p:sp>
        <p:nvSpPr>
          <p:cNvPr id="2" name="Content Placeholder 1">
            <a:extLst>
              <a:ext uri="{FF2B5EF4-FFF2-40B4-BE49-F238E27FC236}">
                <a16:creationId xmlns:a16="http://schemas.microsoft.com/office/drawing/2014/main" id="{C4B13B96-2487-4C6C-88E9-51107D3F79FD}"/>
              </a:ext>
            </a:extLst>
          </p:cNvPr>
          <p:cNvSpPr>
            <a:spLocks noGrp="1"/>
          </p:cNvSpPr>
          <p:nvPr>
            <p:ph idx="1"/>
          </p:nvPr>
        </p:nvSpPr>
        <p:spPr/>
        <p:txBody>
          <a:bodyPr>
            <a:normAutofit/>
          </a:bodyPr>
          <a:lstStyle/>
          <a:p>
            <a:pPr marL="457200" indent="-457200">
              <a:buFont typeface="+mj-lt"/>
              <a:buAutoNum type="arabicPeriod" startAt="3"/>
            </a:pPr>
            <a:r>
              <a:rPr lang="en-US" dirty="0">
                <a:solidFill>
                  <a:srgbClr val="FF0000"/>
                </a:solidFill>
              </a:rPr>
              <a:t>Discuss common medications used to treat coronary artery disease and related conditions</a:t>
            </a:r>
          </a:p>
          <a:p>
            <a:endParaRPr lang="en-US" dirty="0"/>
          </a:p>
          <a:p>
            <a:r>
              <a:rPr lang="en-US" dirty="0"/>
              <a:t>Treatment for hypercholesterolemia (cont’d):</a:t>
            </a:r>
          </a:p>
          <a:p>
            <a:pPr marL="342900" indent="-342900">
              <a:buFont typeface="Arial" panose="020B0604020202020204" pitchFamily="34" charset="0"/>
              <a:buChar char="•"/>
            </a:pPr>
            <a:r>
              <a:rPr lang="en-US" dirty="0"/>
              <a:t>Ezetimibe prevents cholesterol from being absorbed in the small intestine; can cause muscle pain, joint pain, and diarrhea</a:t>
            </a:r>
          </a:p>
          <a:p>
            <a:pPr marL="342900" indent="-342900">
              <a:buFont typeface="Arial" panose="020B0604020202020204" pitchFamily="34" charset="0"/>
              <a:buChar char="•"/>
            </a:pPr>
            <a:r>
              <a:rPr lang="en-US" dirty="0"/>
              <a:t>Bile acid sequestrants disrupt body’s fat-absorbing process, lowering the amount of fat in the blood</a:t>
            </a:r>
          </a:p>
          <a:p>
            <a:pPr marL="800100" lvl="1" indent="-342900">
              <a:buFont typeface="Arial" panose="020B0604020202020204" pitchFamily="34" charset="0"/>
              <a:buChar char="•"/>
            </a:pPr>
            <a:r>
              <a:rPr lang="en-US" dirty="0"/>
              <a:t>Can cause constipation, abdominal pain, cramping, and bloating</a:t>
            </a:r>
          </a:p>
          <a:p>
            <a:pPr marL="800100" lvl="1" indent="-342900">
              <a:buFont typeface="Arial" panose="020B0604020202020204" pitchFamily="34" charset="0"/>
              <a:buChar char="•"/>
            </a:pPr>
            <a:r>
              <a:rPr lang="en-US" dirty="0"/>
              <a:t>Must not be administered with other oral medications</a:t>
            </a:r>
          </a:p>
          <a:p>
            <a:pPr marL="342900" indent="-342900">
              <a:buFont typeface="Arial" panose="020B0604020202020204" pitchFamily="34" charset="0"/>
              <a:buChar char="•"/>
            </a:pPr>
            <a:r>
              <a:rPr lang="en-US" dirty="0"/>
              <a:t>Fibrates decrease triglycerides, a type of fat in the bloodstream</a:t>
            </a:r>
          </a:p>
          <a:p>
            <a:pPr marL="800100" lvl="1" indent="-342900">
              <a:buFont typeface="Arial" panose="020B0604020202020204" pitchFamily="34" charset="0"/>
              <a:buChar char="•"/>
            </a:pPr>
            <a:r>
              <a:rPr lang="en-US" dirty="0"/>
              <a:t>Side effects include abdominal pain, indigestion, and increased liver enzymes</a:t>
            </a:r>
          </a:p>
          <a:p>
            <a:pPr marL="800100" lvl="1" indent="-342900">
              <a:buFont typeface="Arial" panose="020B0604020202020204" pitchFamily="34" charset="0"/>
              <a:buChar char="•"/>
            </a:pPr>
            <a:r>
              <a:rPr lang="en-US" dirty="0"/>
              <a:t>When taken with statin medications they increase the risk of muscle breakdown</a:t>
            </a:r>
          </a:p>
          <a:p>
            <a:endParaRPr lang="en-US" dirty="0"/>
          </a:p>
          <a:p>
            <a:endParaRPr lang="en-US" dirty="0">
              <a:solidFill>
                <a:srgbClr val="FF0000"/>
              </a:solidFill>
            </a:endParaRPr>
          </a:p>
        </p:txBody>
      </p:sp>
    </p:spTree>
    <p:extLst>
      <p:ext uri="{BB962C8B-B14F-4D97-AF65-F5344CB8AC3E}">
        <p14:creationId xmlns:p14="http://schemas.microsoft.com/office/powerpoint/2010/main" val="16996727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F475445B-5AB6-44F4-8112-3587AA2B416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43FE5409-E24A-584F-A6A6-3AF8940DAB80}"/>
              </a:ext>
            </a:extLst>
          </p:cNvPr>
          <p:cNvSpPr>
            <a:spLocks noGrp="1"/>
          </p:cNvSpPr>
          <p:nvPr>
            <p:ph type="title"/>
          </p:nvPr>
        </p:nvSpPr>
        <p:spPr/>
        <p:txBody>
          <a:bodyPr/>
          <a:lstStyle/>
          <a:p>
            <a:r>
              <a:rPr lang="en-US" dirty="0"/>
              <a:t>LO3, content 3</a:t>
            </a:r>
          </a:p>
        </p:txBody>
      </p:sp>
      <p:sp>
        <p:nvSpPr>
          <p:cNvPr id="2" name="Content Placeholder 1">
            <a:extLst>
              <a:ext uri="{FF2B5EF4-FFF2-40B4-BE49-F238E27FC236}">
                <a16:creationId xmlns:a16="http://schemas.microsoft.com/office/drawing/2014/main" id="{C4B13B96-2487-4C6C-88E9-51107D3F79FD}"/>
              </a:ext>
            </a:extLst>
          </p:cNvPr>
          <p:cNvSpPr>
            <a:spLocks noGrp="1"/>
          </p:cNvSpPr>
          <p:nvPr>
            <p:ph idx="1"/>
          </p:nvPr>
        </p:nvSpPr>
        <p:spPr/>
        <p:txBody>
          <a:bodyPr>
            <a:normAutofit/>
          </a:bodyPr>
          <a:lstStyle/>
          <a:p>
            <a:pPr marL="457200" indent="-457200">
              <a:buFont typeface="+mj-lt"/>
              <a:buAutoNum type="arabicPeriod" startAt="3"/>
            </a:pPr>
            <a:r>
              <a:rPr lang="en-US" dirty="0">
                <a:solidFill>
                  <a:srgbClr val="FF0000"/>
                </a:solidFill>
              </a:rPr>
              <a:t>Discuss common medications used to treat coronary artery disease and related conditions</a:t>
            </a:r>
          </a:p>
          <a:p>
            <a:endParaRPr lang="en-US" dirty="0"/>
          </a:p>
          <a:p>
            <a:r>
              <a:rPr lang="en-US" dirty="0"/>
              <a:t>Treatment for hypercholesterolemia (cont’d):</a:t>
            </a:r>
          </a:p>
          <a:p>
            <a:pPr marL="342900" indent="-342900">
              <a:buFont typeface="Arial" panose="020B0604020202020204" pitchFamily="34" charset="0"/>
              <a:buChar char="•"/>
            </a:pPr>
            <a:r>
              <a:rPr lang="en-US" dirty="0"/>
              <a:t>Niacin can decrease triglycerides and LDL cholesterol; fish oil (omega-3 fatty acid) can also reduce triglycerides</a:t>
            </a:r>
          </a:p>
          <a:p>
            <a:pPr marL="800100" lvl="1" indent="-342900">
              <a:buFont typeface="Arial" panose="020B0604020202020204" pitchFamily="34" charset="0"/>
              <a:buChar char="•"/>
            </a:pPr>
            <a:r>
              <a:rPr lang="en-US" dirty="0"/>
              <a:t>Niacin and fish oil supplements can have side effects and dangers, even though they occur naturally in foods</a:t>
            </a:r>
          </a:p>
          <a:p>
            <a:pPr marL="800100" lvl="1" indent="-342900">
              <a:buFont typeface="Arial" panose="020B0604020202020204" pitchFamily="34" charset="0"/>
              <a:buChar char="•"/>
            </a:pPr>
            <a:r>
              <a:rPr lang="en-US" dirty="0"/>
              <a:t>Niacin can elevate liver enzymes</a:t>
            </a:r>
          </a:p>
          <a:p>
            <a:pPr marL="800100" lvl="1" indent="-342900">
              <a:buFont typeface="Arial" panose="020B0604020202020204" pitchFamily="34" charset="0"/>
              <a:buChar char="•"/>
            </a:pPr>
            <a:r>
              <a:rPr lang="en-US" dirty="0"/>
              <a:t>Taken with a statin, high-dose niacin can cause muscle breakdown</a:t>
            </a:r>
          </a:p>
          <a:p>
            <a:pPr marL="800100" lvl="1" indent="-342900">
              <a:buFont typeface="Arial" panose="020B0604020202020204" pitchFamily="34" charset="0"/>
              <a:buChar char="•"/>
            </a:pPr>
            <a:r>
              <a:rPr lang="en-US" dirty="0"/>
              <a:t>Niacin can increase bleeding risk if taken with the anticoagulant warfarin</a:t>
            </a:r>
          </a:p>
          <a:p>
            <a:pPr marL="800100" lvl="1" indent="-342900">
              <a:buFont typeface="Arial" panose="020B0604020202020204" pitchFamily="34" charset="0"/>
              <a:buChar char="•"/>
            </a:pPr>
            <a:r>
              <a:rPr lang="en-US" dirty="0"/>
              <a:t>Fish oil can cause stomach discomfort, vomiting, and increased burping/flatulence</a:t>
            </a:r>
          </a:p>
          <a:p>
            <a:pPr marL="342900" indent="-342900">
              <a:buFont typeface="Arial" panose="020B0604020202020204" pitchFamily="34" charset="0"/>
              <a:buChar char="•"/>
            </a:pPr>
            <a:r>
              <a:rPr lang="en-US" dirty="0"/>
              <a:t>Table on textbook pp. 123–124 (or handout) details specific drugs</a:t>
            </a:r>
          </a:p>
          <a:p>
            <a:endParaRPr lang="en-US" dirty="0"/>
          </a:p>
          <a:p>
            <a:endParaRPr lang="en-US" dirty="0">
              <a:solidFill>
                <a:srgbClr val="FF0000"/>
              </a:solidFill>
            </a:endParaRPr>
          </a:p>
        </p:txBody>
      </p:sp>
    </p:spTree>
    <p:extLst>
      <p:ext uri="{BB962C8B-B14F-4D97-AF65-F5344CB8AC3E}">
        <p14:creationId xmlns:p14="http://schemas.microsoft.com/office/powerpoint/2010/main" val="18462347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F475445B-5AB6-44F4-8112-3587AA2B416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43FE5409-E24A-584F-A6A6-3AF8940DAB80}"/>
              </a:ext>
            </a:extLst>
          </p:cNvPr>
          <p:cNvSpPr>
            <a:spLocks noGrp="1"/>
          </p:cNvSpPr>
          <p:nvPr>
            <p:ph type="title"/>
          </p:nvPr>
        </p:nvSpPr>
        <p:spPr/>
        <p:txBody>
          <a:bodyPr/>
          <a:lstStyle/>
          <a:p>
            <a:r>
              <a:rPr lang="en-US" dirty="0"/>
              <a:t>LO3, content 4</a:t>
            </a:r>
          </a:p>
        </p:txBody>
      </p:sp>
      <p:sp>
        <p:nvSpPr>
          <p:cNvPr id="2" name="Content Placeholder 1">
            <a:extLst>
              <a:ext uri="{FF2B5EF4-FFF2-40B4-BE49-F238E27FC236}">
                <a16:creationId xmlns:a16="http://schemas.microsoft.com/office/drawing/2014/main" id="{C4B13B96-2487-4C6C-88E9-51107D3F79FD}"/>
              </a:ext>
            </a:extLst>
          </p:cNvPr>
          <p:cNvSpPr>
            <a:spLocks noGrp="1"/>
          </p:cNvSpPr>
          <p:nvPr>
            <p:ph idx="1"/>
          </p:nvPr>
        </p:nvSpPr>
        <p:spPr/>
        <p:txBody>
          <a:bodyPr>
            <a:normAutofit/>
          </a:bodyPr>
          <a:lstStyle/>
          <a:p>
            <a:pPr marL="457200" indent="-457200">
              <a:buFont typeface="+mj-lt"/>
              <a:buAutoNum type="arabicPeriod" startAt="3"/>
            </a:pPr>
            <a:r>
              <a:rPr lang="en-US" dirty="0">
                <a:solidFill>
                  <a:srgbClr val="FF0000"/>
                </a:solidFill>
              </a:rPr>
              <a:t>Discuss common medications used to treat coronary artery disease and related conditions</a:t>
            </a:r>
          </a:p>
          <a:p>
            <a:endParaRPr lang="en-US" dirty="0"/>
          </a:p>
          <a:p>
            <a:r>
              <a:rPr lang="en-US" dirty="0"/>
              <a:t>Understand the following about treatment for coronary artery disease:</a:t>
            </a:r>
          </a:p>
          <a:p>
            <a:pPr marL="342900" indent="-342900">
              <a:buFont typeface="Arial" panose="020B0604020202020204" pitchFamily="34" charset="0"/>
              <a:buChar char="•"/>
            </a:pPr>
            <a:r>
              <a:rPr lang="en-US" dirty="0"/>
              <a:t>Some of the drugs ordered for CAD are also used for other cardiac conditions</a:t>
            </a:r>
          </a:p>
          <a:p>
            <a:pPr marL="342900" indent="-342900">
              <a:buFont typeface="Arial" panose="020B0604020202020204" pitchFamily="34" charset="0"/>
              <a:buChar char="•"/>
            </a:pPr>
            <a:r>
              <a:rPr lang="en-US" dirty="0"/>
              <a:t>Statins are usually prescribed at higher doses for CAD than for high cholesterol</a:t>
            </a:r>
          </a:p>
          <a:p>
            <a:pPr marL="342900" indent="-342900">
              <a:buFont typeface="Arial" panose="020B0604020202020204" pitchFamily="34" charset="0"/>
              <a:buChar char="•"/>
            </a:pPr>
            <a:r>
              <a:rPr lang="en-US" dirty="0"/>
              <a:t>ACE inhibitors (antihypertensive medication) are also used for CAD</a:t>
            </a:r>
          </a:p>
          <a:p>
            <a:pPr marL="342900" indent="-342900">
              <a:buFont typeface="Arial" panose="020B0604020202020204" pitchFamily="34" charset="0"/>
              <a:buChar char="•"/>
            </a:pPr>
            <a:r>
              <a:rPr lang="en-US" dirty="0"/>
              <a:t>Antiplatelet agents (prevent the gathering or “clumping” of platelets) are often ordered; they can increase bleeding risk</a:t>
            </a:r>
          </a:p>
          <a:p>
            <a:pPr marL="342900" indent="-342900">
              <a:buFont typeface="Arial" panose="020B0604020202020204" pitchFamily="34" charset="0"/>
              <a:buChar char="•"/>
            </a:pPr>
            <a:r>
              <a:rPr lang="en-US" dirty="0"/>
              <a:t>Table on textbook pp. 124–125 (or handout) details specific drugs</a:t>
            </a:r>
          </a:p>
          <a:p>
            <a:endParaRPr lang="en-US" dirty="0">
              <a:solidFill>
                <a:srgbClr val="FF0000"/>
              </a:solidFill>
            </a:endParaRPr>
          </a:p>
        </p:txBody>
      </p:sp>
    </p:spTree>
    <p:extLst>
      <p:ext uri="{BB962C8B-B14F-4D97-AF65-F5344CB8AC3E}">
        <p14:creationId xmlns:p14="http://schemas.microsoft.com/office/powerpoint/2010/main" val="29898230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F475445B-5AB6-44F4-8112-3587AA2B416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43FE5409-E24A-584F-A6A6-3AF8940DAB80}"/>
              </a:ext>
            </a:extLst>
          </p:cNvPr>
          <p:cNvSpPr>
            <a:spLocks noGrp="1"/>
          </p:cNvSpPr>
          <p:nvPr>
            <p:ph type="title"/>
          </p:nvPr>
        </p:nvSpPr>
        <p:spPr/>
        <p:txBody>
          <a:bodyPr/>
          <a:lstStyle/>
          <a:p>
            <a:r>
              <a:rPr lang="en-US" dirty="0"/>
              <a:t>LO3, content 5</a:t>
            </a:r>
          </a:p>
        </p:txBody>
      </p:sp>
      <p:sp>
        <p:nvSpPr>
          <p:cNvPr id="2" name="Content Placeholder 1">
            <a:extLst>
              <a:ext uri="{FF2B5EF4-FFF2-40B4-BE49-F238E27FC236}">
                <a16:creationId xmlns:a16="http://schemas.microsoft.com/office/drawing/2014/main" id="{C4B13B96-2487-4C6C-88E9-51107D3F79FD}"/>
              </a:ext>
            </a:extLst>
          </p:cNvPr>
          <p:cNvSpPr>
            <a:spLocks noGrp="1"/>
          </p:cNvSpPr>
          <p:nvPr>
            <p:ph idx="1"/>
          </p:nvPr>
        </p:nvSpPr>
        <p:spPr/>
        <p:txBody>
          <a:bodyPr>
            <a:normAutofit/>
          </a:bodyPr>
          <a:lstStyle/>
          <a:p>
            <a:pPr marL="457200" indent="-457200">
              <a:buFont typeface="+mj-lt"/>
              <a:buAutoNum type="arabicPeriod" startAt="3"/>
            </a:pPr>
            <a:r>
              <a:rPr lang="en-US" dirty="0">
                <a:solidFill>
                  <a:srgbClr val="FF0000"/>
                </a:solidFill>
              </a:rPr>
              <a:t>Discuss common medications used to treat coronary artery disease and related conditions</a:t>
            </a:r>
          </a:p>
          <a:p>
            <a:endParaRPr lang="en-US" dirty="0"/>
          </a:p>
          <a:p>
            <a:r>
              <a:rPr lang="en-US" dirty="0"/>
              <a:t>Understand the following about treatment for angina:</a:t>
            </a:r>
          </a:p>
          <a:p>
            <a:pPr marL="342900" indent="-342900">
              <a:buFont typeface="Arial" panose="020B0604020202020204" pitchFamily="34" charset="0"/>
              <a:buChar char="•"/>
            </a:pPr>
            <a:r>
              <a:rPr lang="en-US" dirty="0"/>
              <a:t>Nitroglycerin (NTG) may be administered sublingually as a tablet or spray to relieve angina or it may be administered before activities that could cause angina</a:t>
            </a:r>
          </a:p>
          <a:p>
            <a:pPr marL="342900" indent="-342900">
              <a:buFont typeface="Arial" panose="020B0604020202020204" pitchFamily="34" charset="0"/>
              <a:buChar char="•"/>
            </a:pPr>
            <a:r>
              <a:rPr lang="en-US" dirty="0"/>
              <a:t>Antihypertensive medications can also be used to prevent or relieve angina (beta-blockers and calcium channel blockers)</a:t>
            </a:r>
          </a:p>
          <a:p>
            <a:pPr marL="342900" indent="-342900">
              <a:buFont typeface="Arial" panose="020B0604020202020204" pitchFamily="34" charset="0"/>
              <a:buChar char="•"/>
            </a:pPr>
            <a:r>
              <a:rPr lang="en-US" dirty="0"/>
              <a:t>Ranolazine is a medication that may be prescribed for angina if beta-blockers cannot be tolerated or are contraindicated</a:t>
            </a:r>
          </a:p>
          <a:p>
            <a:pPr marL="342900" indent="-342900">
              <a:buFont typeface="Arial" panose="020B0604020202020204" pitchFamily="34" charset="0"/>
              <a:buChar char="•"/>
            </a:pPr>
            <a:r>
              <a:rPr lang="en-US" dirty="0"/>
              <a:t>Table on textbook p. 125 (or handout) details other specific drugs</a:t>
            </a:r>
          </a:p>
          <a:p>
            <a:endParaRPr lang="en-US" dirty="0">
              <a:solidFill>
                <a:srgbClr val="FF0000"/>
              </a:solidFill>
            </a:endParaRPr>
          </a:p>
        </p:txBody>
      </p:sp>
    </p:spTree>
    <p:extLst>
      <p:ext uri="{BB962C8B-B14F-4D97-AF65-F5344CB8AC3E}">
        <p14:creationId xmlns:p14="http://schemas.microsoft.com/office/powerpoint/2010/main" val="36006965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F475445B-5AB6-44F4-8112-3587AA2B416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43FE5409-E24A-584F-A6A6-3AF8940DAB80}"/>
              </a:ext>
            </a:extLst>
          </p:cNvPr>
          <p:cNvSpPr>
            <a:spLocks noGrp="1"/>
          </p:cNvSpPr>
          <p:nvPr>
            <p:ph type="title"/>
          </p:nvPr>
        </p:nvSpPr>
        <p:spPr/>
        <p:txBody>
          <a:bodyPr/>
          <a:lstStyle/>
          <a:p>
            <a:r>
              <a:rPr lang="en-US" dirty="0"/>
              <a:t>LO3, content 6</a:t>
            </a:r>
          </a:p>
        </p:txBody>
      </p:sp>
      <p:sp>
        <p:nvSpPr>
          <p:cNvPr id="2" name="Content Placeholder 1">
            <a:extLst>
              <a:ext uri="{FF2B5EF4-FFF2-40B4-BE49-F238E27FC236}">
                <a16:creationId xmlns:a16="http://schemas.microsoft.com/office/drawing/2014/main" id="{C4B13B96-2487-4C6C-88E9-51107D3F79FD}"/>
              </a:ext>
            </a:extLst>
          </p:cNvPr>
          <p:cNvSpPr>
            <a:spLocks noGrp="1"/>
          </p:cNvSpPr>
          <p:nvPr>
            <p:ph idx="1"/>
          </p:nvPr>
        </p:nvSpPr>
        <p:spPr/>
        <p:txBody>
          <a:bodyPr>
            <a:normAutofit/>
          </a:bodyPr>
          <a:lstStyle/>
          <a:p>
            <a:pPr marL="457200" indent="-457200">
              <a:buFont typeface="+mj-lt"/>
              <a:buAutoNum type="arabicPeriod" startAt="3"/>
            </a:pPr>
            <a:r>
              <a:rPr lang="en-US" dirty="0">
                <a:solidFill>
                  <a:srgbClr val="FF0000"/>
                </a:solidFill>
              </a:rPr>
              <a:t>Discuss common medications used to treat coronary artery disease and related conditions</a:t>
            </a:r>
          </a:p>
          <a:p>
            <a:endParaRPr lang="en-US" dirty="0"/>
          </a:p>
          <a:p>
            <a:r>
              <a:rPr lang="en-US" dirty="0"/>
              <a:t>Understand the following about treatment for myocardial infarction:</a:t>
            </a:r>
          </a:p>
          <a:p>
            <a:pPr marL="342900" indent="-342900">
              <a:buFont typeface="Arial" panose="020B0604020202020204" pitchFamily="34" charset="0"/>
              <a:buChar char="•"/>
            </a:pPr>
            <a:r>
              <a:rPr lang="en-US" dirty="0"/>
              <a:t>Aspirin, oxygen, nitroglycerin, and morphine are medications commonly used in the treatment of MI in the acute phase (during hospital treatment)</a:t>
            </a:r>
          </a:p>
          <a:p>
            <a:pPr marL="342900" indent="-342900">
              <a:buFont typeface="Arial" panose="020B0604020202020204" pitchFamily="34" charset="0"/>
              <a:buChar char="•"/>
            </a:pPr>
            <a:r>
              <a:rPr lang="en-US" dirty="0"/>
              <a:t>After a heart attack, low-dose aspirin is usually continued</a:t>
            </a:r>
          </a:p>
          <a:p>
            <a:pPr marL="342900" indent="-342900">
              <a:buFont typeface="Arial" panose="020B0604020202020204" pitchFamily="34" charset="0"/>
              <a:buChar char="•"/>
            </a:pPr>
            <a:r>
              <a:rPr lang="en-US" dirty="0"/>
              <a:t>Beta-blockers, ACE inhibitors, antiplatelet agents, and statins are drug classes commonly prescribed after an MI</a:t>
            </a:r>
          </a:p>
          <a:p>
            <a:pPr marL="342900" indent="-342900">
              <a:buFont typeface="Arial" panose="020B0604020202020204" pitchFamily="34" charset="0"/>
              <a:buChar char="•"/>
            </a:pPr>
            <a:r>
              <a:rPr lang="en-US" dirty="0"/>
              <a:t>Table on textbook p. 126 (or handout) details specific drugs</a:t>
            </a:r>
          </a:p>
          <a:p>
            <a:endParaRPr lang="en-US" dirty="0">
              <a:solidFill>
                <a:srgbClr val="FF0000"/>
              </a:solidFill>
            </a:endParaRPr>
          </a:p>
        </p:txBody>
      </p:sp>
    </p:spTree>
    <p:extLst>
      <p:ext uri="{BB962C8B-B14F-4D97-AF65-F5344CB8AC3E}">
        <p14:creationId xmlns:p14="http://schemas.microsoft.com/office/powerpoint/2010/main" val="958673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F475445B-5AB6-44F4-8112-3587AA2B416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43FE5409-E24A-584F-A6A6-3AF8940DAB80}"/>
              </a:ext>
            </a:extLst>
          </p:cNvPr>
          <p:cNvSpPr>
            <a:spLocks noGrp="1"/>
          </p:cNvSpPr>
          <p:nvPr>
            <p:ph type="title"/>
          </p:nvPr>
        </p:nvSpPr>
        <p:spPr/>
        <p:txBody>
          <a:bodyPr/>
          <a:lstStyle/>
          <a:p>
            <a:r>
              <a:rPr lang="en-US" dirty="0"/>
              <a:t>LO3, content 7</a:t>
            </a:r>
          </a:p>
        </p:txBody>
      </p:sp>
      <p:sp>
        <p:nvSpPr>
          <p:cNvPr id="2" name="Content Placeholder 1">
            <a:extLst>
              <a:ext uri="{FF2B5EF4-FFF2-40B4-BE49-F238E27FC236}">
                <a16:creationId xmlns:a16="http://schemas.microsoft.com/office/drawing/2014/main" id="{C4B13B96-2487-4C6C-88E9-51107D3F79FD}"/>
              </a:ext>
            </a:extLst>
          </p:cNvPr>
          <p:cNvSpPr>
            <a:spLocks noGrp="1"/>
          </p:cNvSpPr>
          <p:nvPr>
            <p:ph idx="1"/>
          </p:nvPr>
        </p:nvSpPr>
        <p:spPr/>
        <p:txBody>
          <a:bodyPr>
            <a:normAutofit/>
          </a:bodyPr>
          <a:lstStyle/>
          <a:p>
            <a:pPr marL="457200" indent="-457200">
              <a:buFont typeface="+mj-lt"/>
              <a:buAutoNum type="arabicPeriod" startAt="3"/>
            </a:pPr>
            <a:r>
              <a:rPr lang="en-US" dirty="0">
                <a:solidFill>
                  <a:srgbClr val="FF0000"/>
                </a:solidFill>
              </a:rPr>
              <a:t>Discuss common medications used to treat coronary artery disease and related conditions</a:t>
            </a:r>
          </a:p>
          <a:p>
            <a:endParaRPr lang="en-US" dirty="0"/>
          </a:p>
          <a:p>
            <a:r>
              <a:rPr lang="en-US" dirty="0"/>
              <a:t>Care guidelines for high cholesterol, angina, and myocardial infarction include the following:</a:t>
            </a:r>
          </a:p>
          <a:p>
            <a:pPr marL="342900" indent="-342900">
              <a:buFont typeface="Arial" panose="020B0604020202020204" pitchFamily="34" charset="0"/>
              <a:buChar char="•"/>
            </a:pPr>
            <a:r>
              <a:rPr lang="en-US" dirty="0"/>
              <a:t>Encourage residents in healthy lifestyle changes. A diet low in saturated fats and sodium and rich in fruits, vegetables, and whole grains can improve heart health. Regular exercise is also important</a:t>
            </a:r>
          </a:p>
          <a:p>
            <a:pPr marL="342900" indent="-342900">
              <a:buFont typeface="Arial" panose="020B0604020202020204" pitchFamily="34" charset="0"/>
              <a:buChar char="•"/>
            </a:pPr>
            <a:r>
              <a:rPr lang="en-US" dirty="0"/>
              <a:t>Measure vital signs as ordered before administering medications that affect blood pressure or heart rate. Follow instructions on the MAR for holding medications if measurements are low</a:t>
            </a:r>
          </a:p>
          <a:p>
            <a:pPr marL="342900" indent="-342900">
              <a:buFont typeface="Arial" panose="020B0604020202020204" pitchFamily="34" charset="0"/>
              <a:buChar char="•"/>
            </a:pPr>
            <a:r>
              <a:rPr lang="en-US" dirty="0"/>
              <a:t>Remember that residents taking ACE inhibitors could experience angioedema. Observe for signs such as swelling of the tongue, face, and lips. Report immediately</a:t>
            </a:r>
          </a:p>
          <a:p>
            <a:pPr marL="342900" indent="-342900">
              <a:buFont typeface="Arial" panose="020B0604020202020204" pitchFamily="34" charset="0"/>
              <a:buChar char="•"/>
            </a:pPr>
            <a:r>
              <a:rPr lang="en-US" dirty="0"/>
              <a:t>NTG may be administered every 5 minutes for up to 15 minutes as needed. Get help immediately if angina does not resolve within 15 minutes</a:t>
            </a:r>
          </a:p>
          <a:p>
            <a:pPr marL="342900" indent="-342900">
              <a:buFont typeface="Arial" panose="020B0604020202020204" pitchFamily="34" charset="0"/>
              <a:buChar char="•"/>
            </a:pPr>
            <a:r>
              <a:rPr lang="en-US" dirty="0"/>
              <a:t>Do not give NSAIDs to a resident who has had an MI. They are associated with increased risk of cardiac incidents and stroke.</a:t>
            </a:r>
          </a:p>
          <a:p>
            <a:endParaRPr lang="en-US" dirty="0">
              <a:solidFill>
                <a:srgbClr val="FF0000"/>
              </a:solidFill>
            </a:endParaRPr>
          </a:p>
        </p:txBody>
      </p:sp>
    </p:spTree>
    <p:extLst>
      <p:ext uri="{BB962C8B-B14F-4D97-AF65-F5344CB8AC3E}">
        <p14:creationId xmlns:p14="http://schemas.microsoft.com/office/powerpoint/2010/main" val="12516523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F475445B-5AB6-44F4-8112-3587AA2B416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542BC8B9-843F-FE45-9888-6165DB7A6A19}"/>
              </a:ext>
            </a:extLst>
          </p:cNvPr>
          <p:cNvSpPr>
            <a:spLocks noGrp="1"/>
          </p:cNvSpPr>
          <p:nvPr>
            <p:ph type="title"/>
          </p:nvPr>
        </p:nvSpPr>
        <p:spPr/>
        <p:txBody>
          <a:bodyPr/>
          <a:lstStyle/>
          <a:p>
            <a:r>
              <a:rPr lang="en-US" dirty="0"/>
              <a:t>LO4, key terms </a:t>
            </a:r>
          </a:p>
        </p:txBody>
      </p:sp>
      <p:sp>
        <p:nvSpPr>
          <p:cNvPr id="2" name="Content Placeholder 1">
            <a:extLst>
              <a:ext uri="{FF2B5EF4-FFF2-40B4-BE49-F238E27FC236}">
                <a16:creationId xmlns:a16="http://schemas.microsoft.com/office/drawing/2014/main" id="{C4B13B96-2487-4C6C-88E9-51107D3F79FD}"/>
              </a:ext>
            </a:extLst>
          </p:cNvPr>
          <p:cNvSpPr>
            <a:spLocks noGrp="1"/>
          </p:cNvSpPr>
          <p:nvPr>
            <p:ph idx="1"/>
          </p:nvPr>
        </p:nvSpPr>
        <p:spPr/>
        <p:txBody>
          <a:bodyPr/>
          <a:lstStyle/>
          <a:p>
            <a:pPr marL="457200" indent="-457200">
              <a:buFont typeface="+mj-lt"/>
              <a:buAutoNum type="arabicPeriod" startAt="4"/>
            </a:pPr>
            <a:r>
              <a:rPr lang="en-US" dirty="0">
                <a:solidFill>
                  <a:srgbClr val="FF0000"/>
                </a:solidFill>
              </a:rPr>
              <a:t>Discuss common medications used to treat heart failure and dysrhythmia</a:t>
            </a:r>
          </a:p>
          <a:p>
            <a:endParaRPr lang="en-US" dirty="0"/>
          </a:p>
          <a:p>
            <a:r>
              <a:rPr lang="en-US" dirty="0"/>
              <a:t>Define the following terms: </a:t>
            </a:r>
          </a:p>
          <a:p>
            <a:endParaRPr lang="en-US" dirty="0"/>
          </a:p>
          <a:p>
            <a:r>
              <a:rPr lang="en-US" b="1" dirty="0"/>
              <a:t>congestive heart failure</a:t>
            </a:r>
          </a:p>
          <a:p>
            <a:pPr lvl="1"/>
            <a:r>
              <a:rPr lang="en-US" dirty="0"/>
              <a:t>a condition in which the heart muscle is damaged and is no longer able to pump effectively.</a:t>
            </a:r>
          </a:p>
          <a:p>
            <a:r>
              <a:rPr lang="en-US" b="1" dirty="0"/>
              <a:t>dysrhythmia</a:t>
            </a:r>
          </a:p>
          <a:p>
            <a:pPr lvl="1"/>
            <a:r>
              <a:rPr lang="en-US" dirty="0"/>
              <a:t>difficult or abnormal heart rhythm; sometimes called </a:t>
            </a:r>
            <a:r>
              <a:rPr lang="en-US" i="1" dirty="0"/>
              <a:t>arrhythmia.</a:t>
            </a:r>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25226281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F475445B-5AB6-44F4-8112-3587AA2B416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5A3B4FCA-3B8B-8643-9E16-05E3C1AC19A5}"/>
              </a:ext>
            </a:extLst>
          </p:cNvPr>
          <p:cNvSpPr>
            <a:spLocks noGrp="1"/>
          </p:cNvSpPr>
          <p:nvPr>
            <p:ph type="title"/>
          </p:nvPr>
        </p:nvSpPr>
        <p:spPr/>
        <p:txBody>
          <a:bodyPr/>
          <a:lstStyle/>
          <a:p>
            <a:r>
              <a:rPr lang="en-US" dirty="0"/>
              <a:t>LO4, content 1</a:t>
            </a:r>
          </a:p>
        </p:txBody>
      </p:sp>
      <p:sp>
        <p:nvSpPr>
          <p:cNvPr id="2" name="Content Placeholder 1">
            <a:extLst>
              <a:ext uri="{FF2B5EF4-FFF2-40B4-BE49-F238E27FC236}">
                <a16:creationId xmlns:a16="http://schemas.microsoft.com/office/drawing/2014/main" id="{C4B13B96-2487-4C6C-88E9-51107D3F79FD}"/>
              </a:ext>
            </a:extLst>
          </p:cNvPr>
          <p:cNvSpPr>
            <a:spLocks noGrp="1"/>
          </p:cNvSpPr>
          <p:nvPr>
            <p:ph idx="1"/>
          </p:nvPr>
        </p:nvSpPr>
        <p:spPr/>
        <p:txBody>
          <a:bodyPr>
            <a:normAutofit/>
          </a:bodyPr>
          <a:lstStyle/>
          <a:p>
            <a:pPr marL="457200" indent="-457200">
              <a:buFont typeface="+mj-lt"/>
              <a:buAutoNum type="arabicPeriod" startAt="4"/>
            </a:pPr>
            <a:r>
              <a:rPr lang="en-US" dirty="0">
                <a:solidFill>
                  <a:srgbClr val="FF0000"/>
                </a:solidFill>
              </a:rPr>
              <a:t>Discuss common medications used to treat heart failure and dysrhythmia</a:t>
            </a:r>
          </a:p>
          <a:p>
            <a:endParaRPr lang="en-US" dirty="0"/>
          </a:p>
          <a:p>
            <a:r>
              <a:rPr lang="en-US" dirty="0"/>
              <a:t>Understand the following about treatment for congestive heart failure (CHF):</a:t>
            </a:r>
          </a:p>
          <a:p>
            <a:pPr marL="342900" indent="-342900">
              <a:buFont typeface="Arial" panose="020B0604020202020204" pitchFamily="34" charset="0"/>
              <a:buChar char="•"/>
            </a:pPr>
            <a:r>
              <a:rPr lang="en-US" dirty="0"/>
              <a:t>Many drugs for heart failure are also used for other cardiac conditions. These medications often used to treat hypertension are also prescribed to treat CHF:</a:t>
            </a:r>
          </a:p>
          <a:p>
            <a:pPr marL="800100" lvl="1" indent="-342900">
              <a:buFont typeface="Arial" panose="020B0604020202020204" pitchFamily="34" charset="0"/>
              <a:buChar char="•"/>
            </a:pPr>
            <a:r>
              <a:rPr lang="en-US" dirty="0"/>
              <a:t>Diuretics, including a stronger class of diuretics called </a:t>
            </a:r>
            <a:r>
              <a:rPr lang="en-US" i="1" dirty="0"/>
              <a:t>loop diuretics</a:t>
            </a:r>
            <a:endParaRPr lang="en-US" dirty="0"/>
          </a:p>
          <a:p>
            <a:pPr marL="800100" lvl="1" indent="-342900">
              <a:buFont typeface="Arial" panose="020B0604020202020204" pitchFamily="34" charset="0"/>
              <a:buChar char="•"/>
            </a:pPr>
            <a:r>
              <a:rPr lang="en-US" dirty="0"/>
              <a:t>ACE inhibitors</a:t>
            </a:r>
          </a:p>
          <a:p>
            <a:pPr marL="800100" lvl="1" indent="-342900">
              <a:buFont typeface="Arial" panose="020B0604020202020204" pitchFamily="34" charset="0"/>
              <a:buChar char="•"/>
            </a:pPr>
            <a:r>
              <a:rPr lang="en-US" dirty="0"/>
              <a:t>ARBs</a:t>
            </a:r>
          </a:p>
          <a:p>
            <a:pPr marL="800100" lvl="1" indent="-342900">
              <a:buFont typeface="Arial" panose="020B0604020202020204" pitchFamily="34" charset="0"/>
              <a:buChar char="•"/>
            </a:pPr>
            <a:r>
              <a:rPr lang="en-US" dirty="0"/>
              <a:t>Beta-blockers</a:t>
            </a:r>
          </a:p>
          <a:p>
            <a:pPr marL="342900" indent="-342900">
              <a:buFont typeface="Arial" panose="020B0604020202020204" pitchFamily="34" charset="0"/>
              <a:buChar char="•"/>
            </a:pPr>
            <a:r>
              <a:rPr lang="en-US" dirty="0"/>
              <a:t>Medications that dilate (widen) the blood vessels may be ordered; this reduces the amount of work the heart has to do</a:t>
            </a:r>
          </a:p>
          <a:p>
            <a:pPr marL="800100" lvl="1" indent="-342900">
              <a:buFont typeface="Arial" panose="020B0604020202020204" pitchFamily="34" charset="0"/>
              <a:buChar char="•"/>
            </a:pPr>
            <a:r>
              <a:rPr lang="en-US" dirty="0"/>
              <a:t>Can cause headache, low blood pressure, heart palpitations (racing, fluttering heart)</a:t>
            </a:r>
          </a:p>
          <a:p>
            <a:endParaRPr lang="en-US" dirty="0">
              <a:solidFill>
                <a:srgbClr val="FF0000"/>
              </a:solidFill>
            </a:endParaRPr>
          </a:p>
        </p:txBody>
      </p:sp>
    </p:spTree>
    <p:extLst>
      <p:ext uri="{BB962C8B-B14F-4D97-AF65-F5344CB8AC3E}">
        <p14:creationId xmlns:p14="http://schemas.microsoft.com/office/powerpoint/2010/main" val="8742613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475445B-5AB6-44F4-8112-3587AA2B416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5A3B4FCA-3B8B-8643-9E16-05E3C1AC19A5}"/>
              </a:ext>
            </a:extLst>
          </p:cNvPr>
          <p:cNvSpPr>
            <a:spLocks noGrp="1"/>
          </p:cNvSpPr>
          <p:nvPr>
            <p:ph type="title"/>
          </p:nvPr>
        </p:nvSpPr>
        <p:spPr/>
        <p:txBody>
          <a:bodyPr/>
          <a:lstStyle/>
          <a:p>
            <a:r>
              <a:rPr lang="en-US" dirty="0"/>
              <a:t>LO4, content 2</a:t>
            </a:r>
          </a:p>
        </p:txBody>
      </p:sp>
      <p:sp>
        <p:nvSpPr>
          <p:cNvPr id="2" name="Content Placeholder 1">
            <a:extLst>
              <a:ext uri="{FF2B5EF4-FFF2-40B4-BE49-F238E27FC236}">
                <a16:creationId xmlns:a16="http://schemas.microsoft.com/office/drawing/2014/main" id="{C4B13B96-2487-4C6C-88E9-51107D3F79FD}"/>
              </a:ext>
            </a:extLst>
          </p:cNvPr>
          <p:cNvSpPr>
            <a:spLocks noGrp="1"/>
          </p:cNvSpPr>
          <p:nvPr>
            <p:ph idx="1"/>
          </p:nvPr>
        </p:nvSpPr>
        <p:spPr/>
        <p:txBody>
          <a:bodyPr>
            <a:normAutofit/>
          </a:bodyPr>
          <a:lstStyle/>
          <a:p>
            <a:pPr marL="457200" indent="-457200">
              <a:buFont typeface="+mj-lt"/>
              <a:buAutoNum type="arabicPeriod" startAt="4"/>
            </a:pPr>
            <a:r>
              <a:rPr lang="en-US" dirty="0">
                <a:solidFill>
                  <a:srgbClr val="FF0000"/>
                </a:solidFill>
              </a:rPr>
              <a:t>Discuss common medications used to treat heart failure and dysrhythmia</a:t>
            </a:r>
          </a:p>
          <a:p>
            <a:endParaRPr lang="en-US" dirty="0"/>
          </a:p>
          <a:p>
            <a:r>
              <a:rPr lang="en-US" dirty="0"/>
              <a:t>Treatment for CHF (cont’d):</a:t>
            </a:r>
          </a:p>
          <a:p>
            <a:pPr marL="342900" indent="-342900">
              <a:buFont typeface="Arial" panose="020B0604020202020204" pitchFamily="34" charset="0"/>
              <a:buChar char="•"/>
            </a:pPr>
            <a:r>
              <a:rPr lang="en-US" dirty="0"/>
              <a:t>Digoxin (</a:t>
            </a:r>
            <a:r>
              <a:rPr lang="en-US" dirty="0" err="1"/>
              <a:t>Digitek</a:t>
            </a:r>
            <a:r>
              <a:rPr lang="en-US" dirty="0"/>
              <a:t>, Lanoxin) strengthens and regulates the heartbeat, helping it to work more effectively</a:t>
            </a:r>
          </a:p>
          <a:p>
            <a:pPr marL="800100" lvl="1" indent="-342900">
              <a:buFont typeface="Arial" panose="020B0604020202020204" pitchFamily="34" charset="0"/>
              <a:buChar char="•"/>
            </a:pPr>
            <a:r>
              <a:rPr lang="en-US" dirty="0"/>
              <a:t>Side effects include dizziness, headache, nausea, vomiting, diarrhea</a:t>
            </a:r>
          </a:p>
          <a:p>
            <a:pPr marL="800100" lvl="1" indent="-342900">
              <a:buFont typeface="Arial" panose="020B0604020202020204" pitchFamily="34" charset="0"/>
              <a:buChar char="•"/>
            </a:pPr>
            <a:r>
              <a:rPr lang="en-US" dirty="0"/>
              <a:t>Medication has a narrow therapeutic range, so levels need to be monitored to ensure safe and effective dose</a:t>
            </a:r>
          </a:p>
          <a:p>
            <a:pPr marL="342900" indent="-342900">
              <a:buFont typeface="Arial" panose="020B0604020202020204" pitchFamily="34" charset="0"/>
              <a:buChar char="•"/>
            </a:pPr>
            <a:r>
              <a:rPr lang="en-US" dirty="0"/>
              <a:t>Table on textbook p. 127 (or handout) details other specific drugs</a:t>
            </a:r>
          </a:p>
          <a:p>
            <a:endParaRPr lang="en-US" dirty="0">
              <a:solidFill>
                <a:srgbClr val="FF0000"/>
              </a:solidFill>
            </a:endParaRPr>
          </a:p>
        </p:txBody>
      </p:sp>
    </p:spTree>
    <p:extLst>
      <p:ext uri="{BB962C8B-B14F-4D97-AF65-F5344CB8AC3E}">
        <p14:creationId xmlns:p14="http://schemas.microsoft.com/office/powerpoint/2010/main" val="40068445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F475445B-5AB6-44F4-8112-3587AA2B416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5A3B4FCA-3B8B-8643-9E16-05E3C1AC19A5}"/>
              </a:ext>
            </a:extLst>
          </p:cNvPr>
          <p:cNvSpPr>
            <a:spLocks noGrp="1"/>
          </p:cNvSpPr>
          <p:nvPr>
            <p:ph type="title"/>
          </p:nvPr>
        </p:nvSpPr>
        <p:spPr/>
        <p:txBody>
          <a:bodyPr/>
          <a:lstStyle/>
          <a:p>
            <a:r>
              <a:rPr lang="en-US" dirty="0"/>
              <a:t>LO4, content 3</a:t>
            </a:r>
          </a:p>
        </p:txBody>
      </p:sp>
      <p:sp>
        <p:nvSpPr>
          <p:cNvPr id="2" name="Content Placeholder 1">
            <a:extLst>
              <a:ext uri="{FF2B5EF4-FFF2-40B4-BE49-F238E27FC236}">
                <a16:creationId xmlns:a16="http://schemas.microsoft.com/office/drawing/2014/main" id="{C4B13B96-2487-4C6C-88E9-51107D3F79FD}"/>
              </a:ext>
            </a:extLst>
          </p:cNvPr>
          <p:cNvSpPr>
            <a:spLocks noGrp="1"/>
          </p:cNvSpPr>
          <p:nvPr>
            <p:ph idx="1"/>
          </p:nvPr>
        </p:nvSpPr>
        <p:spPr/>
        <p:txBody>
          <a:bodyPr>
            <a:normAutofit/>
          </a:bodyPr>
          <a:lstStyle/>
          <a:p>
            <a:pPr marL="457200" indent="-457200">
              <a:buFont typeface="+mj-lt"/>
              <a:buAutoNum type="arabicPeriod" startAt="4"/>
            </a:pPr>
            <a:r>
              <a:rPr lang="en-US" dirty="0">
                <a:solidFill>
                  <a:srgbClr val="FF0000"/>
                </a:solidFill>
              </a:rPr>
              <a:t>Discuss common medications used to treat heart failure and dysrhythmia</a:t>
            </a:r>
          </a:p>
          <a:p>
            <a:endParaRPr lang="en-US" dirty="0"/>
          </a:p>
          <a:p>
            <a:r>
              <a:rPr lang="en-US" dirty="0"/>
              <a:t>Understand the following about treatment for dysrhythmias (e.g., atrial fibrillation):</a:t>
            </a:r>
          </a:p>
          <a:p>
            <a:pPr marL="342900" indent="-342900">
              <a:buFont typeface="Arial" panose="020B0604020202020204" pitchFamily="34" charset="0"/>
              <a:buChar char="•"/>
            </a:pPr>
            <a:r>
              <a:rPr lang="en-US" dirty="0"/>
              <a:t>Antiarrhythmic agents help the heart beat with a more regular rate and rhythm</a:t>
            </a:r>
          </a:p>
          <a:p>
            <a:pPr marL="800100" lvl="1" indent="-342900">
              <a:buFont typeface="Arial" panose="020B0604020202020204" pitchFamily="34" charset="0"/>
              <a:buChar char="•"/>
            </a:pPr>
            <a:r>
              <a:rPr lang="en-US" dirty="0"/>
              <a:t>Digoxin (</a:t>
            </a:r>
            <a:r>
              <a:rPr lang="en-US" dirty="0" err="1"/>
              <a:t>Digitek</a:t>
            </a:r>
            <a:r>
              <a:rPr lang="en-US" dirty="0"/>
              <a:t>, Lanoxin) is effective but must be monitored carefully</a:t>
            </a:r>
          </a:p>
          <a:p>
            <a:pPr marL="800100" lvl="1" indent="-342900">
              <a:buFont typeface="Arial" panose="020B0604020202020204" pitchFamily="34" charset="0"/>
              <a:buChar char="•"/>
            </a:pPr>
            <a:r>
              <a:rPr lang="en-US" dirty="0"/>
              <a:t>Amiodarone is also used to control heart rhythm; can cause hypotension, slow heart rate, nausea, and vomiting. In severe cases can cause liver toxicity</a:t>
            </a:r>
          </a:p>
          <a:p>
            <a:pPr marL="342900" indent="-342900">
              <a:buFont typeface="Arial" panose="020B0604020202020204" pitchFamily="34" charset="0"/>
              <a:buChar char="•"/>
            </a:pPr>
            <a:r>
              <a:rPr lang="en-US" dirty="0"/>
              <a:t>Some antihypertensives can also regulate heart rate/rhythm:</a:t>
            </a:r>
          </a:p>
          <a:p>
            <a:pPr marL="800100" lvl="1" indent="-342900">
              <a:buFont typeface="Arial" panose="020B0604020202020204" pitchFamily="34" charset="0"/>
              <a:buChar char="•"/>
            </a:pPr>
            <a:r>
              <a:rPr lang="en-US" dirty="0"/>
              <a:t>Calcium channel blockers</a:t>
            </a:r>
          </a:p>
          <a:p>
            <a:pPr marL="800100" lvl="1" indent="-342900">
              <a:buFont typeface="Arial" panose="020B0604020202020204" pitchFamily="34" charset="0"/>
              <a:buChar char="•"/>
            </a:pPr>
            <a:r>
              <a:rPr lang="en-US" dirty="0"/>
              <a:t>Beta-blockers</a:t>
            </a:r>
          </a:p>
          <a:p>
            <a:pPr marL="342900" indent="-342900">
              <a:buFont typeface="Arial" panose="020B0604020202020204" pitchFamily="34" charset="0"/>
              <a:buChar char="•"/>
            </a:pPr>
            <a:r>
              <a:rPr lang="en-US" dirty="0"/>
              <a:t>Table on textbook p. 128 (or handout) details specific drugs</a:t>
            </a:r>
          </a:p>
          <a:p>
            <a:endParaRPr lang="en-US" dirty="0">
              <a:solidFill>
                <a:srgbClr val="FF0000"/>
              </a:solidFill>
            </a:endParaRPr>
          </a:p>
        </p:txBody>
      </p:sp>
    </p:spTree>
    <p:extLst>
      <p:ext uri="{BB962C8B-B14F-4D97-AF65-F5344CB8AC3E}">
        <p14:creationId xmlns:p14="http://schemas.microsoft.com/office/powerpoint/2010/main" val="6351597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F475445B-5AB6-44F4-8112-3587AA2B416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5A3B4FCA-3B8B-8643-9E16-05E3C1AC19A5}"/>
              </a:ext>
            </a:extLst>
          </p:cNvPr>
          <p:cNvSpPr>
            <a:spLocks noGrp="1"/>
          </p:cNvSpPr>
          <p:nvPr>
            <p:ph type="title"/>
          </p:nvPr>
        </p:nvSpPr>
        <p:spPr/>
        <p:txBody>
          <a:bodyPr/>
          <a:lstStyle/>
          <a:p>
            <a:r>
              <a:rPr lang="en-US" dirty="0"/>
              <a:t>LO4, content 4</a:t>
            </a:r>
          </a:p>
        </p:txBody>
      </p:sp>
      <p:sp>
        <p:nvSpPr>
          <p:cNvPr id="2" name="Content Placeholder 1">
            <a:extLst>
              <a:ext uri="{FF2B5EF4-FFF2-40B4-BE49-F238E27FC236}">
                <a16:creationId xmlns:a16="http://schemas.microsoft.com/office/drawing/2014/main" id="{C4B13B96-2487-4C6C-88E9-51107D3F79FD}"/>
              </a:ext>
            </a:extLst>
          </p:cNvPr>
          <p:cNvSpPr>
            <a:spLocks noGrp="1"/>
          </p:cNvSpPr>
          <p:nvPr>
            <p:ph idx="1"/>
          </p:nvPr>
        </p:nvSpPr>
        <p:spPr/>
        <p:txBody>
          <a:bodyPr>
            <a:normAutofit/>
          </a:bodyPr>
          <a:lstStyle/>
          <a:p>
            <a:pPr marL="457200" indent="-457200">
              <a:buFont typeface="+mj-lt"/>
              <a:buAutoNum type="arabicPeriod" startAt="4"/>
            </a:pPr>
            <a:r>
              <a:rPr lang="en-US" dirty="0">
                <a:solidFill>
                  <a:srgbClr val="FF0000"/>
                </a:solidFill>
              </a:rPr>
              <a:t>Discuss common medications used to treat heart failure and dysrhythmia</a:t>
            </a:r>
          </a:p>
          <a:p>
            <a:endParaRPr lang="en-US" dirty="0"/>
          </a:p>
          <a:p>
            <a:r>
              <a:rPr lang="en-US" dirty="0"/>
              <a:t>Care guidelines for congestive heart failure and dysrhythmia include the following:</a:t>
            </a:r>
          </a:p>
          <a:p>
            <a:pPr marL="342900" indent="-342900">
              <a:buFont typeface="Arial" panose="020B0604020202020204" pitchFamily="34" charset="0"/>
              <a:buChar char="•"/>
            </a:pPr>
            <a:r>
              <a:rPr lang="en-US" dirty="0"/>
              <a:t>Always check vital signs and weight as ordered. Follow instructions on the MAR for holding medications based on measurements</a:t>
            </a:r>
          </a:p>
          <a:p>
            <a:pPr marL="342900" indent="-342900">
              <a:buFont typeface="Arial" panose="020B0604020202020204" pitchFamily="34" charset="0"/>
              <a:buChar char="•"/>
            </a:pPr>
            <a:r>
              <a:rPr lang="en-US" dirty="0"/>
              <a:t>Combining loop diuretics and NSAIDs increases the resident’s risk of kidney injury and failure. These medications should not be taken together</a:t>
            </a:r>
          </a:p>
          <a:p>
            <a:pPr marL="342900" indent="-342900">
              <a:buFont typeface="Arial" panose="020B0604020202020204" pitchFamily="34" charset="0"/>
              <a:buChar char="•"/>
            </a:pPr>
            <a:r>
              <a:rPr lang="en-US" dirty="0"/>
              <a:t>Ensure that residents receive ordered diuretics early in the day (per resident’s MAR) to decrease sleep disturbances due to increased urination</a:t>
            </a:r>
          </a:p>
          <a:p>
            <a:endParaRPr lang="en-US" dirty="0">
              <a:solidFill>
                <a:srgbClr val="FF0000"/>
              </a:solidFill>
            </a:endParaRPr>
          </a:p>
        </p:txBody>
      </p:sp>
    </p:spTree>
    <p:extLst>
      <p:ext uri="{BB962C8B-B14F-4D97-AF65-F5344CB8AC3E}">
        <p14:creationId xmlns:p14="http://schemas.microsoft.com/office/powerpoint/2010/main" val="7741251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F475445B-5AB6-44F4-8112-3587AA2B416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D4A2F6F4-D387-DC4B-9E35-A2E03DB1CF57}"/>
              </a:ext>
            </a:extLst>
          </p:cNvPr>
          <p:cNvSpPr>
            <a:spLocks noGrp="1"/>
          </p:cNvSpPr>
          <p:nvPr>
            <p:ph type="title"/>
          </p:nvPr>
        </p:nvSpPr>
        <p:spPr/>
        <p:txBody>
          <a:bodyPr/>
          <a:lstStyle/>
          <a:p>
            <a:r>
              <a:rPr lang="en-US" dirty="0"/>
              <a:t>LO5, key terms </a:t>
            </a:r>
          </a:p>
        </p:txBody>
      </p:sp>
      <p:sp>
        <p:nvSpPr>
          <p:cNvPr id="2" name="Content Placeholder 1">
            <a:extLst>
              <a:ext uri="{FF2B5EF4-FFF2-40B4-BE49-F238E27FC236}">
                <a16:creationId xmlns:a16="http://schemas.microsoft.com/office/drawing/2014/main" id="{C4B13B96-2487-4C6C-88E9-51107D3F79FD}"/>
              </a:ext>
            </a:extLst>
          </p:cNvPr>
          <p:cNvSpPr>
            <a:spLocks noGrp="1"/>
          </p:cNvSpPr>
          <p:nvPr>
            <p:ph idx="1"/>
          </p:nvPr>
        </p:nvSpPr>
        <p:spPr/>
        <p:txBody>
          <a:bodyPr>
            <a:normAutofit/>
          </a:bodyPr>
          <a:lstStyle/>
          <a:p>
            <a:pPr marL="457200" indent="-457200">
              <a:buFont typeface="+mj-lt"/>
              <a:buAutoNum type="arabicPeriod" startAt="5"/>
            </a:pPr>
            <a:r>
              <a:rPr lang="en-US" dirty="0">
                <a:solidFill>
                  <a:srgbClr val="FF0000"/>
                </a:solidFill>
              </a:rPr>
              <a:t>Discuss common medications used to treat conditions related to the blood</a:t>
            </a:r>
          </a:p>
          <a:p>
            <a:endParaRPr lang="en-US" dirty="0"/>
          </a:p>
          <a:p>
            <a:r>
              <a:rPr lang="en-US" dirty="0"/>
              <a:t>Define the following terms:</a:t>
            </a:r>
            <a:br>
              <a:rPr lang="en-US" dirty="0"/>
            </a:br>
            <a:endParaRPr lang="en-US" dirty="0"/>
          </a:p>
          <a:p>
            <a:r>
              <a:rPr lang="en-US" b="1" dirty="0"/>
              <a:t>iron-deficiency anemia</a:t>
            </a:r>
          </a:p>
          <a:p>
            <a:pPr lvl="1"/>
            <a:r>
              <a:rPr lang="en-US" dirty="0"/>
              <a:t>condition in which the blood has too few red blood cells or too little hemoglobin.</a:t>
            </a:r>
          </a:p>
          <a:p>
            <a:r>
              <a:rPr lang="en-US" b="1" dirty="0"/>
              <a:t>thrombophlebitis</a:t>
            </a:r>
          </a:p>
          <a:p>
            <a:pPr lvl="1"/>
            <a:r>
              <a:rPr lang="en-US" dirty="0"/>
              <a:t>a general medical term for the inflammation of a vein caused by a blood clot.</a:t>
            </a:r>
          </a:p>
          <a:p>
            <a:r>
              <a:rPr lang="en-US" b="1" dirty="0"/>
              <a:t>deep vein thrombosis</a:t>
            </a:r>
          </a:p>
          <a:p>
            <a:pPr lvl="1"/>
            <a:r>
              <a:rPr lang="en-US" dirty="0"/>
              <a:t>condition in which a blood clot forms deep under the skin, usually in the legs.</a:t>
            </a:r>
          </a:p>
          <a:p>
            <a:endParaRPr lang="en-US" dirty="0"/>
          </a:p>
          <a:p>
            <a:endParaRPr lang="en-US" dirty="0">
              <a:solidFill>
                <a:srgbClr val="FF0000"/>
              </a:solidFill>
            </a:endParaRPr>
          </a:p>
        </p:txBody>
      </p:sp>
    </p:spTree>
    <p:extLst>
      <p:ext uri="{BB962C8B-B14F-4D97-AF65-F5344CB8AC3E}">
        <p14:creationId xmlns:p14="http://schemas.microsoft.com/office/powerpoint/2010/main" val="16401696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F475445B-5AB6-44F4-8112-3587AA2B416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878A605C-6AEC-1F4C-99BF-1B0B15DF1295}"/>
              </a:ext>
            </a:extLst>
          </p:cNvPr>
          <p:cNvSpPr>
            <a:spLocks noGrp="1"/>
          </p:cNvSpPr>
          <p:nvPr>
            <p:ph type="title"/>
          </p:nvPr>
        </p:nvSpPr>
        <p:spPr/>
        <p:txBody>
          <a:bodyPr/>
          <a:lstStyle/>
          <a:p>
            <a:r>
              <a:rPr lang="en-US" dirty="0"/>
              <a:t>LO5, content 1</a:t>
            </a:r>
          </a:p>
        </p:txBody>
      </p:sp>
      <p:sp>
        <p:nvSpPr>
          <p:cNvPr id="2" name="Content Placeholder 1">
            <a:extLst>
              <a:ext uri="{FF2B5EF4-FFF2-40B4-BE49-F238E27FC236}">
                <a16:creationId xmlns:a16="http://schemas.microsoft.com/office/drawing/2014/main" id="{C4B13B96-2487-4C6C-88E9-51107D3F79FD}"/>
              </a:ext>
            </a:extLst>
          </p:cNvPr>
          <p:cNvSpPr>
            <a:spLocks noGrp="1"/>
          </p:cNvSpPr>
          <p:nvPr>
            <p:ph idx="1"/>
          </p:nvPr>
        </p:nvSpPr>
        <p:spPr/>
        <p:txBody>
          <a:bodyPr>
            <a:normAutofit/>
          </a:bodyPr>
          <a:lstStyle/>
          <a:p>
            <a:pPr marL="457200" indent="-457200">
              <a:buFont typeface="+mj-lt"/>
              <a:buAutoNum type="arabicPeriod" startAt="5"/>
            </a:pPr>
            <a:r>
              <a:rPr lang="en-US" dirty="0">
                <a:solidFill>
                  <a:srgbClr val="FF0000"/>
                </a:solidFill>
              </a:rPr>
              <a:t>Discuss common medications used to treat conditions related to the blood</a:t>
            </a:r>
          </a:p>
          <a:p>
            <a:endParaRPr lang="en-US" dirty="0"/>
          </a:p>
          <a:p>
            <a:r>
              <a:rPr lang="en-US" dirty="0"/>
              <a:t>Understand the following about treatment for iron-deficiency anemia:</a:t>
            </a:r>
          </a:p>
          <a:p>
            <a:pPr marL="342900" indent="-342900">
              <a:buFont typeface="Arial" panose="020B0604020202020204" pitchFamily="34" charset="0"/>
              <a:buChar char="•"/>
            </a:pPr>
            <a:r>
              <a:rPr lang="en-US" dirty="0"/>
              <a:t>Doctor will first rule out internal bleeding as a cause</a:t>
            </a:r>
          </a:p>
          <a:p>
            <a:pPr marL="342900" indent="-342900">
              <a:buFont typeface="Arial" panose="020B0604020202020204" pitchFamily="34" charset="0"/>
              <a:buChar char="•"/>
            </a:pPr>
            <a:r>
              <a:rPr lang="en-US" dirty="0"/>
              <a:t>Intravenous iron infusion may be ordered in severe cases</a:t>
            </a:r>
          </a:p>
          <a:p>
            <a:pPr marL="342900" indent="-342900">
              <a:buFont typeface="Arial" panose="020B0604020202020204" pitchFamily="34" charset="0"/>
              <a:buChar char="•"/>
            </a:pPr>
            <a:r>
              <a:rPr lang="en-US" dirty="0"/>
              <a:t>Oral iron is used in addition to infusion or (for milder cases) on its own</a:t>
            </a:r>
          </a:p>
          <a:p>
            <a:pPr marL="800100" lvl="1" indent="-342900">
              <a:buFont typeface="Arial" panose="020B0604020202020204" pitchFamily="34" charset="0"/>
              <a:buChar char="•"/>
            </a:pPr>
            <a:r>
              <a:rPr lang="en-US" dirty="0"/>
              <a:t>Can cause constipation (stool softener may be ordered)</a:t>
            </a:r>
          </a:p>
          <a:p>
            <a:pPr marL="800100" lvl="1" indent="-342900">
              <a:buFont typeface="Arial" panose="020B0604020202020204" pitchFamily="34" charset="0"/>
              <a:buChar char="•"/>
            </a:pPr>
            <a:r>
              <a:rPr lang="en-US" dirty="0"/>
              <a:t>Stools will be dark in color</a:t>
            </a:r>
          </a:p>
          <a:p>
            <a:pPr marL="800100" lvl="1" indent="-342900">
              <a:buFont typeface="Arial" panose="020B0604020202020204" pitchFamily="34" charset="0"/>
              <a:buChar char="•"/>
            </a:pPr>
            <a:r>
              <a:rPr lang="en-US" dirty="0"/>
              <a:t>Can also cause nausea and stomach upset</a:t>
            </a:r>
          </a:p>
          <a:p>
            <a:pPr marL="800100" lvl="1" indent="-342900">
              <a:buFont typeface="Arial" panose="020B0604020202020204" pitchFamily="34" charset="0"/>
              <a:buChar char="•"/>
            </a:pPr>
            <a:r>
              <a:rPr lang="en-US" dirty="0"/>
              <a:t>Can be taken with or without food, but should not be taken with cereals, tea, coffee, milk, eggs, or high-fiber foods</a:t>
            </a:r>
          </a:p>
          <a:p>
            <a:pPr marL="800100" lvl="1" indent="-342900">
              <a:buFont typeface="Arial" panose="020B0604020202020204" pitchFamily="34" charset="0"/>
              <a:buChar char="•"/>
            </a:pPr>
            <a:r>
              <a:rPr lang="en-US" dirty="0"/>
              <a:t>Vitamin C improves absorption</a:t>
            </a:r>
          </a:p>
          <a:p>
            <a:pPr marL="342900" indent="-342900">
              <a:buFont typeface="Arial" panose="020B0604020202020204" pitchFamily="34" charset="0"/>
              <a:buChar char="•"/>
            </a:pPr>
            <a:r>
              <a:rPr lang="en-US" dirty="0"/>
              <a:t>Table on textbook p. 128 (or handout) details specific drugs</a:t>
            </a:r>
          </a:p>
          <a:p>
            <a:endParaRPr lang="en-US" dirty="0"/>
          </a:p>
          <a:p>
            <a:endParaRPr lang="en-US" dirty="0">
              <a:solidFill>
                <a:srgbClr val="FF0000"/>
              </a:solidFill>
            </a:endParaRPr>
          </a:p>
        </p:txBody>
      </p:sp>
    </p:spTree>
    <p:extLst>
      <p:ext uri="{BB962C8B-B14F-4D97-AF65-F5344CB8AC3E}">
        <p14:creationId xmlns:p14="http://schemas.microsoft.com/office/powerpoint/2010/main" val="28942851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F475445B-5AB6-44F4-8112-3587AA2B416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878A605C-6AEC-1F4C-99BF-1B0B15DF1295}"/>
              </a:ext>
            </a:extLst>
          </p:cNvPr>
          <p:cNvSpPr>
            <a:spLocks noGrp="1"/>
          </p:cNvSpPr>
          <p:nvPr>
            <p:ph type="title"/>
          </p:nvPr>
        </p:nvSpPr>
        <p:spPr/>
        <p:txBody>
          <a:bodyPr/>
          <a:lstStyle/>
          <a:p>
            <a:r>
              <a:rPr lang="en-US" dirty="0"/>
              <a:t>LO5, content 2</a:t>
            </a:r>
          </a:p>
        </p:txBody>
      </p:sp>
      <p:sp>
        <p:nvSpPr>
          <p:cNvPr id="2" name="Content Placeholder 1">
            <a:extLst>
              <a:ext uri="{FF2B5EF4-FFF2-40B4-BE49-F238E27FC236}">
                <a16:creationId xmlns:a16="http://schemas.microsoft.com/office/drawing/2014/main" id="{C4B13B96-2487-4C6C-88E9-51107D3F79FD}"/>
              </a:ext>
            </a:extLst>
          </p:cNvPr>
          <p:cNvSpPr>
            <a:spLocks noGrp="1"/>
          </p:cNvSpPr>
          <p:nvPr>
            <p:ph idx="1"/>
          </p:nvPr>
        </p:nvSpPr>
        <p:spPr/>
        <p:txBody>
          <a:bodyPr>
            <a:normAutofit/>
          </a:bodyPr>
          <a:lstStyle/>
          <a:p>
            <a:pPr marL="457200" indent="-457200">
              <a:buFont typeface="+mj-lt"/>
              <a:buAutoNum type="arabicPeriod" startAt="5"/>
            </a:pPr>
            <a:r>
              <a:rPr lang="en-US" dirty="0">
                <a:solidFill>
                  <a:srgbClr val="FF0000"/>
                </a:solidFill>
              </a:rPr>
              <a:t>Discuss common medications used to treat conditions related to the blood</a:t>
            </a:r>
          </a:p>
          <a:p>
            <a:endParaRPr lang="en-US" dirty="0"/>
          </a:p>
          <a:p>
            <a:r>
              <a:rPr lang="en-US" dirty="0"/>
              <a:t>Understand the following about treatment for superficial thrombophlebitis:</a:t>
            </a:r>
          </a:p>
          <a:p>
            <a:pPr marL="342900" indent="-342900">
              <a:buFont typeface="Arial" panose="020B0604020202020204" pitchFamily="34" charset="0"/>
              <a:buChar char="•"/>
            </a:pPr>
            <a:r>
              <a:rPr lang="en-US" dirty="0"/>
              <a:t>May be treated with the application of special bandages or stockings that compress the affected body part</a:t>
            </a:r>
          </a:p>
          <a:p>
            <a:pPr marL="342900" indent="-342900">
              <a:buFont typeface="Arial" panose="020B0604020202020204" pitchFamily="34" charset="0"/>
              <a:buChar char="•"/>
            </a:pPr>
            <a:r>
              <a:rPr lang="en-US" dirty="0"/>
              <a:t>Pain and discomfort can be managed with NSAIDs unless contraindicated (or with acetaminophen)</a:t>
            </a:r>
          </a:p>
          <a:p>
            <a:pPr marL="342900" indent="-342900">
              <a:buFont typeface="Arial" panose="020B0604020202020204" pitchFamily="34" charset="0"/>
              <a:buChar char="•"/>
            </a:pPr>
            <a:r>
              <a:rPr lang="en-US" dirty="0"/>
              <a:t>Movement and avoiding long periods of bed rest can prevent formation of deeper clots</a:t>
            </a:r>
          </a:p>
          <a:p>
            <a:pPr marL="342900" indent="-342900">
              <a:buFont typeface="Arial" panose="020B0604020202020204" pitchFamily="34" charset="0"/>
              <a:buChar char="•"/>
            </a:pPr>
            <a:r>
              <a:rPr lang="en-US" dirty="0"/>
              <a:t>Antibiotic treatment may be required if infection develops</a:t>
            </a:r>
          </a:p>
          <a:p>
            <a:pPr marL="342900" indent="-342900">
              <a:buFont typeface="Arial" panose="020B0604020202020204" pitchFamily="34" charset="0"/>
              <a:buChar char="•"/>
            </a:pPr>
            <a:r>
              <a:rPr lang="en-US" dirty="0"/>
              <a:t>Table on textbook p. 128 (or handout) details specific drugs</a:t>
            </a:r>
          </a:p>
          <a:p>
            <a:endParaRPr lang="en-US" dirty="0"/>
          </a:p>
          <a:p>
            <a:endParaRPr lang="en-US" dirty="0">
              <a:solidFill>
                <a:srgbClr val="FF0000"/>
              </a:solidFill>
            </a:endParaRPr>
          </a:p>
        </p:txBody>
      </p:sp>
    </p:spTree>
    <p:extLst>
      <p:ext uri="{BB962C8B-B14F-4D97-AF65-F5344CB8AC3E}">
        <p14:creationId xmlns:p14="http://schemas.microsoft.com/office/powerpoint/2010/main" val="24682379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F475445B-5AB6-44F4-8112-3587AA2B416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878A605C-6AEC-1F4C-99BF-1B0B15DF1295}"/>
              </a:ext>
            </a:extLst>
          </p:cNvPr>
          <p:cNvSpPr>
            <a:spLocks noGrp="1"/>
          </p:cNvSpPr>
          <p:nvPr>
            <p:ph type="title"/>
          </p:nvPr>
        </p:nvSpPr>
        <p:spPr/>
        <p:txBody>
          <a:bodyPr/>
          <a:lstStyle/>
          <a:p>
            <a:r>
              <a:rPr lang="en-US" dirty="0"/>
              <a:t>LO5, content 3</a:t>
            </a:r>
          </a:p>
        </p:txBody>
      </p:sp>
      <p:sp>
        <p:nvSpPr>
          <p:cNvPr id="2" name="Content Placeholder 1">
            <a:extLst>
              <a:ext uri="{FF2B5EF4-FFF2-40B4-BE49-F238E27FC236}">
                <a16:creationId xmlns:a16="http://schemas.microsoft.com/office/drawing/2014/main" id="{C4B13B96-2487-4C6C-88E9-51107D3F79FD}"/>
              </a:ext>
            </a:extLst>
          </p:cNvPr>
          <p:cNvSpPr>
            <a:spLocks noGrp="1"/>
          </p:cNvSpPr>
          <p:nvPr>
            <p:ph idx="1"/>
          </p:nvPr>
        </p:nvSpPr>
        <p:spPr/>
        <p:txBody>
          <a:bodyPr>
            <a:normAutofit/>
          </a:bodyPr>
          <a:lstStyle/>
          <a:p>
            <a:pPr marL="457200" indent="-457200">
              <a:buFont typeface="+mj-lt"/>
              <a:buAutoNum type="arabicPeriod" startAt="5"/>
            </a:pPr>
            <a:r>
              <a:rPr lang="en-US" dirty="0">
                <a:solidFill>
                  <a:srgbClr val="FF0000"/>
                </a:solidFill>
              </a:rPr>
              <a:t>Discuss common medications used to treat conditions related to the blood</a:t>
            </a:r>
          </a:p>
          <a:p>
            <a:endParaRPr lang="en-US" dirty="0"/>
          </a:p>
          <a:p>
            <a:r>
              <a:rPr lang="en-US" dirty="0"/>
              <a:t>Understand the following about treatment for deep vein thrombosis:</a:t>
            </a:r>
          </a:p>
          <a:p>
            <a:pPr marL="342900" indent="-342900">
              <a:buFont typeface="Arial" panose="020B0604020202020204" pitchFamily="34" charset="0"/>
              <a:buChar char="•"/>
            </a:pPr>
            <a:r>
              <a:rPr lang="en-US" dirty="0"/>
              <a:t>Anticoagulants are used to treat DVT</a:t>
            </a:r>
          </a:p>
          <a:p>
            <a:pPr marL="342900" indent="-342900">
              <a:buFont typeface="Arial" panose="020B0604020202020204" pitchFamily="34" charset="0"/>
              <a:buChar char="•"/>
            </a:pPr>
            <a:r>
              <a:rPr lang="en-US" dirty="0"/>
              <a:t>Heparin is an anticoagulant used for initial treatment (usually by IV or subcutaneous injection)</a:t>
            </a:r>
          </a:p>
          <a:p>
            <a:pPr marL="342900" indent="-342900">
              <a:buFont typeface="Arial" panose="020B0604020202020204" pitchFamily="34" charset="0"/>
              <a:buChar char="•"/>
            </a:pPr>
            <a:r>
              <a:rPr lang="en-US" dirty="0"/>
              <a:t>Oral anticoagulants are ordered for either a limited time or (if risk of repeat DVT is high) on an ongoing basis</a:t>
            </a:r>
          </a:p>
          <a:p>
            <a:pPr marL="342900" indent="-342900">
              <a:buFont typeface="Arial" panose="020B0604020202020204" pitchFamily="34" charset="0"/>
              <a:buChar char="•"/>
            </a:pPr>
            <a:r>
              <a:rPr lang="en-US" dirty="0"/>
              <a:t>Anticoagulants may be ordered after surgery since immobility increases blood clotting risk</a:t>
            </a:r>
          </a:p>
          <a:p>
            <a:pPr marL="342900" indent="-342900">
              <a:buFont typeface="Arial" panose="020B0604020202020204" pitchFamily="34" charset="0"/>
              <a:buChar char="•"/>
            </a:pPr>
            <a:r>
              <a:rPr lang="en-US" dirty="0"/>
              <a:t>Warfarin (coumadin) is a vitamin K antagonist anticoagulant</a:t>
            </a:r>
          </a:p>
          <a:p>
            <a:pPr marL="800100" lvl="1" indent="-342900">
              <a:buFont typeface="Arial" panose="020B0604020202020204" pitchFamily="34" charset="0"/>
              <a:buChar char="•"/>
            </a:pPr>
            <a:r>
              <a:rPr lang="en-US" dirty="0"/>
              <a:t>Vitamin K is necessary for blood clotting. Warfarin works against its effects</a:t>
            </a:r>
          </a:p>
          <a:p>
            <a:pPr marL="800100" lvl="1" indent="-342900">
              <a:buFont typeface="Arial" panose="020B0604020202020204" pitchFamily="34" charset="0"/>
              <a:buChar char="•"/>
            </a:pPr>
            <a:r>
              <a:rPr lang="en-US" dirty="0"/>
              <a:t>Residents taking warfarin must keep their consumption of vitamin K-rich foods constant from day to day (green, leafy vegetables are a common source)</a:t>
            </a:r>
          </a:p>
          <a:p>
            <a:pPr marL="800100" lvl="1" indent="-342900">
              <a:buFont typeface="Arial" panose="020B0604020202020204" pitchFamily="34" charset="0"/>
              <a:buChar char="•"/>
            </a:pPr>
            <a:r>
              <a:rPr lang="en-US" dirty="0"/>
              <a:t>Regular blood testing by finger stick is required; warfarin has a narrow therapeutic range</a:t>
            </a:r>
          </a:p>
          <a:p>
            <a:endParaRPr lang="en-US" dirty="0">
              <a:solidFill>
                <a:srgbClr val="FF0000"/>
              </a:solidFill>
            </a:endParaRPr>
          </a:p>
        </p:txBody>
      </p:sp>
    </p:spTree>
    <p:extLst>
      <p:ext uri="{BB962C8B-B14F-4D97-AF65-F5344CB8AC3E}">
        <p14:creationId xmlns:p14="http://schemas.microsoft.com/office/powerpoint/2010/main" val="38150743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F475445B-5AB6-44F4-8112-3587AA2B416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878A605C-6AEC-1F4C-99BF-1B0B15DF1295}"/>
              </a:ext>
            </a:extLst>
          </p:cNvPr>
          <p:cNvSpPr>
            <a:spLocks noGrp="1"/>
          </p:cNvSpPr>
          <p:nvPr>
            <p:ph type="title"/>
          </p:nvPr>
        </p:nvSpPr>
        <p:spPr/>
        <p:txBody>
          <a:bodyPr/>
          <a:lstStyle/>
          <a:p>
            <a:r>
              <a:rPr lang="en-US" dirty="0"/>
              <a:t>LO5, content 4</a:t>
            </a:r>
          </a:p>
        </p:txBody>
      </p:sp>
      <p:sp>
        <p:nvSpPr>
          <p:cNvPr id="2" name="Content Placeholder 1">
            <a:extLst>
              <a:ext uri="{FF2B5EF4-FFF2-40B4-BE49-F238E27FC236}">
                <a16:creationId xmlns:a16="http://schemas.microsoft.com/office/drawing/2014/main" id="{C4B13B96-2487-4C6C-88E9-51107D3F79FD}"/>
              </a:ext>
            </a:extLst>
          </p:cNvPr>
          <p:cNvSpPr>
            <a:spLocks noGrp="1"/>
          </p:cNvSpPr>
          <p:nvPr>
            <p:ph idx="1"/>
          </p:nvPr>
        </p:nvSpPr>
        <p:spPr/>
        <p:txBody>
          <a:bodyPr>
            <a:normAutofit/>
          </a:bodyPr>
          <a:lstStyle/>
          <a:p>
            <a:pPr marL="457200" indent="-457200">
              <a:buFont typeface="+mj-lt"/>
              <a:buAutoNum type="arabicPeriod" startAt="5"/>
            </a:pPr>
            <a:r>
              <a:rPr lang="en-US" dirty="0">
                <a:solidFill>
                  <a:srgbClr val="FF0000"/>
                </a:solidFill>
              </a:rPr>
              <a:t>Discuss common medications used to treat conditions related to the blood</a:t>
            </a:r>
          </a:p>
          <a:p>
            <a:endParaRPr lang="en-US" dirty="0"/>
          </a:p>
          <a:p>
            <a:r>
              <a:rPr lang="en-US" dirty="0"/>
              <a:t>Treatment for deep vein thrombosis (cont’d):</a:t>
            </a:r>
          </a:p>
          <a:p>
            <a:pPr marL="342900" indent="-342900">
              <a:buFont typeface="Arial" panose="020B0604020202020204" pitchFamily="34" charset="0"/>
              <a:buChar char="•"/>
            </a:pPr>
            <a:r>
              <a:rPr lang="en-US" dirty="0"/>
              <a:t>Direct oral anticoagulants are newer drugs that require less monitoring and do not require dietary adjustments</a:t>
            </a:r>
          </a:p>
          <a:p>
            <a:pPr marL="342900" indent="-342900">
              <a:buFont typeface="Arial" panose="020B0604020202020204" pitchFamily="34" charset="0"/>
              <a:buChar char="•"/>
            </a:pPr>
            <a:r>
              <a:rPr lang="en-US" dirty="0"/>
              <a:t>All anticoagulants carry a risk of increased bleeding</a:t>
            </a:r>
          </a:p>
          <a:p>
            <a:pPr marL="342900" indent="-342900">
              <a:buFont typeface="Arial" panose="020B0604020202020204" pitchFamily="34" charset="0"/>
              <a:buChar char="•"/>
            </a:pPr>
            <a:r>
              <a:rPr lang="en-US" dirty="0"/>
              <a:t>Antiplatelet agents are not commonly prescribed for clots in the veins. They are used to prevent arterial clots caused when blood pools in the heart (as it may with dysrhythmia)</a:t>
            </a:r>
          </a:p>
          <a:p>
            <a:pPr marL="342900" indent="-342900">
              <a:buFont typeface="Arial" panose="020B0604020202020204" pitchFamily="34" charset="0"/>
              <a:buChar char="•"/>
            </a:pPr>
            <a:r>
              <a:rPr lang="en-US" dirty="0"/>
              <a:t>Table on textbook p. 129 (or handout) details other specific drugs</a:t>
            </a:r>
          </a:p>
          <a:p>
            <a:endParaRPr lang="en-US" dirty="0">
              <a:solidFill>
                <a:srgbClr val="FF0000"/>
              </a:solidFill>
            </a:endParaRPr>
          </a:p>
        </p:txBody>
      </p:sp>
    </p:spTree>
    <p:extLst>
      <p:ext uri="{BB962C8B-B14F-4D97-AF65-F5344CB8AC3E}">
        <p14:creationId xmlns:p14="http://schemas.microsoft.com/office/powerpoint/2010/main" val="24116585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475445B-5AB6-44F4-8112-3587AA2B416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4" name="Title 3">
            <a:extLst>
              <a:ext uri="{FF2B5EF4-FFF2-40B4-BE49-F238E27FC236}">
                <a16:creationId xmlns:a16="http://schemas.microsoft.com/office/drawing/2014/main" id="{878A605C-6AEC-1F4C-99BF-1B0B15DF1295}"/>
              </a:ext>
            </a:extLst>
          </p:cNvPr>
          <p:cNvSpPr>
            <a:spLocks noGrp="1"/>
          </p:cNvSpPr>
          <p:nvPr>
            <p:ph type="title"/>
          </p:nvPr>
        </p:nvSpPr>
        <p:spPr/>
        <p:txBody>
          <a:bodyPr/>
          <a:lstStyle/>
          <a:p>
            <a:r>
              <a:rPr lang="en-US" dirty="0"/>
              <a:t>LO5, content 5</a:t>
            </a:r>
          </a:p>
        </p:txBody>
      </p:sp>
      <p:sp>
        <p:nvSpPr>
          <p:cNvPr id="2" name="Content Placeholder 1">
            <a:extLst>
              <a:ext uri="{FF2B5EF4-FFF2-40B4-BE49-F238E27FC236}">
                <a16:creationId xmlns:a16="http://schemas.microsoft.com/office/drawing/2014/main" id="{C4B13B96-2487-4C6C-88E9-51107D3F79FD}"/>
              </a:ext>
            </a:extLst>
          </p:cNvPr>
          <p:cNvSpPr>
            <a:spLocks noGrp="1"/>
          </p:cNvSpPr>
          <p:nvPr>
            <p:ph idx="1"/>
          </p:nvPr>
        </p:nvSpPr>
        <p:spPr/>
        <p:txBody>
          <a:bodyPr>
            <a:normAutofit/>
          </a:bodyPr>
          <a:lstStyle/>
          <a:p>
            <a:pPr marL="457200" indent="-457200">
              <a:buFont typeface="+mj-lt"/>
              <a:buAutoNum type="arabicPeriod" startAt="5"/>
            </a:pPr>
            <a:r>
              <a:rPr lang="en-US" dirty="0">
                <a:solidFill>
                  <a:srgbClr val="FF0000"/>
                </a:solidFill>
              </a:rPr>
              <a:t>Discuss common medications used to treat conditions related to the blood</a:t>
            </a:r>
          </a:p>
          <a:p>
            <a:endParaRPr lang="en-US" dirty="0"/>
          </a:p>
          <a:p>
            <a:r>
              <a:rPr lang="en-US" dirty="0"/>
              <a:t>Care guidelines for blood-related conditions include the following:</a:t>
            </a:r>
          </a:p>
          <a:p>
            <a:pPr marL="342900" indent="-342900">
              <a:buFont typeface="Arial" panose="020B0604020202020204" pitchFamily="34" charset="0"/>
              <a:buChar char="•"/>
            </a:pPr>
            <a:r>
              <a:rPr lang="en-US" dirty="0"/>
              <a:t>Report any gastrointestinal symptoms experienced by residents taking oral iron</a:t>
            </a:r>
          </a:p>
          <a:p>
            <a:pPr marL="342900" indent="-342900">
              <a:buFont typeface="Arial" panose="020B0604020202020204" pitchFamily="34" charset="0"/>
              <a:buChar char="•"/>
            </a:pPr>
            <a:r>
              <a:rPr lang="en-US" dirty="0"/>
              <a:t>Follow any instructions in the MAR regarding iron administration and diet restrictions</a:t>
            </a:r>
          </a:p>
          <a:p>
            <a:pPr marL="342900" indent="-342900">
              <a:buFont typeface="Arial" panose="020B0604020202020204" pitchFamily="34" charset="0"/>
              <a:buChar char="•"/>
            </a:pPr>
            <a:r>
              <a:rPr lang="en-US" dirty="0"/>
              <a:t>Observe carefully for signs of increased bleeding in residents taking anticoagulants</a:t>
            </a:r>
          </a:p>
          <a:p>
            <a:pPr marL="342900" indent="-342900">
              <a:buFont typeface="Arial" panose="020B0604020202020204" pitchFamily="34" charset="0"/>
              <a:buChar char="•"/>
            </a:pPr>
            <a:r>
              <a:rPr lang="en-US" dirty="0"/>
              <a:t>Be aware that falls can be especially dangerous for residents taking anticoagulants. Injury to the head can cause bleeding inside the skull</a:t>
            </a:r>
          </a:p>
          <a:p>
            <a:pPr marL="342900" indent="-342900">
              <a:buFont typeface="Arial" panose="020B0604020202020204" pitchFamily="34" charset="0"/>
              <a:buChar char="•"/>
            </a:pPr>
            <a:r>
              <a:rPr lang="en-US" dirty="0"/>
              <a:t>NSAIDs (including aspirin) are contraindicated for residents taking anticoagulants. Acetaminophen should be ordered instead</a:t>
            </a:r>
          </a:p>
          <a:p>
            <a:endParaRPr lang="en-US" dirty="0">
              <a:solidFill>
                <a:srgbClr val="FF0000"/>
              </a:solidFill>
            </a:endParaRPr>
          </a:p>
        </p:txBody>
      </p:sp>
    </p:spTree>
    <p:extLst>
      <p:ext uri="{BB962C8B-B14F-4D97-AF65-F5344CB8AC3E}">
        <p14:creationId xmlns:p14="http://schemas.microsoft.com/office/powerpoint/2010/main" val="28565260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25263165"/>
      </p:ext>
    </p:extLst>
  </p:cSld>
  <p:clrMapOvr>
    <a:masterClrMapping/>
  </p:clrMapOvr>
</p:sld>
</file>

<file path=ppt/theme/theme1.xml><?xml version="1.0" encoding="utf-8"?>
<a:theme xmlns:a="http://schemas.openxmlformats.org/drawingml/2006/main" name="1_Office Theme">
  <a:themeElements>
    <a:clrScheme name="Custom 1">
      <a:dk1>
        <a:sysClr val="windowText" lastClr="000000"/>
      </a:dk1>
      <a:lt1>
        <a:sysClr val="window" lastClr="FFFFFF"/>
      </a:lt1>
      <a:dk2>
        <a:srgbClr val="44546A"/>
      </a:dk2>
      <a:lt2>
        <a:srgbClr val="E7E6E6"/>
      </a:lt2>
      <a:accent1>
        <a:srgbClr val="329C76"/>
      </a:accent1>
      <a:accent2>
        <a:srgbClr val="B37924"/>
      </a:accent2>
      <a:accent3>
        <a:srgbClr val="E3567D"/>
      </a:accent3>
      <a:accent4>
        <a:srgbClr val="0091B9"/>
      </a:accent4>
      <a:accent5>
        <a:srgbClr val="D6BF00"/>
      </a:accent5>
      <a:accent6>
        <a:srgbClr val="934C93"/>
      </a:accent6>
      <a:hlink>
        <a:srgbClr val="0563C1"/>
      </a:hlink>
      <a:folHlink>
        <a:srgbClr val="954F72"/>
      </a:folHlink>
    </a:clrScheme>
    <a:fontScheme name="Susan Hedman - Hartman Publishing">
      <a:majorFont>
        <a:latin typeface="Scala Sans"/>
        <a:ea typeface=""/>
        <a:cs typeface=""/>
      </a:majorFont>
      <a:minorFont>
        <a:latin typeface="Scal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806</TotalTime>
  <Words>2664</Words>
  <Application>Microsoft Macintosh PowerPoint</Application>
  <PresentationFormat>Widescreen</PresentationFormat>
  <Paragraphs>319</Paragraphs>
  <Slides>30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Scala Sans</vt:lpstr>
      <vt:lpstr>1_Office Theme</vt:lpstr>
      <vt:lpstr>PowerPoint Presentation</vt:lpstr>
      <vt:lpstr>LO1, content 1</vt:lpstr>
      <vt:lpstr>LO1, content 2</vt:lpstr>
      <vt:lpstr>LO1, content 3</vt:lpstr>
      <vt:lpstr>LO2, key terms</vt:lpstr>
      <vt:lpstr>LO2, content 1</vt:lpstr>
      <vt:lpstr>LO2, content 2</vt:lpstr>
      <vt:lpstr>LO2, content 3</vt:lpstr>
      <vt:lpstr>LO2, content 4</vt:lpstr>
      <vt:lpstr>LO2, content 5</vt:lpstr>
      <vt:lpstr>LO3, key terms 1</vt:lpstr>
      <vt:lpstr>LO3, content 1</vt:lpstr>
      <vt:lpstr>LO3, content 2</vt:lpstr>
      <vt:lpstr>LO3, content 3</vt:lpstr>
      <vt:lpstr>LO3, content 4</vt:lpstr>
      <vt:lpstr>LO3, content 5</vt:lpstr>
      <vt:lpstr>LO3, content 6</vt:lpstr>
      <vt:lpstr>LO3, content 7</vt:lpstr>
      <vt:lpstr>LO4, key terms </vt:lpstr>
      <vt:lpstr>LO4, content 1</vt:lpstr>
      <vt:lpstr>LO4, content 2</vt:lpstr>
      <vt:lpstr>LO4, content 3</vt:lpstr>
      <vt:lpstr>LO4, content 4</vt:lpstr>
      <vt:lpstr>LO5, key terms </vt:lpstr>
      <vt:lpstr>LO5, content 1</vt:lpstr>
      <vt:lpstr>LO5, content 2</vt:lpstr>
      <vt:lpstr>LO5, content 3</vt:lpstr>
      <vt:lpstr>LO5, content 4</vt:lpstr>
      <vt:lpstr>LO5, content 5</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Angela Storey</dc:creator>
  <cp:lastModifiedBy>Kristin Calderon</cp:lastModifiedBy>
  <cp:revision>80</cp:revision>
  <dcterms:created xsi:type="dcterms:W3CDTF">2020-03-18T21:19:37Z</dcterms:created>
  <dcterms:modified xsi:type="dcterms:W3CDTF">2021-05-20T13:55:00Z</dcterms:modified>
</cp:coreProperties>
</file>