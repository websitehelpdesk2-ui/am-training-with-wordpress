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1" r:id="rId2"/>
    <p:sldId id="368" r:id="rId3"/>
    <p:sldId id="335" r:id="rId4"/>
    <p:sldId id="370" r:id="rId5"/>
    <p:sldId id="305" r:id="rId6"/>
    <p:sldId id="371" r:id="rId7"/>
    <p:sldId id="341" r:id="rId8"/>
    <p:sldId id="372" r:id="rId9"/>
    <p:sldId id="373" r:id="rId10"/>
    <p:sldId id="374" r:id="rId11"/>
    <p:sldId id="308" r:id="rId12"/>
    <p:sldId id="375" r:id="rId13"/>
    <p:sldId id="369" r:id="rId14"/>
    <p:sldId id="376" r:id="rId15"/>
    <p:sldId id="377" r:id="rId16"/>
    <p:sldId id="378" r:id="rId17"/>
    <p:sldId id="379" r:id="rId18"/>
    <p:sldId id="310" r:id="rId19"/>
    <p:sldId id="348" r:id="rId20"/>
    <p:sldId id="380" r:id="rId21"/>
    <p:sldId id="381" r:id="rId22"/>
    <p:sldId id="307" r:id="rId23"/>
    <p:sldId id="367" r:id="rId24"/>
    <p:sldId id="382" r:id="rId25"/>
    <p:sldId id="25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21" autoAdjust="0"/>
    <p:restoredTop sz="94640"/>
  </p:normalViewPr>
  <p:slideViewPr>
    <p:cSldViewPr snapToGrid="0">
      <p:cViewPr varScale="1">
        <p:scale>
          <a:sx n="102" d="100"/>
          <a:sy n="102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5C2F09-6D1A-4A21-97DF-F888DD13FD39}"/>
              </a:ext>
            </a:extLst>
          </p:cNvPr>
          <p:cNvSpPr txBox="1"/>
          <p:nvPr userDrawn="1"/>
        </p:nvSpPr>
        <p:spPr>
          <a:xfrm>
            <a:off x="1142997" y="539293"/>
            <a:ext cx="1816272" cy="1862048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FEBFBB-1425-4277-8500-4300AD017EDA}"/>
              </a:ext>
            </a:extLst>
          </p:cNvPr>
          <p:cNvSpPr txBox="1"/>
          <p:nvPr userDrawn="1"/>
        </p:nvSpPr>
        <p:spPr>
          <a:xfrm>
            <a:off x="1150229" y="2062986"/>
            <a:ext cx="87170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The Integumentary System and Common Medications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1DCB50-4D11-4F0B-AF02-F07973610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1325043" y="4825851"/>
            <a:ext cx="1236907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21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E03F057-80E6-4933-B039-F692BF84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18452" y="6279454"/>
            <a:ext cx="1297633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E6B1E-818D-9C42-97FB-7E5D1CAEE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1879"/>
            <a:ext cx="7312572" cy="706928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393" y="780226"/>
            <a:ext cx="10234377" cy="539673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F5F491-9531-4861-B658-DB5FE7E2FEAE}"/>
              </a:ext>
            </a:extLst>
          </p:cNvPr>
          <p:cNvSpPr/>
          <p:nvPr userDrawn="1"/>
        </p:nvSpPr>
        <p:spPr>
          <a:xfrm>
            <a:off x="11328400" y="0"/>
            <a:ext cx="863600" cy="16065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8F0E1-C264-477A-8C68-5954EE75A404}"/>
              </a:ext>
            </a:extLst>
          </p:cNvPr>
          <p:cNvSpPr txBox="1"/>
          <p:nvPr userDrawn="1"/>
        </p:nvSpPr>
        <p:spPr>
          <a:xfrm>
            <a:off x="11506200" y="1752599"/>
            <a:ext cx="369332" cy="379865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The Integumentary System and Common Medications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CA6800-7865-48FF-933D-2164FAE0ACC9}"/>
              </a:ext>
            </a:extLst>
          </p:cNvPr>
          <p:cNvSpPr txBox="1"/>
          <p:nvPr userDrawn="1"/>
        </p:nvSpPr>
        <p:spPr>
          <a:xfrm>
            <a:off x="11506197" y="101143"/>
            <a:ext cx="1816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t>10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5C658E-B179-4C5F-B3AF-13638309A3D4}"/>
              </a:ext>
            </a:extLst>
          </p:cNvPr>
          <p:cNvCxnSpPr>
            <a:cxnSpLocks/>
          </p:cNvCxnSpPr>
          <p:nvPr userDrawn="1"/>
        </p:nvCxnSpPr>
        <p:spPr>
          <a:xfrm flipH="1">
            <a:off x="745067" y="6629400"/>
            <a:ext cx="100076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C71CCBE0-D1B9-42FA-8DAC-87EEE4FE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279454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C1E1F3-686D-4F52-826D-70A4F80E72A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33E0703D-A83A-40F4-A8D2-8D56B297D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79454"/>
            <a:ext cx="4993783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A0274B49-780C-479A-B0DB-0F3EABBF8D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1641" y="5924550"/>
            <a:ext cx="719715" cy="74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665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F1DCB50-4D11-4F0B-AF02-F07973610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798611" y="2338649"/>
            <a:ext cx="2539591" cy="263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308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182F9F-E9DB-44F9-8F4D-A11E49818C5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0015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0080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A5FC8C-FC05-8E46-8294-56B9CB81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Material 10-1: The Integumentary System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7" name="Picture 6" descr="labeled view of integumentary system">
            <a:extLst>
              <a:ext uri="{FF2B5EF4-FFF2-40B4-BE49-F238E27FC236}">
                <a16:creationId xmlns:a16="http://schemas.microsoft.com/office/drawing/2014/main" id="{5EE90E09-4BC2-D541-89EC-44C32E2BC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468" y="1344380"/>
            <a:ext cx="4912226" cy="493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799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6AA5A4-A0E5-4F46-AF3B-8AC9ED199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Describe the integumentary system</a:t>
            </a:r>
          </a:p>
          <a:p>
            <a:endParaRPr lang="en-US" dirty="0"/>
          </a:p>
          <a:p>
            <a:r>
              <a:rPr lang="en-US" dirty="0"/>
              <a:t>Remember the following points about the integumentary system: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Largest organ and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Natural protective covering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Prevents excessive loss of water and injury to internal organs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Skin made of tissue and glands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Skin is a sense organ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Regulates body temperature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3589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6AA5A4-A0E5-4F46-AF3B-8AC9ED199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Describe the integumentary system</a:t>
            </a:r>
          </a:p>
          <a:p>
            <a:endParaRPr lang="en-US" dirty="0"/>
          </a:p>
          <a:p>
            <a:r>
              <a:rPr lang="en-US" dirty="0"/>
              <a:t>Normal changes of aging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Thinner, drier, more fragile skin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Less elastic skin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Thinning fatty tissue can cause person to feel colder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Thinner, gray hair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Wrinkles and brown spots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Harder, more brittle nails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Dry, itchy skin due to lack of oil from the sebaceous glands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901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A5FC8C-FC05-8E46-8294-56B9CB81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key terms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wounds and skin infections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 </a:t>
            </a:r>
          </a:p>
          <a:p>
            <a:endParaRPr lang="en-US" dirty="0"/>
          </a:p>
          <a:p>
            <a:r>
              <a:rPr lang="en-US" b="1" dirty="0"/>
              <a:t>wound</a:t>
            </a:r>
          </a:p>
          <a:p>
            <a:pPr lvl="1"/>
            <a:r>
              <a:rPr lang="en-US" dirty="0"/>
              <a:t>a type of injury to the skin.</a:t>
            </a:r>
          </a:p>
          <a:p>
            <a:r>
              <a:rPr lang="en-US" b="1" dirty="0"/>
              <a:t>cellulitis</a:t>
            </a:r>
          </a:p>
          <a:p>
            <a:pPr lvl="1"/>
            <a:r>
              <a:rPr lang="en-US" dirty="0"/>
              <a:t>a bacterial infection affecting the skin and soft tissue.</a:t>
            </a:r>
          </a:p>
          <a:p>
            <a:r>
              <a:rPr lang="en-US" b="1" dirty="0"/>
              <a:t>malaise</a:t>
            </a:r>
          </a:p>
          <a:p>
            <a:pPr lvl="1"/>
            <a:r>
              <a:rPr lang="en-US" dirty="0"/>
              <a:t>a general sense of feeling unwell.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703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A5FC8C-FC05-8E46-8294-56B9CB81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key terms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wounds and skin infections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 </a:t>
            </a:r>
          </a:p>
          <a:p>
            <a:endParaRPr lang="en-US" dirty="0"/>
          </a:p>
          <a:p>
            <a:r>
              <a:rPr lang="en-US" b="1" dirty="0"/>
              <a:t>methicillin-resistant </a:t>
            </a:r>
            <a:r>
              <a:rPr lang="en-US" b="1" i="1" dirty="0"/>
              <a:t>Staphylococcus aureus </a:t>
            </a:r>
          </a:p>
          <a:p>
            <a:pPr lvl="1"/>
            <a:r>
              <a:rPr lang="en-US" dirty="0"/>
              <a:t>bacteria (</a:t>
            </a:r>
            <a:r>
              <a:rPr lang="en-US" i="1" dirty="0"/>
              <a:t>Staphylococcus aureus</a:t>
            </a:r>
            <a:r>
              <a:rPr lang="en-US" dirty="0"/>
              <a:t>) that have developed resistance to the antibiotic methicillin </a:t>
            </a:r>
          </a:p>
          <a:p>
            <a:r>
              <a:rPr lang="en-US" b="1" dirty="0"/>
              <a:t>sepsis</a:t>
            </a:r>
            <a:endParaRPr lang="en-US" b="1" i="1" dirty="0"/>
          </a:p>
          <a:p>
            <a:pPr lvl="1"/>
            <a:r>
              <a:rPr lang="en-US" dirty="0"/>
              <a:t>an infection in the bloodstream.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0892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A5FC8C-FC05-8E46-8294-56B9CB81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wounds and skin infections</a:t>
            </a:r>
            <a:endParaRPr lang="en-US" dirty="0"/>
          </a:p>
          <a:p>
            <a:endParaRPr lang="en-US" dirty="0"/>
          </a:p>
          <a:p>
            <a:r>
              <a:rPr lang="en-US" dirty="0"/>
              <a:t>Note treatment for wounds (generally beyond scope of practice for MA):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Wound is examined and cleaned as needed with saline or antiseptic 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Bleeding may need to be stopped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Dressings, bandages, staples, sutures, or strips/glue may need to be applied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some states MAs may be allowed to apply antibiotic ointment to minor wounds/skin tears, but in other states MAs are prohibited from applying medication to any nonintact skin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563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A5FC8C-FC05-8E46-8294-56B9CB81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wounds and skin infections</a:t>
            </a:r>
            <a:endParaRPr lang="en-US" dirty="0"/>
          </a:p>
          <a:p>
            <a:endParaRPr lang="en-US" dirty="0"/>
          </a:p>
          <a:p>
            <a:r>
              <a:rPr lang="en-US" dirty="0"/>
              <a:t>Treatment for cellulitis includes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Mild infection treated with oral antibiotics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Intravenous antibiotics may be needed for more severe cases (systemic symptoms)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Penicillin and cephalosporin antibiotics most commonly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Side effects include stomach upset, diarrhea, and nausea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Antibiotics can cause anaphylaxis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87 (or handout) details specific drugs 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932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A5FC8C-FC05-8E46-8294-56B9CB81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wounds and skin infections</a:t>
            </a:r>
            <a:endParaRPr lang="en-US" dirty="0"/>
          </a:p>
          <a:p>
            <a:endParaRPr lang="en-US" dirty="0"/>
          </a:p>
          <a:p>
            <a:r>
              <a:rPr lang="en-US" dirty="0"/>
              <a:t>Remember these points about MRSA: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Can be difficult to treat (sometimes called a </a:t>
            </a:r>
            <a:r>
              <a:rPr lang="en-US" i="1" dirty="0"/>
              <a:t>super bug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May cause cellulitis, and can also infect wounds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Oral antibiotics may be used for less severe cases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Intravenous antibiotics (e.g., vancomycin) may be used for more severe cases </a:t>
            </a:r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84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A5FC8C-FC05-8E46-8294-56B9CB81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wounds and skin infections</a:t>
            </a:r>
            <a:endParaRPr lang="en-US" dirty="0"/>
          </a:p>
          <a:p>
            <a:endParaRPr lang="en-US" dirty="0"/>
          </a:p>
          <a:p>
            <a:r>
              <a:rPr lang="en-US" dirty="0"/>
              <a:t>Care guidelines for cellulitis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Report any changes in the resident to your supervisor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Antibiotics can cause anaphylaxis. Get help immediately if you observe signs/symptoms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Always use Standard Precautions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Monitor blood pressure and temperature as ordered. Low blood pressure and fever can be signs of systemic infection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Note any decrease in body temperature (sign that the infection is improving)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Monitor fluid intake and urine output. Kidneys can be damaged by some antibiotics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Watch for confusion and other signs of dehydration if resident experiences diarrhea as an antibiotic side effect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741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B0D8AC-E413-4542-9870-DEA50EFE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key terms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dermatitis and psoriasis</a:t>
            </a:r>
          </a:p>
          <a:p>
            <a:endParaRPr lang="en-US" dirty="0"/>
          </a:p>
          <a:p>
            <a:r>
              <a:rPr lang="en-US" dirty="0"/>
              <a:t>Define the following terms: </a:t>
            </a:r>
          </a:p>
          <a:p>
            <a:r>
              <a:rPr lang="en-US" b="1" dirty="0"/>
              <a:t>pruritus</a:t>
            </a:r>
          </a:p>
          <a:p>
            <a:pPr lvl="1"/>
            <a:r>
              <a:rPr lang="en-US" dirty="0"/>
              <a:t>a medical term for </a:t>
            </a:r>
            <a:r>
              <a:rPr lang="en-US" i="1" dirty="0"/>
              <a:t>itching</a:t>
            </a:r>
            <a:r>
              <a:rPr lang="en-US" dirty="0"/>
              <a:t>. </a:t>
            </a:r>
          </a:p>
          <a:p>
            <a:r>
              <a:rPr lang="en-US" b="1" dirty="0"/>
              <a:t>contact dermatitis</a:t>
            </a:r>
          </a:p>
          <a:p>
            <a:pPr lvl="1"/>
            <a:r>
              <a:rPr lang="en-US" dirty="0"/>
              <a:t>inflammation of the skin caused by contact with an irritant.</a:t>
            </a:r>
          </a:p>
          <a:p>
            <a:r>
              <a:rPr lang="en-US" b="1" dirty="0"/>
              <a:t>atopic dermatitis</a:t>
            </a:r>
          </a:p>
          <a:p>
            <a:pPr lvl="1"/>
            <a:r>
              <a:rPr lang="en-US" dirty="0"/>
              <a:t>inflammation of the skin not related to contact with an irritant; also called </a:t>
            </a:r>
            <a:r>
              <a:rPr lang="en-US" i="1" dirty="0"/>
              <a:t>eczema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450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B0D8AC-E413-4542-9870-DEA50EFE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key terms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dermatitis and psoriasis</a:t>
            </a:r>
          </a:p>
          <a:p>
            <a:endParaRPr lang="en-US" dirty="0"/>
          </a:p>
          <a:p>
            <a:r>
              <a:rPr lang="en-US" dirty="0"/>
              <a:t>Define the following terms: </a:t>
            </a:r>
          </a:p>
          <a:p>
            <a:endParaRPr lang="en-US" b="1" dirty="0"/>
          </a:p>
          <a:p>
            <a:r>
              <a:rPr lang="en-US" b="1" dirty="0"/>
              <a:t>histamines</a:t>
            </a:r>
          </a:p>
          <a:p>
            <a:pPr lvl="1"/>
            <a:r>
              <a:rPr lang="en-US" dirty="0"/>
              <a:t>substances that are part of the body’s immune response.</a:t>
            </a:r>
          </a:p>
          <a:p>
            <a:r>
              <a:rPr lang="en-US" b="1" dirty="0"/>
              <a:t>psoriasis</a:t>
            </a:r>
          </a:p>
          <a:p>
            <a:pPr lvl="1"/>
            <a:r>
              <a:rPr lang="en-US" dirty="0"/>
              <a:t>a chronic, autoimmune skin condition in which the body creates too many skin cells, causing white or red scaly patches.</a:t>
            </a:r>
          </a:p>
          <a:p>
            <a:r>
              <a:rPr lang="en-US" b="1" dirty="0"/>
              <a:t>autoimmune condition</a:t>
            </a:r>
          </a:p>
          <a:p>
            <a:pPr lvl="1"/>
            <a:r>
              <a:rPr lang="en-US" dirty="0"/>
              <a:t>a condition in which the body’s immune system attacks normal tissue in the body.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151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B0D8AC-E413-4542-9870-DEA50EFE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dermatitis and psoriasis</a:t>
            </a:r>
          </a:p>
          <a:p>
            <a:endParaRPr lang="en-US" dirty="0"/>
          </a:p>
          <a:p>
            <a:r>
              <a:rPr lang="en-US" dirty="0"/>
              <a:t>Treatment for dermatitis includes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Skin hydration is important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Lotions or creams containing petrolatum or lanolin may be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Topical or oral corticosteroids reduce inflammation and swelling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OTC topical corticosteroids most helpful where the skin is thin or delicate and for mild cases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1247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B0D8AC-E413-4542-9870-DEA50EFE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dermatitis and psoriasis</a:t>
            </a:r>
          </a:p>
          <a:p>
            <a:endParaRPr lang="en-US" dirty="0"/>
          </a:p>
          <a:p>
            <a:r>
              <a:rPr lang="en-US" dirty="0"/>
              <a:t>Treatment for dermatitis (cont’d):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Prescription topical or oral corticosteroids may be ordered for more severe cases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Side effects of topical corticosteroids include skin thinning, skin color changes, burning/peeling of the skin, and increased risk of infection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Side effects of oral corticosteroids include weight gain, easy bruising, lower resistance to infection, and mood changes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Antihistamines may also be used to control overreactive, allergic response in the body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Immunosuppressant drugs (topical/oral) are used for severe cases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Side effects include increased sensitivity, soreness, redness, and burning of the skin; headache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87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807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B0D8AC-E413-4542-9870-DEA50EFE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dermatitis and psoriasis</a:t>
            </a:r>
          </a:p>
          <a:p>
            <a:endParaRPr lang="en-US" dirty="0"/>
          </a:p>
          <a:p>
            <a:r>
              <a:rPr lang="en-US" dirty="0"/>
              <a:t>Care guidelines for dermatitis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Apply only the ordered amount of any topical medication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Know that it may take weeks for medications to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Always use gloves and wash hands thoroughly after administering topical medications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Help residents remember to avoid triggers such as environmental irritants, allergens, and exposure to pollution/weather changes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Report any new triggers observed to the nurse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945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B0D8AC-E413-4542-9870-DEA50EFE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dermatitis and psoriasis</a:t>
            </a:r>
          </a:p>
          <a:p>
            <a:endParaRPr lang="en-US" dirty="0"/>
          </a:p>
          <a:p>
            <a:r>
              <a:rPr lang="en-US" dirty="0"/>
              <a:t>Treatment for psoriasis includes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Treatment depends on severity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Milder cases treated with topical corticosteroids and moisturizing lotions/creams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Combination of a strong topical steroid and a vitamin D analog may be ordered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Phototherapy (light treatment) is used to treat moderate to severe cases.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Immunosuppressant drugs may also be ordered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87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79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B0D8AC-E413-4542-9870-DEA50EFE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dermatitis and psoriasis</a:t>
            </a:r>
          </a:p>
          <a:p>
            <a:endParaRPr lang="en-US" dirty="0"/>
          </a:p>
          <a:p>
            <a:r>
              <a:rPr lang="en-US" dirty="0"/>
              <a:t>Care guidelines for psoriasis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Assist with topical therapies as ordered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Observe and report for signs of excessive bleeding or bruising if resident is taking immunosuppressant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481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D4569E-2259-1A4D-8D60-BB688581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key terms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fungal infections, pediculosis, and scabies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 </a:t>
            </a:r>
          </a:p>
          <a:p>
            <a:endParaRPr lang="en-US" dirty="0"/>
          </a:p>
          <a:p>
            <a:r>
              <a:rPr lang="en-US" b="1" dirty="0"/>
              <a:t>fungus</a:t>
            </a:r>
          </a:p>
          <a:p>
            <a:pPr lvl="1"/>
            <a:r>
              <a:rPr lang="en-US" dirty="0"/>
              <a:t>a type of living organism that can sometimes cause illness or infection.</a:t>
            </a:r>
          </a:p>
          <a:p>
            <a:r>
              <a:rPr lang="en-US" b="1" dirty="0"/>
              <a:t>candidiasis</a:t>
            </a:r>
          </a:p>
          <a:p>
            <a:pPr lvl="1"/>
            <a:r>
              <a:rPr lang="en-US" dirty="0"/>
              <a:t>overgrowth of the fungus </a:t>
            </a:r>
            <a:r>
              <a:rPr lang="en-US" i="1" dirty="0"/>
              <a:t>candida</a:t>
            </a:r>
            <a:r>
              <a:rPr lang="en-US" dirty="0"/>
              <a:t> on or in the body.</a:t>
            </a:r>
          </a:p>
          <a:p>
            <a:r>
              <a:rPr lang="en-US" b="1" dirty="0"/>
              <a:t>pediculosis</a:t>
            </a:r>
          </a:p>
          <a:p>
            <a:pPr lvl="1"/>
            <a:r>
              <a:rPr lang="en-US" dirty="0"/>
              <a:t>infestation of the hair or body with lice eggs or adult lice.</a:t>
            </a:r>
          </a:p>
          <a:p>
            <a:r>
              <a:rPr lang="en-US" b="1" dirty="0"/>
              <a:t>scabies</a:t>
            </a:r>
          </a:p>
          <a:p>
            <a:pPr lvl="1"/>
            <a:r>
              <a:rPr lang="en-US" dirty="0"/>
              <a:t>a skin condition caused by a mite that burrows under the outer layer of the skin.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485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D4569E-2259-1A4D-8D60-BB688581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fungal infections, pediculosis, and scabies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following are common fungal infections: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Athlete’s foot (</a:t>
            </a:r>
            <a:r>
              <a:rPr lang="en-US" i="1" dirty="0"/>
              <a:t>tinea pedis</a:t>
            </a:r>
            <a:r>
              <a:rPr lang="en-US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Jock itch (</a:t>
            </a:r>
            <a:r>
              <a:rPr lang="en-US" i="1" dirty="0"/>
              <a:t>tinea </a:t>
            </a:r>
            <a:r>
              <a:rPr lang="en-US" i="1" dirty="0" err="1"/>
              <a:t>cruris</a:t>
            </a:r>
            <a:r>
              <a:rPr lang="en-US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Ringworm (</a:t>
            </a:r>
            <a:r>
              <a:rPr lang="en-US" i="1" dirty="0"/>
              <a:t>tinea corporis</a:t>
            </a:r>
            <a:r>
              <a:rPr lang="en-US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Candidiasis (including thrush, yeast infection)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Fungal infections of the toenails/fingernails </a:t>
            </a:r>
          </a:p>
        </p:txBody>
      </p:sp>
    </p:spTree>
    <p:extLst>
      <p:ext uri="{BB962C8B-B14F-4D97-AF65-F5344CB8AC3E}">
        <p14:creationId xmlns:p14="http://schemas.microsoft.com/office/powerpoint/2010/main" val="3802332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D4569E-2259-1A4D-8D60-BB688581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fungal infections, pediculosis, and scabies</a:t>
            </a:r>
            <a:endParaRPr lang="en-US" dirty="0"/>
          </a:p>
          <a:p>
            <a:endParaRPr lang="en-US" dirty="0"/>
          </a:p>
          <a:p>
            <a:r>
              <a:rPr lang="en-US" dirty="0"/>
              <a:t>Treatment for fungal infections includes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Topical antifungal agents (solution/suspension, cream, ointment, gel, powder)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Note that powdered forms are more successful in preventing fungal infections than treating them.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Side effects of topical agents tend to be mild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Oral antifungals may be given along with topical forms. May require longer treatment (especially for toenails)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Side effects of system agents may be more serious and can include liver toxicity, irregular heart rhythm, nausea, vomiting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Many drug interactions are related to oral antifungals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88 (or handout) details specific drugs</a:t>
            </a:r>
          </a:p>
        </p:txBody>
      </p:sp>
    </p:spTree>
    <p:extLst>
      <p:ext uri="{BB962C8B-B14F-4D97-AF65-F5344CB8AC3E}">
        <p14:creationId xmlns:p14="http://schemas.microsoft.com/office/powerpoint/2010/main" val="3923890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D4569E-2259-1A4D-8D60-BB688581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fungal infections, pediculosis, and scabies</a:t>
            </a:r>
            <a:endParaRPr lang="en-US" dirty="0"/>
          </a:p>
          <a:p>
            <a:endParaRPr lang="en-US" dirty="0"/>
          </a:p>
          <a:p>
            <a:r>
              <a:rPr lang="en-US" dirty="0"/>
              <a:t>Treatment for pediculosis and scabies includes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Drug class is broadly known as </a:t>
            </a:r>
            <a:r>
              <a:rPr lang="en-US" i="1" dirty="0"/>
              <a:t>miticides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Pediculocides</a:t>
            </a:r>
            <a:r>
              <a:rPr lang="en-US" dirty="0"/>
              <a:t> treat lice infestation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Scabicides</a:t>
            </a:r>
            <a:r>
              <a:rPr lang="en-US" dirty="0"/>
              <a:t> treat scabies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Most medications for these conditions are topical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When treating lice, the nits (eggs) must be physically removed from the hair in order for treatment to be complete/successful. Not all </a:t>
            </a:r>
            <a:r>
              <a:rPr lang="en-US" dirty="0" err="1"/>
              <a:t>pediculocides</a:t>
            </a:r>
            <a:r>
              <a:rPr lang="en-US" dirty="0"/>
              <a:t> can kill nits.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Scabies is also treated with an oral medication called ivermectin (</a:t>
            </a:r>
            <a:r>
              <a:rPr lang="en-US" dirty="0" err="1"/>
              <a:t>Stromectol</a:t>
            </a:r>
            <a:r>
              <a:rPr lang="en-US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88 (or handout) details other specific drugs.</a:t>
            </a:r>
          </a:p>
        </p:txBody>
      </p:sp>
    </p:spTree>
    <p:extLst>
      <p:ext uri="{BB962C8B-B14F-4D97-AF65-F5344CB8AC3E}">
        <p14:creationId xmlns:p14="http://schemas.microsoft.com/office/powerpoint/2010/main" val="3330362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CAFD4-8E4E-274B-8B64-1E9C6CF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key terms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Describe burns and sunburn and response to these conditions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 </a:t>
            </a:r>
          </a:p>
          <a:p>
            <a:endParaRPr lang="en-US" dirty="0"/>
          </a:p>
          <a:p>
            <a:r>
              <a:rPr lang="en-US" b="1" dirty="0"/>
              <a:t>photosensitivity</a:t>
            </a:r>
          </a:p>
          <a:p>
            <a:pPr lvl="1"/>
            <a:r>
              <a:rPr lang="en-US" dirty="0"/>
              <a:t>increased sensitivity to sunlight; may be caused by some common medications.</a:t>
            </a:r>
          </a:p>
          <a:p>
            <a:r>
              <a:rPr lang="en-US" b="1" dirty="0"/>
              <a:t>petechiae</a:t>
            </a:r>
          </a:p>
          <a:p>
            <a:pPr lvl="1"/>
            <a:r>
              <a:rPr lang="en-US" dirty="0"/>
              <a:t>a condition in which small, flat red or purple dots appear on the skin as a result of leaking capillaries. </a:t>
            </a:r>
          </a:p>
          <a:p>
            <a:r>
              <a:rPr lang="en-US" b="1" dirty="0"/>
              <a:t>purpura</a:t>
            </a:r>
          </a:p>
          <a:p>
            <a:pPr lvl="1"/>
            <a:r>
              <a:rPr lang="en-US" dirty="0"/>
              <a:t>dark red to dark purple patches that appear on the skin due to leakage of red blood cells.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285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CAFD4-8E4E-274B-8B64-1E9C6CF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Describe burns and sunburn and response to these conditions</a:t>
            </a:r>
            <a:endParaRPr lang="en-US" dirty="0"/>
          </a:p>
          <a:p>
            <a:endParaRPr lang="en-US" dirty="0"/>
          </a:p>
          <a:p>
            <a:r>
              <a:rPr lang="en-US" dirty="0"/>
              <a:t>Treatment for burns includes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Ointments and other topical medications should only be applied to burns as ordered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Moisture barrier ointments such as Aquaphor may be applied to minor burns to protect tender skin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Topical silver sulfadiazine (Silvadene, SSD) may be used to reduce the risk of infection and promote healing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Antibiotic ointment may be ordered to prevent infection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Topical hydrocortisone can reduce inflammation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88 (or handout) details other specific drugs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578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CAFD4-8E4E-274B-8B64-1E9C6CF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Describe burns and sunburn and response to these conditions</a:t>
            </a:r>
            <a:endParaRPr lang="en-US" dirty="0"/>
          </a:p>
          <a:p>
            <a:endParaRPr lang="en-US" dirty="0"/>
          </a:p>
          <a:p>
            <a:r>
              <a:rPr lang="en-US" dirty="0"/>
              <a:t>REMEMBER:</a:t>
            </a:r>
          </a:p>
          <a:p>
            <a:endParaRPr lang="en-US" dirty="0"/>
          </a:p>
          <a:p>
            <a:r>
              <a:rPr lang="en-US" dirty="0"/>
              <a:t>Petechiae and purpura are not classified or treated as skin disorders, but can be associated with a variety of different conditions. Medication aides should report any observations related to petechiae and purpura.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596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72658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9C76"/>
      </a:accent1>
      <a:accent2>
        <a:srgbClr val="B37924"/>
      </a:accent2>
      <a:accent3>
        <a:srgbClr val="E3567D"/>
      </a:accent3>
      <a:accent4>
        <a:srgbClr val="0091B9"/>
      </a:accent4>
      <a:accent5>
        <a:srgbClr val="D6BF00"/>
      </a:accent5>
      <a:accent6>
        <a:srgbClr val="934C93"/>
      </a:accent6>
      <a:hlink>
        <a:srgbClr val="0563C1"/>
      </a:hlink>
      <a:folHlink>
        <a:srgbClr val="954F72"/>
      </a:folHlink>
    </a:clrScheme>
    <a:fontScheme name="Susan Hedman - Hartman Publishing">
      <a:majorFont>
        <a:latin typeface="Scala Sans"/>
        <a:ea typeface=""/>
        <a:cs typeface=""/>
      </a:majorFont>
      <a:minorFont>
        <a:latin typeface="Scala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1353</TotalTime>
  <Words>1695</Words>
  <Application>Microsoft Macintosh PowerPoint</Application>
  <PresentationFormat>Widescreen</PresentationFormat>
  <Paragraphs>283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Scala Sans</vt:lpstr>
      <vt:lpstr>1_Office Theme</vt:lpstr>
      <vt:lpstr>PowerPoint Presentation</vt:lpstr>
      <vt:lpstr>LO1, content 1</vt:lpstr>
      <vt:lpstr>LO1, content 2</vt:lpstr>
      <vt:lpstr>LO1, content 3</vt:lpstr>
      <vt:lpstr>LO2, key terms 1</vt:lpstr>
      <vt:lpstr>LO2, key terms 2</vt:lpstr>
      <vt:lpstr>LO2, content 1</vt:lpstr>
      <vt:lpstr>LO2, content 2</vt:lpstr>
      <vt:lpstr>LO2, content 3</vt:lpstr>
      <vt:lpstr>LO2, content 4</vt:lpstr>
      <vt:lpstr>LO3, key terms 1</vt:lpstr>
      <vt:lpstr>LO3, key terms 2</vt:lpstr>
      <vt:lpstr>LO3, content 1</vt:lpstr>
      <vt:lpstr>LO3, content 2</vt:lpstr>
      <vt:lpstr>LO3, content 3</vt:lpstr>
      <vt:lpstr>LO3, content 4</vt:lpstr>
      <vt:lpstr>LO3, content 5</vt:lpstr>
      <vt:lpstr>LO4, key terms</vt:lpstr>
      <vt:lpstr>LO4, content 1</vt:lpstr>
      <vt:lpstr>LO4, content 2</vt:lpstr>
      <vt:lpstr>LO4, content 3</vt:lpstr>
      <vt:lpstr>LO5, key terms</vt:lpstr>
      <vt:lpstr>LO5, content 1</vt:lpstr>
      <vt:lpstr>LO5, content 2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Angela Storey</dc:creator>
  <cp:lastModifiedBy>Kristin Calderon</cp:lastModifiedBy>
  <cp:revision>81</cp:revision>
  <dcterms:created xsi:type="dcterms:W3CDTF">2020-03-18T21:23:10Z</dcterms:created>
  <dcterms:modified xsi:type="dcterms:W3CDTF">2021-05-20T13:47:08Z</dcterms:modified>
</cp:coreProperties>
</file>