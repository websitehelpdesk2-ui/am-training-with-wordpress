
<file path=[Content_Types].xml><?xml version="1.0" encoding="utf-8"?>
<Types xmlns="http://schemas.openxmlformats.org/package/2006/content-types">
  <Default Extension="png" ContentType="image/png"/>
  <Default Extension="svg" ContentType="image/svg+xml"/>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307" r:id="rId2"/>
    <p:sldId id="258" r:id="rId3"/>
    <p:sldId id="308" r:id="rId4"/>
    <p:sldId id="304" r:id="rId5"/>
    <p:sldId id="310" r:id="rId6"/>
    <p:sldId id="271" r:id="rId7"/>
    <p:sldId id="311" r:id="rId8"/>
    <p:sldId id="312" r:id="rId9"/>
    <p:sldId id="305" r:id="rId10"/>
    <p:sldId id="313" r:id="rId11"/>
    <p:sldId id="257"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4512" autoAdjust="0"/>
    <p:restoredTop sz="94660"/>
  </p:normalViewPr>
  <p:slideViewPr>
    <p:cSldViewPr snapToGrid="0">
      <p:cViewPr varScale="1">
        <p:scale>
          <a:sx n="74" d="100"/>
          <a:sy n="74" d="100"/>
        </p:scale>
        <p:origin x="208" y="920"/>
      </p:cViewPr>
      <p:guideLst/>
    </p:cSldViewPr>
  </p:slideViewPr>
  <p:notesTextViewPr>
    <p:cViewPr>
      <p:scale>
        <a:sx n="1" d="1"/>
        <a:sy n="1" d="1"/>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5"/>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475C2F09-6D1A-4A21-97DF-F888DD13FD39}"/>
              </a:ext>
            </a:extLst>
          </p:cNvPr>
          <p:cNvSpPr txBox="1"/>
          <p:nvPr userDrawn="1"/>
        </p:nvSpPr>
        <p:spPr>
          <a:xfrm>
            <a:off x="1142997" y="539293"/>
            <a:ext cx="1816272" cy="1862048"/>
          </a:xfrm>
          <a:prstGeom prst="rect">
            <a:avLst/>
          </a:prstGeom>
          <a:solidFill>
            <a:schemeClr val="accent5"/>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500" b="0" i="0" u="none" strike="noStrike" kern="1200" cap="none" spc="0" normalizeH="0" baseline="0" noProof="0" dirty="0">
                <a:ln>
                  <a:noFill/>
                </a:ln>
                <a:solidFill>
                  <a:prstClr val="white"/>
                </a:solidFill>
                <a:effectLst/>
                <a:uLnTx/>
                <a:uFillTx/>
                <a:latin typeface="Scala Sans" panose="02000503060000020003" pitchFamily="2" charset="0"/>
                <a:ea typeface="+mn-ea"/>
                <a:cs typeface="+mn-cs"/>
              </a:rPr>
              <a:t>5</a:t>
            </a:r>
          </a:p>
        </p:txBody>
      </p:sp>
      <p:sp>
        <p:nvSpPr>
          <p:cNvPr id="8" name="TextBox 7">
            <a:extLst>
              <a:ext uri="{FF2B5EF4-FFF2-40B4-BE49-F238E27FC236}">
                <a16:creationId xmlns:a16="http://schemas.microsoft.com/office/drawing/2014/main" id="{F1FEBFBB-1425-4277-8500-4300AD017EDA}"/>
              </a:ext>
            </a:extLst>
          </p:cNvPr>
          <p:cNvSpPr txBox="1"/>
          <p:nvPr userDrawn="1"/>
        </p:nvSpPr>
        <p:spPr>
          <a:xfrm>
            <a:off x="1150229" y="2062986"/>
            <a:ext cx="8717075" cy="707886"/>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prstClr val="white"/>
                </a:solidFill>
                <a:effectLst/>
                <a:uLnTx/>
                <a:uFillTx/>
                <a:latin typeface="Scala Sans" panose="02000503060000020003" pitchFamily="2" charset="0"/>
                <a:ea typeface="+mn-ea"/>
                <a:cs typeface="+mn-cs"/>
              </a:rPr>
              <a:t>Medication Dosage</a:t>
            </a:r>
          </a:p>
        </p:txBody>
      </p:sp>
      <p:pic>
        <p:nvPicPr>
          <p:cNvPr id="9" name="Picture 8">
            <a:extLst>
              <a:ext uri="{FF2B5EF4-FFF2-40B4-BE49-F238E27FC236}">
                <a16:creationId xmlns:a16="http://schemas.microsoft.com/office/drawing/2014/main" id="{EF1DCB50-4D11-4F0B-AF02-F0797361079C}"/>
              </a:ext>
            </a:extLst>
          </p:cNvPr>
          <p:cNvPicPr>
            <a:picLocks noChangeAspect="1"/>
          </p:cNvPicPr>
          <p:nvPr userDrawn="1"/>
        </p:nvPicPr>
        <p:blipFill>
          <a:blip r:embed="rId2">
            <a:lum bright="100000"/>
          </a:blip>
          <a:stretch>
            <a:fillRect/>
          </a:stretch>
        </p:blipFill>
        <p:spPr>
          <a:xfrm>
            <a:off x="1325043" y="4825851"/>
            <a:ext cx="1236907" cy="1282700"/>
          </a:xfrm>
          <a:prstGeom prst="rect">
            <a:avLst/>
          </a:prstGeom>
        </p:spPr>
      </p:pic>
    </p:spTree>
    <p:extLst>
      <p:ext uri="{BB962C8B-B14F-4D97-AF65-F5344CB8AC3E}">
        <p14:creationId xmlns:p14="http://schemas.microsoft.com/office/powerpoint/2010/main" val="13798241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19" name="Slide Number Placeholder 18">
            <a:extLst>
              <a:ext uri="{FF2B5EF4-FFF2-40B4-BE49-F238E27FC236}">
                <a16:creationId xmlns:a16="http://schemas.microsoft.com/office/drawing/2014/main" id="{DE03F057-80E6-4933-B039-F692BF84B8A2}"/>
              </a:ext>
            </a:extLst>
          </p:cNvPr>
          <p:cNvSpPr>
            <a:spLocks noGrp="1"/>
          </p:cNvSpPr>
          <p:nvPr>
            <p:ph type="sldNum" sz="quarter" idx="12"/>
          </p:nvPr>
        </p:nvSpPr>
        <p:spPr>
          <a:xfrm>
            <a:off x="9518452" y="6279454"/>
            <a:ext cx="1297633" cy="365125"/>
          </a:xfrm>
        </p:spPr>
        <p:txBody>
          <a:bodyPr/>
          <a:lstStyle>
            <a:lvl1pPr>
              <a:defRPr>
                <a:solidFill>
                  <a:schemeClr val="accent5"/>
                </a:solidFill>
                <a:latin typeface="+mn-lt"/>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D6BF00"/>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D6BF00"/>
              </a:solidFill>
              <a:effectLst/>
              <a:uLnTx/>
              <a:uFillTx/>
              <a:latin typeface="Scala Sans"/>
              <a:ea typeface="+mn-ea"/>
              <a:cs typeface="+mn-cs"/>
            </a:endParaRPr>
          </a:p>
        </p:txBody>
      </p:sp>
      <p:sp>
        <p:nvSpPr>
          <p:cNvPr id="2" name="Title 1">
            <a:extLst>
              <a:ext uri="{FF2B5EF4-FFF2-40B4-BE49-F238E27FC236}">
                <a16:creationId xmlns:a16="http://schemas.microsoft.com/office/drawing/2014/main" id="{93C445B0-3612-E945-891A-86055DAE63E6}"/>
              </a:ext>
            </a:extLst>
          </p:cNvPr>
          <p:cNvSpPr>
            <a:spLocks noGrp="1"/>
          </p:cNvSpPr>
          <p:nvPr>
            <p:ph type="title"/>
          </p:nvPr>
        </p:nvSpPr>
        <p:spPr>
          <a:xfrm>
            <a:off x="25809" y="-917981"/>
            <a:ext cx="7111181" cy="726254"/>
          </a:xfrm>
        </p:spPr>
        <p:txBody>
          <a:bodyPr/>
          <a:lstStyle>
            <a:lvl1pPr>
              <a:defRPr b="0"/>
            </a:lvl1pPr>
          </a:lstStyle>
          <a:p>
            <a:r>
              <a:rPr lang="en-US" dirty="0"/>
              <a:t>Click to edit Master title style</a:t>
            </a:r>
          </a:p>
        </p:txBody>
      </p:sp>
      <p:sp>
        <p:nvSpPr>
          <p:cNvPr id="3" name="Content Placeholder 2"/>
          <p:cNvSpPr>
            <a:spLocks noGrp="1"/>
          </p:cNvSpPr>
          <p:nvPr>
            <p:ph idx="1"/>
          </p:nvPr>
        </p:nvSpPr>
        <p:spPr>
          <a:xfrm>
            <a:off x="635393" y="780226"/>
            <a:ext cx="10234377" cy="5396738"/>
          </a:xfrm>
        </p:spPr>
        <p:txBody>
          <a:bodyPr>
            <a:normAutofit/>
          </a:bodyPr>
          <a:lstStyle>
            <a:lvl1pPr marL="0" indent="0">
              <a:spcBef>
                <a:spcPts val="0"/>
              </a:spcBef>
              <a:spcAft>
                <a:spcPts val="600"/>
              </a:spcAft>
              <a:buNone/>
              <a:defRPr sz="2000">
                <a:latin typeface="+mn-lt"/>
              </a:defRPr>
            </a:lvl1pPr>
            <a:lvl2pPr marL="457200" indent="0">
              <a:spcBef>
                <a:spcPts val="0"/>
              </a:spcBef>
              <a:spcAft>
                <a:spcPts val="600"/>
              </a:spcAft>
              <a:buNone/>
              <a:defRPr sz="2000">
                <a:latin typeface="+mn-lt"/>
              </a:defRPr>
            </a:lvl2pPr>
            <a:lvl3pPr marL="914400" indent="0">
              <a:spcBef>
                <a:spcPts val="0"/>
              </a:spcBef>
              <a:spcAft>
                <a:spcPts val="600"/>
              </a:spcAft>
              <a:buNone/>
              <a:defRPr sz="2000">
                <a:latin typeface="+mn-lt"/>
              </a:defRPr>
            </a:lvl3pPr>
            <a:lvl4pPr marL="1371600" indent="0">
              <a:spcBef>
                <a:spcPts val="0"/>
              </a:spcBef>
              <a:spcAft>
                <a:spcPts val="600"/>
              </a:spcAft>
              <a:buNone/>
              <a:defRPr sz="2000">
                <a:latin typeface="+mn-lt"/>
              </a:defRPr>
            </a:lvl4pPr>
            <a:lvl5pPr marL="1828800" indent="0">
              <a:spcBef>
                <a:spcPts val="0"/>
              </a:spcBef>
              <a:spcAft>
                <a:spcPts val="600"/>
              </a:spcAft>
              <a:buNone/>
              <a:defRPr sz="20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A4F5F491-9531-4861-B658-DB5FE7E2FEAE}"/>
              </a:ext>
            </a:extLst>
          </p:cNvPr>
          <p:cNvSpPr/>
          <p:nvPr userDrawn="1"/>
        </p:nvSpPr>
        <p:spPr>
          <a:xfrm>
            <a:off x="11328400" y="0"/>
            <a:ext cx="863600" cy="160655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Scala Sans"/>
              <a:ea typeface="+mn-ea"/>
              <a:cs typeface="+mn-cs"/>
            </a:endParaRPr>
          </a:p>
        </p:txBody>
      </p:sp>
      <p:sp>
        <p:nvSpPr>
          <p:cNvPr id="7" name="TextBox 6">
            <a:extLst>
              <a:ext uri="{FF2B5EF4-FFF2-40B4-BE49-F238E27FC236}">
                <a16:creationId xmlns:a16="http://schemas.microsoft.com/office/drawing/2014/main" id="{2328F0E1-C264-477A-8C68-5954EE75A404}"/>
              </a:ext>
            </a:extLst>
          </p:cNvPr>
          <p:cNvSpPr txBox="1"/>
          <p:nvPr userDrawn="1"/>
        </p:nvSpPr>
        <p:spPr>
          <a:xfrm>
            <a:off x="11506200" y="1752600"/>
            <a:ext cx="369332" cy="3720830"/>
          </a:xfrm>
          <a:prstGeom prst="rect">
            <a:avLst/>
          </a:prstGeom>
          <a:noFill/>
        </p:spPr>
        <p:txBody>
          <a:bodyPr vert="vert270"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Scala Sans" panose="02000503060000020003" pitchFamily="2" charset="0"/>
                <a:ea typeface="+mn-ea"/>
                <a:cs typeface="+mn-cs"/>
              </a:rPr>
              <a:t>Medication Dosage</a:t>
            </a:r>
          </a:p>
        </p:txBody>
      </p:sp>
      <p:sp>
        <p:nvSpPr>
          <p:cNvPr id="9" name="TextBox 8">
            <a:extLst>
              <a:ext uri="{FF2B5EF4-FFF2-40B4-BE49-F238E27FC236}">
                <a16:creationId xmlns:a16="http://schemas.microsoft.com/office/drawing/2014/main" id="{31CA6800-7865-48FF-933D-2164FAE0ACC9}"/>
              </a:ext>
            </a:extLst>
          </p:cNvPr>
          <p:cNvSpPr txBox="1"/>
          <p:nvPr userDrawn="1"/>
        </p:nvSpPr>
        <p:spPr>
          <a:xfrm>
            <a:off x="11506197" y="101143"/>
            <a:ext cx="1816272" cy="707886"/>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white"/>
                </a:solidFill>
                <a:effectLst/>
                <a:uLnTx/>
                <a:uFillTx/>
                <a:latin typeface="Scala Sans"/>
                <a:ea typeface="+mn-ea"/>
                <a:cs typeface="+mn-cs"/>
              </a:rPr>
              <a:t>5</a:t>
            </a:r>
          </a:p>
        </p:txBody>
      </p:sp>
      <p:cxnSp>
        <p:nvCxnSpPr>
          <p:cNvPr id="13" name="Straight Connector 12">
            <a:extLst>
              <a:ext uri="{FF2B5EF4-FFF2-40B4-BE49-F238E27FC236}">
                <a16:creationId xmlns:a16="http://schemas.microsoft.com/office/drawing/2014/main" id="{685C658E-B179-4C5F-B3AF-13638309A3D4}"/>
              </a:ext>
            </a:extLst>
          </p:cNvPr>
          <p:cNvCxnSpPr>
            <a:cxnSpLocks/>
          </p:cNvCxnSpPr>
          <p:nvPr userDrawn="1"/>
        </p:nvCxnSpPr>
        <p:spPr>
          <a:xfrm flipH="1">
            <a:off x="745067" y="6629400"/>
            <a:ext cx="10007600"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sp>
        <p:nvSpPr>
          <p:cNvPr id="17" name="Date Placeholder 16">
            <a:extLst>
              <a:ext uri="{FF2B5EF4-FFF2-40B4-BE49-F238E27FC236}">
                <a16:creationId xmlns:a16="http://schemas.microsoft.com/office/drawing/2014/main" id="{C71CCBE0-D1B9-42FA-8DAC-87EEE4FE9F42}"/>
              </a:ext>
            </a:extLst>
          </p:cNvPr>
          <p:cNvSpPr>
            <a:spLocks noGrp="1"/>
          </p:cNvSpPr>
          <p:nvPr>
            <p:ph type="dt" sz="half" idx="10"/>
          </p:nvPr>
        </p:nvSpPr>
        <p:spPr>
          <a:xfrm>
            <a:off x="838200" y="6279454"/>
            <a:ext cx="2743200" cy="365125"/>
          </a:xfrm>
        </p:spPr>
        <p:txBody>
          <a:bodyPr/>
          <a:lstStyle>
            <a:lvl1pPr>
              <a:defRPr>
                <a:solidFill>
                  <a:sysClr val="windowText" lastClr="000000"/>
                </a:solidFill>
                <a:latin typeface="+mn-lt"/>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3BC1E1F3-686D-4F52-826D-70A4F80E72A5}" type="datetime1">
              <a:rPr kumimoji="0" lang="en-US" sz="1200" b="0" i="0" u="none" strike="noStrike" kern="1200" cap="none" spc="0" normalizeH="0" baseline="0" noProof="0" smtClean="0">
                <a:ln>
                  <a:noFill/>
                </a:ln>
                <a:solidFill>
                  <a:sysClr val="windowText" lastClr="000000"/>
                </a:solidFill>
                <a:effectLst/>
                <a:uLnTx/>
                <a:uFillTx/>
                <a:latin typeface="Scala Sans"/>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5/11/21</a:t>
            </a:fld>
            <a:endParaRPr kumimoji="0" lang="en-US" sz="1200" b="0" i="0" u="none" strike="noStrike" kern="1200" cap="none" spc="0" normalizeH="0" baseline="0" noProof="0" dirty="0">
              <a:ln>
                <a:noFill/>
              </a:ln>
              <a:solidFill>
                <a:sysClr val="windowText" lastClr="000000"/>
              </a:solidFill>
              <a:effectLst/>
              <a:uLnTx/>
              <a:uFillTx/>
              <a:latin typeface="Scala Sans"/>
              <a:ea typeface="+mn-ea"/>
              <a:cs typeface="+mn-cs"/>
            </a:endParaRPr>
          </a:p>
        </p:txBody>
      </p:sp>
      <p:sp>
        <p:nvSpPr>
          <p:cNvPr id="18" name="Footer Placeholder 17">
            <a:extLst>
              <a:ext uri="{FF2B5EF4-FFF2-40B4-BE49-F238E27FC236}">
                <a16:creationId xmlns:a16="http://schemas.microsoft.com/office/drawing/2014/main" id="{33E0703D-A83A-40F4-A8D2-8D56B297D859}"/>
              </a:ext>
            </a:extLst>
          </p:cNvPr>
          <p:cNvSpPr>
            <a:spLocks noGrp="1"/>
          </p:cNvSpPr>
          <p:nvPr>
            <p:ph type="ftr" sz="quarter" idx="11"/>
          </p:nvPr>
        </p:nvSpPr>
        <p:spPr>
          <a:xfrm>
            <a:off x="4038599" y="6279454"/>
            <a:ext cx="4993783" cy="365125"/>
          </a:xfrm>
        </p:spPr>
        <p:txBody>
          <a:bodyPr/>
          <a:lstStyle>
            <a:lvl1pPr>
              <a:defRPr>
                <a:solidFill>
                  <a:sysClr val="windowText" lastClr="000000"/>
                </a:solidFill>
                <a:latin typeface="+mn-lt"/>
              </a:defRPr>
            </a:lvl1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ysClr val="windowText" lastClr="000000"/>
              </a:solidFill>
              <a:effectLst/>
              <a:uLnTx/>
              <a:uFillTx/>
              <a:latin typeface="Scala Sans"/>
              <a:ea typeface="+mn-ea"/>
              <a:cs typeface="+mn-cs"/>
            </a:endParaRPr>
          </a:p>
        </p:txBody>
      </p:sp>
      <p:pic>
        <p:nvPicPr>
          <p:cNvPr id="63" name="Graphic 62">
            <a:extLst>
              <a:ext uri="{FF2B5EF4-FFF2-40B4-BE49-F238E27FC236}">
                <a16:creationId xmlns:a16="http://schemas.microsoft.com/office/drawing/2014/main" id="{A0274B49-780C-479A-B0DB-0F3EABBF8D86}"/>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041641" y="5924550"/>
            <a:ext cx="719715" cy="744742"/>
          </a:xfrm>
          <a:prstGeom prst="rect">
            <a:avLst/>
          </a:prstGeom>
        </p:spPr>
      </p:pic>
    </p:spTree>
    <p:extLst>
      <p:ext uri="{BB962C8B-B14F-4D97-AF65-F5344CB8AC3E}">
        <p14:creationId xmlns:p14="http://schemas.microsoft.com/office/powerpoint/2010/main" val="33968003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p:bg>
      <p:bgPr>
        <a:solidFill>
          <a:schemeClr val="accent5"/>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EF1DCB50-4D11-4F0B-AF02-F0797361079C}"/>
              </a:ext>
            </a:extLst>
          </p:cNvPr>
          <p:cNvPicPr>
            <a:picLocks noChangeAspect="1"/>
          </p:cNvPicPr>
          <p:nvPr userDrawn="1"/>
        </p:nvPicPr>
        <p:blipFill>
          <a:blip r:embed="rId2">
            <a:lum bright="100000"/>
          </a:blip>
          <a:stretch>
            <a:fillRect/>
          </a:stretch>
        </p:blipFill>
        <p:spPr>
          <a:xfrm>
            <a:off x="4798611" y="2338649"/>
            <a:ext cx="2539591" cy="2633613"/>
          </a:xfrm>
          <a:prstGeom prst="rect">
            <a:avLst/>
          </a:prstGeom>
        </p:spPr>
      </p:pic>
    </p:spTree>
    <p:extLst>
      <p:ext uri="{BB962C8B-B14F-4D97-AF65-F5344CB8AC3E}">
        <p14:creationId xmlns:p14="http://schemas.microsoft.com/office/powerpoint/2010/main" val="301425267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b="0">
                <a:solidFill>
                  <a:schemeClr val="tx1"/>
                </a:solidFill>
                <a:latin typeface="Scala Sans" panose="02000503060000020003" pitchFamily="2"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63182F9F-E9DB-44F9-8F4D-A11E49818C55}" type="datetime1">
              <a:rPr kumimoji="0" lang="en-US" sz="1200" b="0" i="0" u="none" strike="noStrike" kern="1200" cap="none" spc="0" normalizeH="0" baseline="0" noProof="0" smtClean="0">
                <a:ln>
                  <a:noFill/>
                </a:ln>
                <a:solidFill>
                  <a:prstClr val="black"/>
                </a:solidFill>
                <a:effectLst/>
                <a:uLnTx/>
                <a:uFillTx/>
                <a:latin typeface="Scala Sans" panose="02000503060000020003" pitchFamily="2" charset="0"/>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5/11/21</a:t>
            </a:fld>
            <a:endParaRPr kumimoji="0" lang="en-US" sz="1200" b="0" i="0" u="none" strike="noStrike" kern="1200" cap="none" spc="0" normalizeH="0" baseline="0" noProof="0" dirty="0">
              <a:ln>
                <a:noFill/>
              </a:ln>
              <a:solidFill>
                <a:prstClr val="black"/>
              </a:solidFill>
              <a:effectLst/>
              <a:uLnTx/>
              <a:uFillTx/>
              <a:latin typeface="Scala Sans" panose="02000503060000020003" pitchFamily="2" charset="0"/>
              <a:ea typeface="+mn-ea"/>
              <a:cs typeface="+mn-cs"/>
            </a:endParaRPr>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b="0">
                <a:solidFill>
                  <a:schemeClr val="tx1"/>
                </a:solidFill>
                <a:latin typeface="Scala Sans" panose="02000503060000020003" pitchFamily="2" charset="0"/>
              </a:defRPr>
            </a:lvl1p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cala Sans" panose="02000503060000020003" pitchFamily="2" charset="0"/>
              <a:ea typeface="+mn-ea"/>
              <a:cs typeface="+mn-cs"/>
            </a:endParaRPr>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b="0">
                <a:solidFill>
                  <a:schemeClr val="tx1"/>
                </a:solidFill>
                <a:latin typeface="Scala Sans" panose="02000503060000020003" pitchFamily="2" charset="0"/>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prstClr val="black"/>
                </a:solidFill>
                <a:effectLst/>
                <a:uLnTx/>
                <a:uFillTx/>
                <a:latin typeface="Scala Sans" panose="02000503060000020003"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solidFill>
              <a:effectLst/>
              <a:uLnTx/>
              <a:uFillTx/>
              <a:latin typeface="Scala Sans" panose="02000503060000020003" pitchFamily="2" charset="0"/>
              <a:ea typeface="+mn-ea"/>
              <a:cs typeface="+mn-cs"/>
            </a:endParaRPr>
          </a:p>
        </p:txBody>
      </p:sp>
    </p:spTree>
    <p:extLst>
      <p:ext uri="{BB962C8B-B14F-4D97-AF65-F5344CB8AC3E}">
        <p14:creationId xmlns:p14="http://schemas.microsoft.com/office/powerpoint/2010/main" val="186533719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hf hdr="0" ftr="0" dt="0"/>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0636936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303DA50C-1E93-42DB-8352-159675837BDD}"/>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D6BF00"/>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srgbClr val="D6BF00"/>
              </a:solidFill>
              <a:effectLst/>
              <a:uLnTx/>
              <a:uFillTx/>
              <a:latin typeface="Scala Sans"/>
              <a:ea typeface="+mn-ea"/>
              <a:cs typeface="+mn-cs"/>
            </a:endParaRPr>
          </a:p>
        </p:txBody>
      </p:sp>
      <p:sp>
        <p:nvSpPr>
          <p:cNvPr id="4" name="Title 3">
            <a:extLst>
              <a:ext uri="{FF2B5EF4-FFF2-40B4-BE49-F238E27FC236}">
                <a16:creationId xmlns:a16="http://schemas.microsoft.com/office/drawing/2014/main" id="{006571AC-71B8-1041-9B0C-2A17262842EE}"/>
              </a:ext>
            </a:extLst>
          </p:cNvPr>
          <p:cNvSpPr>
            <a:spLocks noGrp="1"/>
          </p:cNvSpPr>
          <p:nvPr>
            <p:ph type="title"/>
          </p:nvPr>
        </p:nvSpPr>
        <p:spPr/>
        <p:txBody>
          <a:bodyPr/>
          <a:lstStyle/>
          <a:p>
            <a:r>
              <a:rPr lang="en-US" dirty="0"/>
              <a:t>Chapter 5, LO 1, key term </a:t>
            </a:r>
          </a:p>
        </p:txBody>
      </p:sp>
      <p:sp>
        <p:nvSpPr>
          <p:cNvPr id="2" name="Content Placeholder 1">
            <a:extLst>
              <a:ext uri="{FF2B5EF4-FFF2-40B4-BE49-F238E27FC236}">
                <a16:creationId xmlns:a16="http://schemas.microsoft.com/office/drawing/2014/main" id="{B76B66BE-BB58-41A3-8D81-EEE74897642F}"/>
              </a:ext>
            </a:extLst>
          </p:cNvPr>
          <p:cNvSpPr>
            <a:spLocks noGrp="1"/>
          </p:cNvSpPr>
          <p:nvPr>
            <p:ph idx="1"/>
          </p:nvPr>
        </p:nvSpPr>
        <p:spPr/>
        <p:txBody>
          <a:bodyPr/>
          <a:lstStyle/>
          <a:p>
            <a:pPr marL="457200" indent="-457200">
              <a:buFont typeface="+mj-lt"/>
              <a:buAutoNum type="arabicPeriod"/>
            </a:pPr>
            <a:r>
              <a:rPr lang="en-US" dirty="0">
                <a:solidFill>
                  <a:srgbClr val="FF0000"/>
                </a:solidFill>
              </a:rPr>
              <a:t>Discuss medication dosage conversion</a:t>
            </a:r>
          </a:p>
          <a:p>
            <a:endParaRPr lang="en-US" dirty="0"/>
          </a:p>
          <a:p>
            <a:r>
              <a:rPr lang="en-US" dirty="0"/>
              <a:t>Define the following term:</a:t>
            </a:r>
            <a:br>
              <a:rPr lang="en-US" dirty="0"/>
            </a:br>
            <a:endParaRPr lang="en-US" dirty="0"/>
          </a:p>
          <a:p>
            <a:r>
              <a:rPr lang="en-US" b="1" dirty="0"/>
              <a:t>convert</a:t>
            </a:r>
          </a:p>
          <a:p>
            <a:pPr lvl="1"/>
            <a:r>
              <a:rPr lang="en-US" dirty="0"/>
              <a:t>in medication administration, to change the amount of medication from one measuring system to another.</a:t>
            </a:r>
          </a:p>
          <a:p>
            <a:endParaRPr lang="en-US" dirty="0"/>
          </a:p>
          <a:p>
            <a:endParaRPr lang="en-US" dirty="0"/>
          </a:p>
          <a:p>
            <a:endParaRPr lang="en-US" dirty="0"/>
          </a:p>
          <a:p>
            <a:endParaRPr lang="en-US" dirty="0"/>
          </a:p>
          <a:p>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7036327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303DA50C-1E93-42DB-8352-159675837BDD}"/>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D6BF00"/>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dirty="0">
              <a:ln>
                <a:noFill/>
              </a:ln>
              <a:solidFill>
                <a:srgbClr val="D6BF00"/>
              </a:solidFill>
              <a:effectLst/>
              <a:uLnTx/>
              <a:uFillTx/>
              <a:latin typeface="Scala Sans"/>
              <a:ea typeface="+mn-ea"/>
              <a:cs typeface="+mn-cs"/>
            </a:endParaRPr>
          </a:p>
        </p:txBody>
      </p:sp>
      <p:sp>
        <p:nvSpPr>
          <p:cNvPr id="4" name="Title 3">
            <a:extLst>
              <a:ext uri="{FF2B5EF4-FFF2-40B4-BE49-F238E27FC236}">
                <a16:creationId xmlns:a16="http://schemas.microsoft.com/office/drawing/2014/main" id="{006571AC-71B8-1041-9B0C-2A17262842EE}"/>
              </a:ext>
            </a:extLst>
          </p:cNvPr>
          <p:cNvSpPr>
            <a:spLocks noGrp="1"/>
          </p:cNvSpPr>
          <p:nvPr>
            <p:ph type="title"/>
          </p:nvPr>
        </p:nvSpPr>
        <p:spPr/>
        <p:txBody>
          <a:bodyPr/>
          <a:lstStyle/>
          <a:p>
            <a:r>
              <a:rPr lang="en-US" dirty="0"/>
              <a:t>LO1, content 1</a:t>
            </a:r>
          </a:p>
        </p:txBody>
      </p:sp>
      <p:sp>
        <p:nvSpPr>
          <p:cNvPr id="2" name="Content Placeholder 1">
            <a:extLst>
              <a:ext uri="{FF2B5EF4-FFF2-40B4-BE49-F238E27FC236}">
                <a16:creationId xmlns:a16="http://schemas.microsoft.com/office/drawing/2014/main" id="{B76B66BE-BB58-41A3-8D81-EEE74897642F}"/>
              </a:ext>
            </a:extLst>
          </p:cNvPr>
          <p:cNvSpPr>
            <a:spLocks noGrp="1"/>
          </p:cNvSpPr>
          <p:nvPr>
            <p:ph idx="1"/>
          </p:nvPr>
        </p:nvSpPr>
        <p:spPr/>
        <p:txBody>
          <a:bodyPr/>
          <a:lstStyle/>
          <a:p>
            <a:pPr marL="457200" indent="-457200">
              <a:buFont typeface="+mj-lt"/>
              <a:buAutoNum type="arabicPeriod"/>
            </a:pPr>
            <a:r>
              <a:rPr lang="en-US" dirty="0">
                <a:solidFill>
                  <a:srgbClr val="FF0000"/>
                </a:solidFill>
              </a:rPr>
              <a:t>Discuss medication dosage conversion</a:t>
            </a:r>
          </a:p>
          <a:p>
            <a:endParaRPr lang="en-US" dirty="0"/>
          </a:p>
          <a:p>
            <a:r>
              <a:rPr lang="en-US" dirty="0"/>
              <a:t>Doctors, pharmacists, and nurses are authorized to convert dosages. MAs are not. MAs should</a:t>
            </a:r>
          </a:p>
          <a:p>
            <a:pPr marL="342900" indent="-342900">
              <a:buFont typeface="Arial" panose="020B0604020202020204" pitchFamily="34" charset="0"/>
              <a:buChar char="•"/>
            </a:pPr>
            <a:r>
              <a:rPr lang="en-US" dirty="0"/>
              <a:t>Recognize standard units of measurement for different measuring systems</a:t>
            </a:r>
          </a:p>
          <a:p>
            <a:pPr marL="342900" indent="-342900">
              <a:buFont typeface="Arial" panose="020B0604020202020204" pitchFamily="34" charset="0"/>
              <a:buChar char="•"/>
            </a:pPr>
            <a:r>
              <a:rPr lang="en-US" dirty="0"/>
              <a:t>Check dosages carefully before administering a medication and report any suspected errors</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25144499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303DA50C-1E93-42DB-8352-159675837BDD}"/>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D6BF00"/>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dirty="0">
              <a:ln>
                <a:noFill/>
              </a:ln>
              <a:solidFill>
                <a:srgbClr val="D6BF00"/>
              </a:solidFill>
              <a:effectLst/>
              <a:uLnTx/>
              <a:uFillTx/>
              <a:latin typeface="Scala Sans"/>
              <a:ea typeface="+mn-ea"/>
              <a:cs typeface="+mn-cs"/>
            </a:endParaRPr>
          </a:p>
        </p:txBody>
      </p:sp>
      <p:sp>
        <p:nvSpPr>
          <p:cNvPr id="4" name="Title 3">
            <a:extLst>
              <a:ext uri="{FF2B5EF4-FFF2-40B4-BE49-F238E27FC236}">
                <a16:creationId xmlns:a16="http://schemas.microsoft.com/office/drawing/2014/main" id="{70E841A7-C51A-4E4B-AA68-63E45BD40EF2}"/>
              </a:ext>
            </a:extLst>
          </p:cNvPr>
          <p:cNvSpPr>
            <a:spLocks noGrp="1"/>
          </p:cNvSpPr>
          <p:nvPr>
            <p:ph type="title"/>
          </p:nvPr>
        </p:nvSpPr>
        <p:spPr/>
        <p:txBody>
          <a:bodyPr/>
          <a:lstStyle/>
          <a:p>
            <a:r>
              <a:rPr lang="en-US" dirty="0"/>
              <a:t>LO2, key terms</a:t>
            </a:r>
          </a:p>
        </p:txBody>
      </p:sp>
      <p:sp>
        <p:nvSpPr>
          <p:cNvPr id="2" name="Content Placeholder 1">
            <a:extLst>
              <a:ext uri="{FF2B5EF4-FFF2-40B4-BE49-F238E27FC236}">
                <a16:creationId xmlns:a16="http://schemas.microsoft.com/office/drawing/2014/main" id="{B76B66BE-BB58-41A3-8D81-EEE74897642F}"/>
              </a:ext>
            </a:extLst>
          </p:cNvPr>
          <p:cNvSpPr>
            <a:spLocks noGrp="1"/>
          </p:cNvSpPr>
          <p:nvPr>
            <p:ph idx="1"/>
          </p:nvPr>
        </p:nvSpPr>
        <p:spPr/>
        <p:txBody>
          <a:bodyPr/>
          <a:lstStyle/>
          <a:p>
            <a:pPr marL="457200" indent="-457200">
              <a:buFont typeface="+mj-lt"/>
              <a:buAutoNum type="arabicPeriod" startAt="2"/>
            </a:pPr>
            <a:r>
              <a:rPr lang="en-US" dirty="0">
                <a:solidFill>
                  <a:srgbClr val="FF0000"/>
                </a:solidFill>
              </a:rPr>
              <a:t>Explain the most common measurement systems for medication dosage</a:t>
            </a:r>
            <a:endParaRPr lang="en-US" dirty="0"/>
          </a:p>
          <a:p>
            <a:endParaRPr lang="en-US" dirty="0"/>
          </a:p>
          <a:p>
            <a:r>
              <a:rPr lang="en-US" dirty="0"/>
              <a:t>Define the following terms:</a:t>
            </a:r>
            <a:br>
              <a:rPr lang="en-US" dirty="0"/>
            </a:br>
            <a:endParaRPr lang="en-US" b="1" dirty="0"/>
          </a:p>
          <a:p>
            <a:r>
              <a:rPr lang="en-US" b="1" dirty="0"/>
              <a:t>metric system</a:t>
            </a:r>
          </a:p>
          <a:p>
            <a:pPr lvl="1"/>
            <a:r>
              <a:rPr lang="en-US" dirty="0"/>
              <a:t>a system of measurement based on the meter, the kilogram, and the liter; preferred for scientific and healthcare use.</a:t>
            </a:r>
          </a:p>
          <a:p>
            <a:r>
              <a:rPr lang="en-US" b="1" dirty="0"/>
              <a:t>household measurements</a:t>
            </a:r>
          </a:p>
          <a:p>
            <a:pPr lvl="1"/>
            <a:r>
              <a:rPr lang="en-US" dirty="0"/>
              <a:t>a system of measurements that uses the yard, the pound, and the fluid ounce; should not be used to measure medications. </a:t>
            </a:r>
          </a:p>
          <a:p>
            <a:r>
              <a:rPr lang="en-US" b="1" dirty="0"/>
              <a:t>apothecaries’ system</a:t>
            </a:r>
          </a:p>
          <a:p>
            <a:pPr lvl="1"/>
            <a:r>
              <a:rPr lang="en-US" dirty="0"/>
              <a:t>one of the oldest systems of measurements; was once used to measure medications, but now rarely used.</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29508330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303DA50C-1E93-42DB-8352-159675837BDD}"/>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D6BF00"/>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srgbClr val="D6BF00"/>
              </a:solidFill>
              <a:effectLst/>
              <a:uLnTx/>
              <a:uFillTx/>
              <a:latin typeface="Scala Sans"/>
              <a:ea typeface="+mn-ea"/>
              <a:cs typeface="+mn-cs"/>
            </a:endParaRPr>
          </a:p>
        </p:txBody>
      </p:sp>
      <p:sp>
        <p:nvSpPr>
          <p:cNvPr id="4" name="Title 3">
            <a:extLst>
              <a:ext uri="{FF2B5EF4-FFF2-40B4-BE49-F238E27FC236}">
                <a16:creationId xmlns:a16="http://schemas.microsoft.com/office/drawing/2014/main" id="{70E841A7-C51A-4E4B-AA68-63E45BD40EF2}"/>
              </a:ext>
            </a:extLst>
          </p:cNvPr>
          <p:cNvSpPr>
            <a:spLocks noGrp="1"/>
          </p:cNvSpPr>
          <p:nvPr>
            <p:ph type="title"/>
          </p:nvPr>
        </p:nvSpPr>
        <p:spPr/>
        <p:txBody>
          <a:bodyPr/>
          <a:lstStyle/>
          <a:p>
            <a:r>
              <a:rPr lang="en-US" dirty="0"/>
              <a:t>LO2, content 1</a:t>
            </a:r>
          </a:p>
        </p:txBody>
      </p:sp>
      <p:sp>
        <p:nvSpPr>
          <p:cNvPr id="2" name="Content Placeholder 1">
            <a:extLst>
              <a:ext uri="{FF2B5EF4-FFF2-40B4-BE49-F238E27FC236}">
                <a16:creationId xmlns:a16="http://schemas.microsoft.com/office/drawing/2014/main" id="{B76B66BE-BB58-41A3-8D81-EEE74897642F}"/>
              </a:ext>
            </a:extLst>
          </p:cNvPr>
          <p:cNvSpPr>
            <a:spLocks noGrp="1"/>
          </p:cNvSpPr>
          <p:nvPr>
            <p:ph idx="1"/>
          </p:nvPr>
        </p:nvSpPr>
        <p:spPr/>
        <p:txBody>
          <a:bodyPr/>
          <a:lstStyle/>
          <a:p>
            <a:pPr marL="457200" indent="-457200">
              <a:buFont typeface="+mj-lt"/>
              <a:buAutoNum type="arabicPeriod" startAt="2"/>
            </a:pPr>
            <a:r>
              <a:rPr lang="en-US" dirty="0">
                <a:solidFill>
                  <a:srgbClr val="FF0000"/>
                </a:solidFill>
              </a:rPr>
              <a:t>Explain the most common measurement systems for medication dosage</a:t>
            </a:r>
            <a:endParaRPr lang="en-US" dirty="0"/>
          </a:p>
          <a:p>
            <a:endParaRPr lang="en-US" dirty="0"/>
          </a:p>
          <a:p>
            <a:r>
              <a:rPr lang="en-US" dirty="0"/>
              <a:t>Remember the following points about measurement systems:</a:t>
            </a:r>
          </a:p>
          <a:p>
            <a:pPr marL="342900" indent="-342900">
              <a:buFont typeface="Arial" panose="020B0604020202020204" pitchFamily="34" charset="0"/>
              <a:buChar char="•"/>
            </a:pPr>
            <a:r>
              <a:rPr lang="en-US" dirty="0"/>
              <a:t>Metric and household systems are most common</a:t>
            </a:r>
          </a:p>
          <a:p>
            <a:pPr marL="342900" indent="-342900">
              <a:buFont typeface="Arial" panose="020B0604020202020204" pitchFamily="34" charset="0"/>
              <a:buChar char="•"/>
            </a:pPr>
            <a:r>
              <a:rPr lang="en-US" dirty="0"/>
              <a:t>The apothecaries’ system is now rarely used</a:t>
            </a:r>
          </a:p>
          <a:p>
            <a:pPr marL="342900" indent="-342900">
              <a:buFont typeface="Arial" panose="020B0604020202020204" pitchFamily="34" charset="0"/>
              <a:buChar char="•"/>
            </a:pPr>
            <a:r>
              <a:rPr lang="en-US" dirty="0"/>
              <a:t>The metric system is the standard system of measurement for healthcare</a:t>
            </a:r>
          </a:p>
          <a:p>
            <a:pPr marL="342900" indent="-342900">
              <a:buFont typeface="Arial" panose="020B0604020202020204" pitchFamily="34" charset="0"/>
              <a:buChar char="•"/>
            </a:pPr>
            <a:r>
              <a:rPr lang="en-US" dirty="0"/>
              <a:t>Metric system is based on units of 10 and allows for accurate calculations</a:t>
            </a:r>
          </a:p>
          <a:p>
            <a:pPr marL="342900" indent="-342900">
              <a:buFont typeface="Arial" panose="020B0604020202020204" pitchFamily="34" charset="0"/>
              <a:buChar char="•"/>
            </a:pPr>
            <a:r>
              <a:rPr lang="en-US" dirty="0"/>
              <a:t>OTC medications may list dosages in both metric and household measurements</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15153546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A9C7A18D-C9D1-4371-BB8C-F72C5EB35C17}"/>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329C76"/>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dirty="0">
              <a:ln>
                <a:noFill/>
              </a:ln>
              <a:solidFill>
                <a:srgbClr val="329C76"/>
              </a:solidFill>
              <a:effectLst/>
              <a:uLnTx/>
              <a:uFillTx/>
              <a:latin typeface="Scala Sans"/>
              <a:ea typeface="+mn-ea"/>
              <a:cs typeface="+mn-cs"/>
            </a:endParaRPr>
          </a:p>
        </p:txBody>
      </p:sp>
      <p:sp>
        <p:nvSpPr>
          <p:cNvPr id="7" name="Title 6">
            <a:extLst>
              <a:ext uri="{FF2B5EF4-FFF2-40B4-BE49-F238E27FC236}">
                <a16:creationId xmlns:a16="http://schemas.microsoft.com/office/drawing/2014/main" id="{7EDEC708-DE80-8243-B9EB-165B2481BDF2}"/>
              </a:ext>
            </a:extLst>
          </p:cNvPr>
          <p:cNvSpPr>
            <a:spLocks noGrp="1"/>
          </p:cNvSpPr>
          <p:nvPr>
            <p:ph type="title"/>
          </p:nvPr>
        </p:nvSpPr>
        <p:spPr/>
        <p:txBody>
          <a:bodyPr/>
          <a:lstStyle/>
          <a:p>
            <a:r>
              <a:rPr lang="en-US" dirty="0"/>
              <a:t>LO2, content 2</a:t>
            </a:r>
          </a:p>
        </p:txBody>
      </p:sp>
      <p:sp>
        <p:nvSpPr>
          <p:cNvPr id="2" name="Content Placeholder 1">
            <a:extLst>
              <a:ext uri="{FF2B5EF4-FFF2-40B4-BE49-F238E27FC236}">
                <a16:creationId xmlns:a16="http://schemas.microsoft.com/office/drawing/2014/main" id="{1FABFEF0-7A33-4B5F-AD27-0EB7BB370196}"/>
              </a:ext>
            </a:extLst>
          </p:cNvPr>
          <p:cNvSpPr>
            <a:spLocks noGrp="1"/>
          </p:cNvSpPr>
          <p:nvPr>
            <p:ph idx="1"/>
          </p:nvPr>
        </p:nvSpPr>
        <p:spPr/>
        <p:txBody>
          <a:bodyPr/>
          <a:lstStyle/>
          <a:p>
            <a:r>
              <a:rPr lang="en-US" dirty="0"/>
              <a:t>Key Material 5-1: Metric Units and Equivalents</a:t>
            </a:r>
          </a:p>
          <a:p>
            <a:endParaRPr lang="en-US" dirty="0"/>
          </a:p>
          <a:p>
            <a:r>
              <a:rPr lang="en-US" dirty="0"/>
              <a:t>Weight (mass, or the amount of matter in something) is measured using these metric units:</a:t>
            </a:r>
          </a:p>
          <a:p>
            <a:pPr marL="342900" indent="-342900">
              <a:buFont typeface="Arial" panose="020B0604020202020204" pitchFamily="34" charset="0"/>
              <a:buChar char="•"/>
            </a:pPr>
            <a:r>
              <a:rPr lang="en-US" dirty="0"/>
              <a:t>1000 micrograms (mcg) = 1 milligram (mg)</a:t>
            </a:r>
          </a:p>
          <a:p>
            <a:pPr marL="342900" indent="-342900">
              <a:buFont typeface="Arial" panose="020B0604020202020204" pitchFamily="34" charset="0"/>
              <a:buChar char="•"/>
            </a:pPr>
            <a:r>
              <a:rPr lang="en-US" dirty="0"/>
              <a:t>1000 mg = 1 gram (g)</a:t>
            </a:r>
          </a:p>
          <a:p>
            <a:pPr marL="342900" indent="-342900">
              <a:buFont typeface="Arial" panose="020B0604020202020204" pitchFamily="34" charset="0"/>
              <a:buChar char="•"/>
            </a:pPr>
            <a:r>
              <a:rPr lang="en-US" dirty="0"/>
              <a:t>1000 g = 1 kilogram (kg)</a:t>
            </a:r>
          </a:p>
          <a:p>
            <a:r>
              <a:rPr lang="en-US" dirty="0"/>
              <a:t> </a:t>
            </a:r>
          </a:p>
          <a:p>
            <a:r>
              <a:rPr lang="en-US" dirty="0"/>
              <a:t>Length is measured using these metric units:</a:t>
            </a:r>
          </a:p>
          <a:p>
            <a:pPr marL="342900" indent="-342900">
              <a:buFont typeface="Arial" panose="020B0604020202020204" pitchFamily="34" charset="0"/>
              <a:buChar char="•"/>
            </a:pPr>
            <a:r>
              <a:rPr lang="en-US" dirty="0"/>
              <a:t>10 millimeters (mm) = 1 centimeter (cm)</a:t>
            </a:r>
          </a:p>
          <a:p>
            <a:pPr marL="342900" indent="-342900">
              <a:buFont typeface="Arial" panose="020B0604020202020204" pitchFamily="34" charset="0"/>
              <a:buChar char="•"/>
            </a:pPr>
            <a:r>
              <a:rPr lang="en-US" dirty="0"/>
              <a:t>100 cm = 1 meter (m)</a:t>
            </a:r>
          </a:p>
          <a:p>
            <a:pPr marL="342900" indent="-342900">
              <a:buFont typeface="Arial" panose="020B0604020202020204" pitchFamily="34" charset="0"/>
              <a:buChar char="•"/>
            </a:pPr>
            <a:r>
              <a:rPr lang="en-US" dirty="0"/>
              <a:t>1000 m = 1 kilometer (km)</a:t>
            </a:r>
          </a:p>
          <a:p>
            <a:r>
              <a:rPr lang="en-US" dirty="0"/>
              <a:t> </a:t>
            </a:r>
          </a:p>
          <a:p>
            <a:r>
              <a:rPr lang="en-US" dirty="0"/>
              <a:t>Volume is measured using these metric units:</a:t>
            </a:r>
          </a:p>
          <a:p>
            <a:pPr marL="342900" indent="-342900">
              <a:buFont typeface="Arial" panose="020B0604020202020204" pitchFamily="34" charset="0"/>
              <a:buChar char="•"/>
            </a:pPr>
            <a:r>
              <a:rPr lang="en-US" dirty="0"/>
              <a:t>1000 microliter = 1 milliliter (mL)</a:t>
            </a:r>
          </a:p>
          <a:p>
            <a:pPr marL="342900" indent="-342900">
              <a:buFont typeface="Arial" panose="020B0604020202020204" pitchFamily="34" charset="0"/>
              <a:buChar char="•"/>
            </a:pPr>
            <a:r>
              <a:rPr lang="en-US" dirty="0"/>
              <a:t>1000 mL = 1 liter (L)</a:t>
            </a:r>
          </a:p>
          <a:p>
            <a:endParaRPr lang="en-US" dirty="0"/>
          </a:p>
        </p:txBody>
      </p:sp>
    </p:spTree>
    <p:extLst>
      <p:ext uri="{BB962C8B-B14F-4D97-AF65-F5344CB8AC3E}">
        <p14:creationId xmlns:p14="http://schemas.microsoft.com/office/powerpoint/2010/main" val="35245548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A9C7A18D-C9D1-4371-BB8C-F72C5EB35C17}"/>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329C76"/>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dirty="0">
              <a:ln>
                <a:noFill/>
              </a:ln>
              <a:solidFill>
                <a:srgbClr val="329C76"/>
              </a:solidFill>
              <a:effectLst/>
              <a:uLnTx/>
              <a:uFillTx/>
              <a:latin typeface="Scala Sans"/>
              <a:ea typeface="+mn-ea"/>
              <a:cs typeface="+mn-cs"/>
            </a:endParaRPr>
          </a:p>
        </p:txBody>
      </p:sp>
      <p:sp>
        <p:nvSpPr>
          <p:cNvPr id="7" name="Title 6">
            <a:extLst>
              <a:ext uri="{FF2B5EF4-FFF2-40B4-BE49-F238E27FC236}">
                <a16:creationId xmlns:a16="http://schemas.microsoft.com/office/drawing/2014/main" id="{7EDEC708-DE80-8243-B9EB-165B2481BDF2}"/>
              </a:ext>
            </a:extLst>
          </p:cNvPr>
          <p:cNvSpPr>
            <a:spLocks noGrp="1"/>
          </p:cNvSpPr>
          <p:nvPr>
            <p:ph type="title"/>
          </p:nvPr>
        </p:nvSpPr>
        <p:spPr/>
        <p:txBody>
          <a:bodyPr/>
          <a:lstStyle/>
          <a:p>
            <a:r>
              <a:rPr lang="en-US" dirty="0"/>
              <a:t>LO2, content 3</a:t>
            </a:r>
          </a:p>
        </p:txBody>
      </p:sp>
      <p:sp>
        <p:nvSpPr>
          <p:cNvPr id="2" name="Content Placeholder 1">
            <a:extLst>
              <a:ext uri="{FF2B5EF4-FFF2-40B4-BE49-F238E27FC236}">
                <a16:creationId xmlns:a16="http://schemas.microsoft.com/office/drawing/2014/main" id="{1FABFEF0-7A33-4B5F-AD27-0EB7BB370196}"/>
              </a:ext>
            </a:extLst>
          </p:cNvPr>
          <p:cNvSpPr>
            <a:spLocks noGrp="1"/>
          </p:cNvSpPr>
          <p:nvPr>
            <p:ph idx="1"/>
          </p:nvPr>
        </p:nvSpPr>
        <p:spPr/>
        <p:txBody>
          <a:bodyPr/>
          <a:lstStyle/>
          <a:p>
            <a:r>
              <a:rPr lang="en-US" dirty="0"/>
              <a:t>Key Material 5-2: Common Conversions</a:t>
            </a:r>
          </a:p>
          <a:p>
            <a:endParaRPr lang="en-US" dirty="0"/>
          </a:p>
          <a:p>
            <a:endParaRPr lang="en-US" dirty="0"/>
          </a:p>
        </p:txBody>
      </p:sp>
      <p:pic>
        <p:nvPicPr>
          <p:cNvPr id="5" name="Picture 4" descr="Conversions between measurement systems">
            <a:extLst>
              <a:ext uri="{FF2B5EF4-FFF2-40B4-BE49-F238E27FC236}">
                <a16:creationId xmlns:a16="http://schemas.microsoft.com/office/drawing/2014/main" id="{DC21C4FC-9E72-7443-9B4A-DF55E8E426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55176" y="1395523"/>
            <a:ext cx="6394810" cy="4781441"/>
          </a:xfrm>
          <a:prstGeom prst="rect">
            <a:avLst/>
          </a:prstGeom>
        </p:spPr>
      </p:pic>
    </p:spTree>
    <p:extLst>
      <p:ext uri="{BB962C8B-B14F-4D97-AF65-F5344CB8AC3E}">
        <p14:creationId xmlns:p14="http://schemas.microsoft.com/office/powerpoint/2010/main" val="14072846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303DA50C-1E93-42DB-8352-159675837BDD}"/>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D6BF00"/>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dirty="0">
              <a:ln>
                <a:noFill/>
              </a:ln>
              <a:solidFill>
                <a:srgbClr val="D6BF00"/>
              </a:solidFill>
              <a:effectLst/>
              <a:uLnTx/>
              <a:uFillTx/>
              <a:latin typeface="Scala Sans"/>
              <a:ea typeface="+mn-ea"/>
              <a:cs typeface="+mn-cs"/>
            </a:endParaRPr>
          </a:p>
        </p:txBody>
      </p:sp>
      <p:sp>
        <p:nvSpPr>
          <p:cNvPr id="4" name="Title 3">
            <a:extLst>
              <a:ext uri="{FF2B5EF4-FFF2-40B4-BE49-F238E27FC236}">
                <a16:creationId xmlns:a16="http://schemas.microsoft.com/office/drawing/2014/main" id="{70E841A7-C51A-4E4B-AA68-63E45BD40EF2}"/>
              </a:ext>
            </a:extLst>
          </p:cNvPr>
          <p:cNvSpPr>
            <a:spLocks noGrp="1"/>
          </p:cNvSpPr>
          <p:nvPr>
            <p:ph type="title"/>
          </p:nvPr>
        </p:nvSpPr>
        <p:spPr/>
        <p:txBody>
          <a:bodyPr/>
          <a:lstStyle/>
          <a:p>
            <a:r>
              <a:rPr lang="en-US" dirty="0"/>
              <a:t>LO2, content 4</a:t>
            </a:r>
          </a:p>
        </p:txBody>
      </p:sp>
      <p:sp>
        <p:nvSpPr>
          <p:cNvPr id="2" name="Content Placeholder 1">
            <a:extLst>
              <a:ext uri="{FF2B5EF4-FFF2-40B4-BE49-F238E27FC236}">
                <a16:creationId xmlns:a16="http://schemas.microsoft.com/office/drawing/2014/main" id="{B76B66BE-BB58-41A3-8D81-EEE74897642F}"/>
              </a:ext>
            </a:extLst>
          </p:cNvPr>
          <p:cNvSpPr>
            <a:spLocks noGrp="1"/>
          </p:cNvSpPr>
          <p:nvPr>
            <p:ph idx="1"/>
          </p:nvPr>
        </p:nvSpPr>
        <p:spPr/>
        <p:txBody>
          <a:bodyPr/>
          <a:lstStyle/>
          <a:p>
            <a:pPr marL="457200" indent="-457200">
              <a:buFont typeface="+mj-lt"/>
              <a:buAutoNum type="arabicPeriod" startAt="2"/>
            </a:pPr>
            <a:r>
              <a:rPr lang="en-US" dirty="0">
                <a:solidFill>
                  <a:srgbClr val="FF0000"/>
                </a:solidFill>
              </a:rPr>
              <a:t>Explain the most common measurement systems for medication dosage</a:t>
            </a:r>
            <a:endParaRPr lang="en-US" dirty="0"/>
          </a:p>
          <a:p>
            <a:endParaRPr lang="en-US" dirty="0"/>
          </a:p>
          <a:p>
            <a:r>
              <a:rPr lang="en-US" dirty="0"/>
              <a:t>Critical Thinking: Conversation Starter</a:t>
            </a:r>
          </a:p>
          <a:p>
            <a:endParaRPr lang="en-US" dirty="0"/>
          </a:p>
          <a:p>
            <a:r>
              <a:rPr lang="en-US" dirty="0"/>
              <a:t>Are you comfortable using the metric system?</a:t>
            </a:r>
          </a:p>
          <a:p>
            <a:endParaRPr lang="en-US" dirty="0"/>
          </a:p>
          <a:p>
            <a:r>
              <a:rPr lang="en-US" dirty="0"/>
              <a:t>Why or why not?</a:t>
            </a:r>
          </a:p>
          <a:p>
            <a:endParaRPr lang="en-US" dirty="0"/>
          </a:p>
          <a:p>
            <a:r>
              <a:rPr lang="en-US" dirty="0"/>
              <a:t>Are there types of metric measurements you are familiar with and others you are not as familiar with (for example you might be familiar with metric measurements for volume, but not for weight)? </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11394080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303DA50C-1E93-42DB-8352-159675837BDD}"/>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D6BF00"/>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dirty="0">
              <a:ln>
                <a:noFill/>
              </a:ln>
              <a:solidFill>
                <a:srgbClr val="D6BF00"/>
              </a:solidFill>
              <a:effectLst/>
              <a:uLnTx/>
              <a:uFillTx/>
              <a:latin typeface="Scala Sans"/>
              <a:ea typeface="+mn-ea"/>
              <a:cs typeface="+mn-cs"/>
            </a:endParaRPr>
          </a:p>
        </p:txBody>
      </p:sp>
      <p:sp>
        <p:nvSpPr>
          <p:cNvPr id="4" name="Title 3">
            <a:extLst>
              <a:ext uri="{FF2B5EF4-FFF2-40B4-BE49-F238E27FC236}">
                <a16:creationId xmlns:a16="http://schemas.microsoft.com/office/drawing/2014/main" id="{18D828F2-3388-AA47-9533-AFF336B31CAD}"/>
              </a:ext>
            </a:extLst>
          </p:cNvPr>
          <p:cNvSpPr>
            <a:spLocks noGrp="1"/>
          </p:cNvSpPr>
          <p:nvPr>
            <p:ph type="title"/>
          </p:nvPr>
        </p:nvSpPr>
        <p:spPr/>
        <p:txBody>
          <a:bodyPr/>
          <a:lstStyle/>
          <a:p>
            <a:r>
              <a:rPr lang="en-US" dirty="0"/>
              <a:t>LO3, key terms</a:t>
            </a:r>
          </a:p>
        </p:txBody>
      </p:sp>
      <p:sp>
        <p:nvSpPr>
          <p:cNvPr id="2" name="Content Placeholder 1">
            <a:extLst>
              <a:ext uri="{FF2B5EF4-FFF2-40B4-BE49-F238E27FC236}">
                <a16:creationId xmlns:a16="http://schemas.microsoft.com/office/drawing/2014/main" id="{B76B66BE-BB58-41A3-8D81-EEE74897642F}"/>
              </a:ext>
            </a:extLst>
          </p:cNvPr>
          <p:cNvSpPr>
            <a:spLocks noGrp="1"/>
          </p:cNvSpPr>
          <p:nvPr>
            <p:ph idx="1"/>
          </p:nvPr>
        </p:nvSpPr>
        <p:spPr/>
        <p:txBody>
          <a:bodyPr/>
          <a:lstStyle/>
          <a:p>
            <a:pPr marL="457200" indent="-457200">
              <a:buFont typeface="+mj-lt"/>
              <a:buAutoNum type="arabicPeriod" startAt="3"/>
            </a:pPr>
            <a:r>
              <a:rPr lang="en-US" dirty="0">
                <a:solidFill>
                  <a:srgbClr val="FF0000"/>
                </a:solidFill>
              </a:rPr>
              <a:t>Explain dosage range</a:t>
            </a:r>
            <a:endParaRPr lang="en-US" dirty="0"/>
          </a:p>
          <a:p>
            <a:endParaRPr lang="en-US" dirty="0"/>
          </a:p>
          <a:p>
            <a:r>
              <a:rPr lang="en-US" dirty="0"/>
              <a:t>Define the following terms:</a:t>
            </a:r>
          </a:p>
          <a:p>
            <a:endParaRPr lang="en-US" dirty="0"/>
          </a:p>
          <a:p>
            <a:r>
              <a:rPr lang="en-US" b="1" dirty="0"/>
              <a:t>clinical trial</a:t>
            </a:r>
          </a:p>
          <a:p>
            <a:pPr lvl="1"/>
            <a:r>
              <a:rPr lang="en-US" dirty="0"/>
              <a:t>testing performed on patients during the development of a new medication. </a:t>
            </a:r>
          </a:p>
          <a:p>
            <a:r>
              <a:rPr lang="en-US" b="1" dirty="0"/>
              <a:t>dosage range</a:t>
            </a:r>
          </a:p>
          <a:p>
            <a:pPr lvl="1"/>
            <a:r>
              <a:rPr lang="en-US" dirty="0"/>
              <a:t>the maximum and minimum doses to achieve the desired effects of a drug, determined during clinical trials.</a:t>
            </a:r>
          </a:p>
          <a:p>
            <a:r>
              <a:rPr lang="en-US" b="1" dirty="0"/>
              <a:t>toxicity</a:t>
            </a:r>
          </a:p>
          <a:p>
            <a:pPr lvl="1"/>
            <a:r>
              <a:rPr lang="en-US" dirty="0"/>
              <a:t>in medication administration, a poisoning effect caused by too high a dose or from an adverse reaction.</a:t>
            </a:r>
          </a:p>
          <a:p>
            <a:r>
              <a:rPr lang="en-US" b="1" dirty="0"/>
              <a:t>therapeutic dose</a:t>
            </a:r>
          </a:p>
          <a:p>
            <a:pPr lvl="1"/>
            <a:r>
              <a:rPr lang="en-US" dirty="0"/>
              <a:t>a dose of a medication that has the desired effect on the patient.</a:t>
            </a:r>
          </a:p>
          <a:p>
            <a:endParaRPr lang="en-US" dirty="0"/>
          </a:p>
          <a:p>
            <a:endParaRPr lang="en-US" dirty="0"/>
          </a:p>
          <a:p>
            <a:endParaRPr lang="en-US" dirty="0"/>
          </a:p>
          <a:p>
            <a:endParaRPr lang="en-US" dirty="0"/>
          </a:p>
          <a:p>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35601108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hidden="1">
            <a:extLst>
              <a:ext uri="{FF2B5EF4-FFF2-40B4-BE49-F238E27FC236}">
                <a16:creationId xmlns:a16="http://schemas.microsoft.com/office/drawing/2014/main" id="{303DA50C-1E93-42DB-8352-159675837BDD}"/>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E19C8D7-53EE-4AF8-9E87-BBF55B67A655}" type="slidenum">
              <a:rPr kumimoji="0" lang="en-US" sz="1200" b="0" i="0" u="none" strike="noStrike" kern="1200" cap="none" spc="0" normalizeH="0" baseline="0" noProof="0" smtClean="0">
                <a:ln>
                  <a:noFill/>
                </a:ln>
                <a:solidFill>
                  <a:srgbClr val="D6BF00"/>
                </a:solidFill>
                <a:effectLst/>
                <a:uLnTx/>
                <a:uFillTx/>
                <a:latin typeface="Scala San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dirty="0">
              <a:ln>
                <a:noFill/>
              </a:ln>
              <a:solidFill>
                <a:srgbClr val="D6BF00"/>
              </a:solidFill>
              <a:effectLst/>
              <a:uLnTx/>
              <a:uFillTx/>
              <a:latin typeface="Scala Sans"/>
              <a:ea typeface="+mn-ea"/>
              <a:cs typeface="+mn-cs"/>
            </a:endParaRPr>
          </a:p>
        </p:txBody>
      </p:sp>
      <p:sp>
        <p:nvSpPr>
          <p:cNvPr id="4" name="Title 3">
            <a:extLst>
              <a:ext uri="{FF2B5EF4-FFF2-40B4-BE49-F238E27FC236}">
                <a16:creationId xmlns:a16="http://schemas.microsoft.com/office/drawing/2014/main" id="{18D828F2-3388-AA47-9533-AFF336B31CAD}"/>
              </a:ext>
            </a:extLst>
          </p:cNvPr>
          <p:cNvSpPr>
            <a:spLocks noGrp="1"/>
          </p:cNvSpPr>
          <p:nvPr>
            <p:ph type="title"/>
          </p:nvPr>
        </p:nvSpPr>
        <p:spPr/>
        <p:txBody>
          <a:bodyPr/>
          <a:lstStyle/>
          <a:p>
            <a:r>
              <a:rPr lang="en-US" dirty="0"/>
              <a:t>LO3, content 1</a:t>
            </a:r>
          </a:p>
        </p:txBody>
      </p:sp>
      <p:sp>
        <p:nvSpPr>
          <p:cNvPr id="2" name="Content Placeholder 1">
            <a:extLst>
              <a:ext uri="{FF2B5EF4-FFF2-40B4-BE49-F238E27FC236}">
                <a16:creationId xmlns:a16="http://schemas.microsoft.com/office/drawing/2014/main" id="{B76B66BE-BB58-41A3-8D81-EEE74897642F}"/>
              </a:ext>
            </a:extLst>
          </p:cNvPr>
          <p:cNvSpPr>
            <a:spLocks noGrp="1"/>
          </p:cNvSpPr>
          <p:nvPr>
            <p:ph idx="1"/>
          </p:nvPr>
        </p:nvSpPr>
        <p:spPr/>
        <p:txBody>
          <a:bodyPr/>
          <a:lstStyle/>
          <a:p>
            <a:pPr marL="457200" indent="-457200">
              <a:buFont typeface="+mj-lt"/>
              <a:buAutoNum type="arabicPeriod" startAt="3"/>
            </a:pPr>
            <a:r>
              <a:rPr lang="en-US" dirty="0">
                <a:solidFill>
                  <a:srgbClr val="FF0000"/>
                </a:solidFill>
              </a:rPr>
              <a:t>Explain dosage range</a:t>
            </a:r>
            <a:endParaRPr lang="en-US" dirty="0"/>
          </a:p>
          <a:p>
            <a:endParaRPr lang="en-US" dirty="0"/>
          </a:p>
          <a:p>
            <a:r>
              <a:rPr lang="en-US" dirty="0"/>
              <a:t>Remember this information regarding dosage range:</a:t>
            </a:r>
          </a:p>
          <a:p>
            <a:pPr marL="342900" indent="-342900">
              <a:buFont typeface="Arial" panose="020B0604020202020204" pitchFamily="34" charset="0"/>
              <a:buChar char="•"/>
            </a:pPr>
            <a:r>
              <a:rPr lang="en-US" dirty="0"/>
              <a:t>A therapeutic dose is a dose that has the desired effect on the patient</a:t>
            </a:r>
          </a:p>
          <a:p>
            <a:pPr marL="342900" indent="-342900">
              <a:buFont typeface="Arial" panose="020B0604020202020204" pitchFamily="34" charset="0"/>
              <a:buChar char="•"/>
            </a:pPr>
            <a:r>
              <a:rPr lang="en-US" dirty="0"/>
              <a:t>Too high a dose can cause toxicity</a:t>
            </a:r>
          </a:p>
          <a:p>
            <a:pPr marL="342900" indent="-342900">
              <a:buFont typeface="Arial" panose="020B0604020202020204" pitchFamily="34" charset="0"/>
              <a:buChar char="•"/>
            </a:pPr>
            <a:r>
              <a:rPr lang="en-US" dirty="0"/>
              <a:t>Too low a dose will prevent the medication from working properly</a:t>
            </a:r>
          </a:p>
          <a:p>
            <a:pPr marL="342900" indent="-342900">
              <a:buFont typeface="Arial" panose="020B0604020202020204" pitchFamily="34" charset="0"/>
              <a:buChar char="•"/>
            </a:pPr>
            <a:r>
              <a:rPr lang="en-US" dirty="0"/>
              <a:t>Some drugs work in a very narrow range; in these cases tests may be performed to ensure the dose is correct</a:t>
            </a:r>
          </a:p>
          <a:p>
            <a:pPr marL="342900" indent="-342900">
              <a:buFont typeface="Arial" panose="020B0604020202020204" pitchFamily="34" charset="0"/>
              <a:buChar char="•"/>
            </a:pPr>
            <a:r>
              <a:rPr lang="en-US" dirty="0"/>
              <a:t>Many residents take several different medications with narrow therapeutic ranges</a:t>
            </a:r>
          </a:p>
          <a:p>
            <a:pPr marL="342900" indent="-342900">
              <a:buFont typeface="Arial" panose="020B0604020202020204" pitchFamily="34" charset="0"/>
              <a:buChar char="•"/>
            </a:pPr>
            <a:r>
              <a:rPr lang="en-US" dirty="0"/>
              <a:t>MAs’ observations and reports help ensure that residents are receiving the proper dose and that their medications are providing the desired effects</a:t>
            </a:r>
          </a:p>
          <a:p>
            <a:endParaRPr lang="en-US" dirty="0"/>
          </a:p>
          <a:p>
            <a:endParaRPr lang="en-US" dirty="0"/>
          </a:p>
          <a:p>
            <a:endParaRPr lang="en-US" dirty="0"/>
          </a:p>
          <a:p>
            <a:endParaRPr lang="en-US" dirty="0"/>
          </a:p>
          <a:p>
            <a:endParaRPr lang="en-US" dirty="0"/>
          </a:p>
          <a:p>
            <a:endParaRPr lang="en-US" dirty="0"/>
          </a:p>
          <a:p>
            <a:endParaRPr lang="en-US" dirty="0">
              <a:solidFill>
                <a:srgbClr val="FF0000"/>
              </a:solidFill>
            </a:endParaRPr>
          </a:p>
        </p:txBody>
      </p:sp>
    </p:spTree>
    <p:extLst>
      <p:ext uri="{BB962C8B-B14F-4D97-AF65-F5344CB8AC3E}">
        <p14:creationId xmlns:p14="http://schemas.microsoft.com/office/powerpoint/2010/main" val="41761407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89459284"/>
      </p:ext>
    </p:extLst>
  </p:cSld>
  <p:clrMapOvr>
    <a:masterClrMapping/>
  </p:clrMapOvr>
</p:sld>
</file>

<file path=ppt/theme/theme1.xml><?xml version="1.0" encoding="utf-8"?>
<a:theme xmlns:a="http://schemas.openxmlformats.org/drawingml/2006/main" name="1_Office Theme">
  <a:themeElements>
    <a:clrScheme name="Custom 1">
      <a:dk1>
        <a:sysClr val="windowText" lastClr="000000"/>
      </a:dk1>
      <a:lt1>
        <a:sysClr val="window" lastClr="FFFFFF"/>
      </a:lt1>
      <a:dk2>
        <a:srgbClr val="44546A"/>
      </a:dk2>
      <a:lt2>
        <a:srgbClr val="E7E6E6"/>
      </a:lt2>
      <a:accent1>
        <a:srgbClr val="329C76"/>
      </a:accent1>
      <a:accent2>
        <a:srgbClr val="B37924"/>
      </a:accent2>
      <a:accent3>
        <a:srgbClr val="E3567D"/>
      </a:accent3>
      <a:accent4>
        <a:srgbClr val="0091B9"/>
      </a:accent4>
      <a:accent5>
        <a:srgbClr val="D6BF00"/>
      </a:accent5>
      <a:accent6>
        <a:srgbClr val="934C93"/>
      </a:accent6>
      <a:hlink>
        <a:srgbClr val="0563C1"/>
      </a:hlink>
      <a:folHlink>
        <a:srgbClr val="954F72"/>
      </a:folHlink>
    </a:clrScheme>
    <a:fontScheme name="Susan Hedman - Hartman Publishing">
      <a:majorFont>
        <a:latin typeface="Scala Sans"/>
        <a:ea typeface=""/>
        <a:cs typeface=""/>
      </a:majorFont>
      <a:minorFont>
        <a:latin typeface="Scala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163</TotalTime>
  <Words>637</Words>
  <Application>Microsoft Macintosh PowerPoint</Application>
  <PresentationFormat>Widescreen</PresentationFormat>
  <Paragraphs>141</Paragraphs>
  <Slides>11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Scala Sans</vt:lpstr>
      <vt:lpstr>1_Office Theme</vt:lpstr>
      <vt:lpstr>PowerPoint Presentation</vt:lpstr>
      <vt:lpstr>Chapter 5, LO 1, key term </vt:lpstr>
      <vt:lpstr>LO1, content 1</vt:lpstr>
      <vt:lpstr>LO2, key terms</vt:lpstr>
      <vt:lpstr>LO2, content 1</vt:lpstr>
      <vt:lpstr>LO2, content 2</vt:lpstr>
      <vt:lpstr>LO2, content 3</vt:lpstr>
      <vt:lpstr>LO2, content 4</vt:lpstr>
      <vt:lpstr>LO3, key terms</vt:lpstr>
      <vt:lpstr>LO3, content 1</vt:lpstr>
      <vt:lpstr>PowerPoint Presentation</vt:lpstr>
    </vt:vector>
  </TitlesOfParts>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Angela Storey</dc:creator>
  <cp:lastModifiedBy>Kristin Calderon</cp:lastModifiedBy>
  <cp:revision>36</cp:revision>
  <dcterms:created xsi:type="dcterms:W3CDTF">2020-03-18T21:16:03Z</dcterms:created>
  <dcterms:modified xsi:type="dcterms:W3CDTF">2021-05-11T14:51:18Z</dcterms:modified>
</cp:coreProperties>
</file>