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7" r:id="rId2"/>
    <p:sldId id="304" r:id="rId3"/>
    <p:sldId id="320" r:id="rId4"/>
    <p:sldId id="346" r:id="rId5"/>
    <p:sldId id="347" r:id="rId6"/>
    <p:sldId id="348" r:id="rId7"/>
    <p:sldId id="349" r:id="rId8"/>
    <p:sldId id="305" r:id="rId9"/>
    <p:sldId id="350" r:id="rId10"/>
    <p:sldId id="324" r:id="rId11"/>
    <p:sldId id="351" r:id="rId12"/>
    <p:sldId id="352" r:id="rId13"/>
    <p:sldId id="353" r:id="rId14"/>
    <p:sldId id="354" r:id="rId15"/>
    <p:sldId id="355" r:id="rId16"/>
    <p:sldId id="356" r:id="rId17"/>
    <p:sldId id="307" r:id="rId18"/>
    <p:sldId id="325" r:id="rId19"/>
    <p:sldId id="357" r:id="rId20"/>
    <p:sldId id="358" r:id="rId21"/>
    <p:sldId id="359" r:id="rId22"/>
    <p:sldId id="360" r:id="rId23"/>
    <p:sldId id="312" r:id="rId24"/>
    <p:sldId id="329" r:id="rId25"/>
    <p:sldId id="361" r:id="rId26"/>
    <p:sldId id="362" r:id="rId27"/>
    <p:sldId id="363" r:id="rId28"/>
    <p:sldId id="364" r:id="rId29"/>
    <p:sldId id="365" r:id="rId30"/>
    <p:sldId id="366" r:id="rId31"/>
    <p:sldId id="367" r:id="rId32"/>
    <p:sldId id="313" r:id="rId33"/>
    <p:sldId id="333" r:id="rId34"/>
    <p:sldId id="2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659" autoAdjust="0"/>
    <p:restoredTop sz="94640"/>
  </p:normalViewPr>
  <p:slideViewPr>
    <p:cSldViewPr snapToGrid="0">
      <p:cViewPr varScale="1">
        <p:scale>
          <a:sx n="48" d="100"/>
          <a:sy n="48" d="100"/>
        </p:scale>
        <p:origin x="208" y="1144"/>
      </p:cViewPr>
      <p:guideLst/>
    </p:cSldViewPr>
  </p:slideViewPr>
  <p:outlineViewPr>
    <p:cViewPr>
      <p:scale>
        <a:sx n="33" d="100"/>
        <a:sy n="33" d="100"/>
      </p:scale>
      <p:origin x="0" y="-1860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52E37-6770-5441-83EB-9DEFA379D07F}" type="datetimeFigureOut">
              <a:rPr lang="en-US" smtClean="0"/>
              <a:t>5/11/21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4104F-7189-844D-AABF-E7539C621622}" type="slidenum">
              <a:rPr lang="en-US" smtClean="0"/>
              <a:t>‹#›</a:t>
            </a:fld>
            <a:endParaRPr lang="en-US"/>
          </a:p>
        </p:txBody>
      </p:sp>
    </p:spTree>
    <p:extLst>
      <p:ext uri="{BB962C8B-B14F-4D97-AF65-F5344CB8AC3E}">
        <p14:creationId xmlns:p14="http://schemas.microsoft.com/office/powerpoint/2010/main" val="340034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1</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The Medication Aide in Healthcare Settings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1769045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hidden="1">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1"/>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12" name="Title Placeholder 1">
            <a:extLst>
              <a:ext uri="{FF2B5EF4-FFF2-40B4-BE49-F238E27FC236}">
                <a16:creationId xmlns:a16="http://schemas.microsoft.com/office/drawing/2014/main" id="{56EE343B-75EE-F84D-B5B8-2D41081D78D2}"/>
              </a:ext>
            </a:extLst>
          </p:cNvPr>
          <p:cNvSpPr>
            <a:spLocks noGrp="1"/>
          </p:cNvSpPr>
          <p:nvPr>
            <p:ph type="title"/>
          </p:nvPr>
        </p:nvSpPr>
        <p:spPr>
          <a:xfrm>
            <a:off x="0" y="-936123"/>
            <a:ext cx="8917642" cy="779929"/>
          </a:xfrm>
          <a:prstGeom prst="rect">
            <a:avLst/>
          </a:prstGeom>
        </p:spPr>
        <p:txBody>
          <a:bodyPr vert="horz" lIns="91440" tIns="45720" rIns="91440" bIns="45720" rtlCol="0" anchor="ctr">
            <a:normAutofit/>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The Medication Aide in Healthcare Settings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1</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5/11/21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776883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26946194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7617" y="-900953"/>
            <a:ext cx="9076765" cy="90095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5/11/21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2008436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896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12" name="Title 11">
            <a:extLst>
              <a:ext uri="{FF2B5EF4-FFF2-40B4-BE49-F238E27FC236}">
                <a16:creationId xmlns:a16="http://schemas.microsoft.com/office/drawing/2014/main" id="{681BE26B-0728-EF4F-86E2-A08EBE7D9DE8}"/>
              </a:ext>
            </a:extLst>
          </p:cNvPr>
          <p:cNvSpPr>
            <a:spLocks noGrp="1"/>
          </p:cNvSpPr>
          <p:nvPr>
            <p:ph type="title"/>
          </p:nvPr>
        </p:nvSpPr>
        <p:spPr/>
        <p:txBody>
          <a:bodyPr/>
          <a:lstStyle/>
          <a:p>
            <a:r>
              <a:rPr lang="en-US" b="0" dirty="0"/>
              <a:t>Chapter 1, LO1 key terms</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medication aide’s role</a:t>
            </a:r>
          </a:p>
          <a:p>
            <a:endParaRPr lang="en-US" dirty="0">
              <a:solidFill>
                <a:srgbClr val="FF0000"/>
              </a:solidFill>
            </a:endParaRPr>
          </a:p>
          <a:p>
            <a:r>
              <a:rPr lang="en-US" dirty="0"/>
              <a:t>Define the following terms: </a:t>
            </a:r>
          </a:p>
          <a:p>
            <a:endParaRPr lang="en-US" dirty="0"/>
          </a:p>
          <a:p>
            <a:r>
              <a:rPr lang="en-US" b="1" dirty="0"/>
              <a:t>medication aide (MA)</a:t>
            </a:r>
          </a:p>
          <a:p>
            <a:pPr lvl="1"/>
            <a:r>
              <a:rPr lang="en-US" dirty="0"/>
              <a:t>a healthcare worker, usually first trained as a nursing assistant, whose main task is administering medications to residents in a long-term care facility.</a:t>
            </a:r>
          </a:p>
          <a:p>
            <a:r>
              <a:rPr lang="en-US" b="1" dirty="0"/>
              <a:t>long-term care facility</a:t>
            </a:r>
          </a:p>
          <a:p>
            <a:pPr lvl="1"/>
            <a:r>
              <a:rPr lang="en-US" dirty="0"/>
              <a:t>a facility in which residents live and are able to receive 24-hour skilled care.</a:t>
            </a:r>
          </a:p>
          <a:p>
            <a:r>
              <a:rPr lang="en-US" b="1" dirty="0"/>
              <a:t>documenting</a:t>
            </a:r>
          </a:p>
          <a:p>
            <a:pPr lvl="1"/>
            <a:r>
              <a:rPr lang="en-US" dirty="0"/>
              <a:t>keeping a record of care provided.</a:t>
            </a:r>
          </a:p>
          <a:p>
            <a:r>
              <a:rPr lang="en-US" b="1" dirty="0"/>
              <a:t>PRN</a:t>
            </a:r>
          </a:p>
          <a:p>
            <a:pPr lvl="1"/>
            <a:r>
              <a:rPr lang="en-US" dirty="0"/>
              <a:t>abbreviation meaning </a:t>
            </a:r>
            <a:r>
              <a:rPr lang="en-US" i="1" dirty="0"/>
              <a:t>as needed</a:t>
            </a:r>
            <a:r>
              <a:rPr lang="en-US" dirty="0"/>
              <a:t>.</a:t>
            </a:r>
          </a:p>
        </p:txBody>
      </p:sp>
    </p:spTree>
    <p:extLst>
      <p:ext uri="{BB962C8B-B14F-4D97-AF65-F5344CB8AC3E}">
        <p14:creationId xmlns:p14="http://schemas.microsoft.com/office/powerpoint/2010/main" val="3208559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E9FE020-2DC8-D14F-AEE6-8A968B9580E7}"/>
              </a:ext>
            </a:extLst>
          </p:cNvPr>
          <p:cNvSpPr>
            <a:spLocks noGrp="1"/>
          </p:cNvSpPr>
          <p:nvPr>
            <p:ph type="title"/>
          </p:nvPr>
        </p:nvSpPr>
        <p:spPr/>
        <p:txBody>
          <a:bodyPr/>
          <a:lstStyle/>
          <a:p>
            <a:r>
              <a:rPr lang="en-US" dirty="0"/>
              <a:t>LO1, content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medication aide’s role</a:t>
            </a:r>
          </a:p>
          <a:p>
            <a:endParaRPr lang="en-US" dirty="0">
              <a:solidFill>
                <a:srgbClr val="FF0000"/>
              </a:solidFill>
            </a:endParaRPr>
          </a:p>
          <a:p>
            <a:r>
              <a:rPr lang="en-US" dirty="0"/>
              <a:t>Medication aides may work in these types of facilities:</a:t>
            </a:r>
          </a:p>
          <a:p>
            <a:pPr marL="342900" indent="-342900">
              <a:buFont typeface="Arial" panose="020B0604020202020204" pitchFamily="34" charset="0"/>
              <a:buChar char="•"/>
            </a:pPr>
            <a:r>
              <a:rPr lang="en-US" dirty="0"/>
              <a:t>Long-term care facilities (nursing homes)</a:t>
            </a:r>
          </a:p>
          <a:p>
            <a:pPr marL="342900" indent="-342900">
              <a:buFont typeface="Arial" panose="020B0604020202020204" pitchFamily="34" charset="0"/>
              <a:buChar char="•"/>
            </a:pPr>
            <a:r>
              <a:rPr lang="en-US" dirty="0"/>
              <a:t>Assisted living facilities</a:t>
            </a:r>
          </a:p>
          <a:p>
            <a:pPr marL="342900" indent="-342900">
              <a:buFont typeface="Arial" panose="020B0604020202020204" pitchFamily="34" charset="0"/>
              <a:buChar char="•"/>
            </a:pPr>
            <a:r>
              <a:rPr lang="en-US" dirty="0"/>
              <a:t>Group homes</a:t>
            </a:r>
          </a:p>
          <a:p>
            <a:pPr marL="342900" indent="-342900">
              <a:buFont typeface="Arial" panose="020B0604020202020204" pitchFamily="34" charset="0"/>
              <a:buChar char="•"/>
            </a:pPr>
            <a:r>
              <a:rPr lang="en-US" dirty="0"/>
              <a:t>Prisons</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44251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LO1, content 2</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r>
              <a:rPr lang="en-US" dirty="0"/>
              <a:t>Key Material 1-1: Key Tasks of a Medication Aide</a:t>
            </a:r>
          </a:p>
          <a:p>
            <a:endParaRPr lang="en-US" dirty="0"/>
          </a:p>
          <a:p>
            <a:pPr marL="342900" indent="-342900">
              <a:buFont typeface="Arial" panose="020B0604020202020204" pitchFamily="34" charset="0"/>
              <a:buChar char="•"/>
            </a:pPr>
            <a:r>
              <a:rPr lang="en-US" dirty="0"/>
              <a:t>Preparing and distributing medications ordered for residents</a:t>
            </a:r>
          </a:p>
          <a:p>
            <a:pPr marL="342900" indent="-342900">
              <a:buFont typeface="Arial" panose="020B0604020202020204" pitchFamily="34" charset="0"/>
              <a:buChar char="•"/>
            </a:pPr>
            <a:r>
              <a:rPr lang="en-US" dirty="0"/>
              <a:t>Observing residents as they take medications, helping as needed</a:t>
            </a:r>
          </a:p>
          <a:p>
            <a:pPr marL="342900" indent="-342900">
              <a:buFont typeface="Arial" panose="020B0604020202020204" pitchFamily="34" charset="0"/>
              <a:buChar char="•"/>
            </a:pPr>
            <a:r>
              <a:rPr lang="en-US" dirty="0"/>
              <a:t>Documenting medications taken by residents</a:t>
            </a:r>
          </a:p>
          <a:p>
            <a:pPr marL="342900" indent="-342900">
              <a:buFont typeface="Arial" panose="020B0604020202020204" pitchFamily="34" charset="0"/>
              <a:buChar char="•"/>
            </a:pPr>
            <a:r>
              <a:rPr lang="en-US" dirty="0"/>
              <a:t>Observing and reporting changes in residents, especially those that could be related to the effects of medications</a:t>
            </a:r>
          </a:p>
          <a:p>
            <a:pPr marL="342900" indent="-342900">
              <a:buFont typeface="Arial" panose="020B0604020202020204" pitchFamily="34" charset="0"/>
              <a:buChar char="•"/>
            </a:pPr>
            <a:r>
              <a:rPr lang="en-US" dirty="0"/>
              <a:t>Reporting anything that might be a risk to resident safety (e.g., resident refusing a medication or a mistake related to a medication)</a:t>
            </a:r>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475609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E9FE020-2DC8-D14F-AEE6-8A968B9580E7}"/>
              </a:ext>
            </a:extLst>
          </p:cNvPr>
          <p:cNvSpPr>
            <a:spLocks noGrp="1"/>
          </p:cNvSpPr>
          <p:nvPr>
            <p:ph type="title"/>
          </p:nvPr>
        </p:nvSpPr>
        <p:spPr/>
        <p:txBody>
          <a:bodyPr/>
          <a:lstStyle/>
          <a:p>
            <a:r>
              <a:rPr lang="en-US" dirty="0"/>
              <a:t>LO1, content 3</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medication aide’s role</a:t>
            </a:r>
          </a:p>
          <a:p>
            <a:endParaRPr lang="en-US" dirty="0">
              <a:solidFill>
                <a:srgbClr val="FF0000"/>
              </a:solidFill>
            </a:endParaRPr>
          </a:p>
          <a:p>
            <a:r>
              <a:rPr lang="en-US" dirty="0"/>
              <a:t>Critical Thinking: Conversation Starter</a:t>
            </a:r>
          </a:p>
          <a:p>
            <a:endParaRPr lang="en-US" dirty="0"/>
          </a:p>
          <a:p>
            <a:r>
              <a:rPr lang="en-US" dirty="0"/>
              <a:t>How would the day-to-day tasks of an MA be different at different types of facilities?</a:t>
            </a:r>
          </a:p>
          <a:p>
            <a:endParaRPr lang="en-US" dirty="0"/>
          </a:p>
          <a:p>
            <a:r>
              <a:rPr lang="en-US" dirty="0"/>
              <a:t>What do you think the advantages or disadvantages would be of each type?</a:t>
            </a:r>
          </a:p>
          <a:p>
            <a:endParaRPr lang="en-US" dirty="0"/>
          </a:p>
        </p:txBody>
      </p:sp>
    </p:spTree>
    <p:extLst>
      <p:ext uri="{BB962C8B-B14F-4D97-AF65-F5344CB8AC3E}">
        <p14:creationId xmlns:p14="http://schemas.microsoft.com/office/powerpoint/2010/main" val="237398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E9FE020-2DC8-D14F-AEE6-8A968B9580E7}"/>
              </a:ext>
            </a:extLst>
          </p:cNvPr>
          <p:cNvSpPr>
            <a:spLocks noGrp="1"/>
          </p:cNvSpPr>
          <p:nvPr>
            <p:ph type="title"/>
          </p:nvPr>
        </p:nvSpPr>
        <p:spPr/>
        <p:txBody>
          <a:bodyPr/>
          <a:lstStyle/>
          <a:p>
            <a:r>
              <a:rPr lang="en-US" dirty="0"/>
              <a:t>LO1, content 4</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medication aide’s role</a:t>
            </a:r>
          </a:p>
          <a:p>
            <a:endParaRPr lang="en-US" dirty="0">
              <a:solidFill>
                <a:srgbClr val="FF0000"/>
              </a:solidFill>
            </a:endParaRPr>
          </a:p>
          <a:p>
            <a:r>
              <a:rPr lang="en-US" dirty="0"/>
              <a:t>Remember these points about the medication aide’s role:</a:t>
            </a:r>
          </a:p>
          <a:p>
            <a:pPr marL="342900" indent="-342900">
              <a:buFont typeface="Arial" panose="020B0604020202020204" pitchFamily="34" charset="0"/>
              <a:buChar char="•"/>
            </a:pPr>
            <a:r>
              <a:rPr lang="en-US" dirty="0"/>
              <a:t>Some states allow MAs to perform nursing assistant tasks in addition to their medication duties and some do not</a:t>
            </a:r>
          </a:p>
          <a:p>
            <a:pPr marL="342900" indent="-342900">
              <a:buFont typeface="Arial" panose="020B0604020202020204" pitchFamily="34" charset="0"/>
              <a:buChar char="•"/>
            </a:pPr>
            <a:r>
              <a:rPr lang="en-US" dirty="0"/>
              <a:t>Some NA skills (observing and reporting, measuring vital signs) are also important to the MA’s role</a:t>
            </a:r>
          </a:p>
          <a:p>
            <a:pPr marL="342900" indent="-342900">
              <a:buFont typeface="Arial" panose="020B0604020202020204" pitchFamily="34" charset="0"/>
              <a:buChar char="•"/>
            </a:pPr>
            <a:r>
              <a:rPr lang="en-US" dirty="0"/>
              <a:t>Medication aides may also be called medication assistants, medication technicians, or other titles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38529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LO1, content 5</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r>
              <a:rPr lang="en-US" dirty="0"/>
              <a:t>Key Material 1-2: Tasks Not Allowed for Medication Aides</a:t>
            </a:r>
          </a:p>
          <a:p>
            <a:endParaRPr lang="en-US" dirty="0"/>
          </a:p>
          <a:p>
            <a:pPr marL="342900" indent="-342900">
              <a:buFont typeface="Arial" panose="020B0604020202020204" pitchFamily="34" charset="0"/>
              <a:buChar char="•"/>
            </a:pPr>
            <a:r>
              <a:rPr lang="en-US" dirty="0"/>
              <a:t>Giving medications to residents whose medical condition is changing or unstable</a:t>
            </a:r>
          </a:p>
          <a:p>
            <a:pPr marL="342900" indent="-342900">
              <a:buFont typeface="Arial" panose="020B0604020202020204" pitchFamily="34" charset="0"/>
              <a:buChar char="•"/>
            </a:pPr>
            <a:r>
              <a:rPr lang="en-US" dirty="0"/>
              <a:t>Deciding when to give PRN medications, or medications that are given only when a resident needs them </a:t>
            </a:r>
          </a:p>
          <a:p>
            <a:pPr marL="342900" indent="-342900">
              <a:buFont typeface="Arial" panose="020B0604020202020204" pitchFamily="34" charset="0"/>
              <a:buChar char="•"/>
            </a:pPr>
            <a:r>
              <a:rPr lang="en-US" dirty="0"/>
              <a:t>Giving medications by injection</a:t>
            </a:r>
          </a:p>
          <a:p>
            <a:pPr marL="342900" indent="-342900">
              <a:buFont typeface="Arial" panose="020B0604020202020204" pitchFamily="34" charset="0"/>
              <a:buChar char="•"/>
            </a:pPr>
            <a:r>
              <a:rPr lang="en-US" dirty="0"/>
              <a:t>Deciding what amount of medication (dose) to give a resident, or doing calculations to find the correct dose</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203453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F478A76-49F3-1141-825E-1ECC6E452B76}"/>
              </a:ext>
            </a:extLst>
          </p:cNvPr>
          <p:cNvSpPr>
            <a:spLocks noGrp="1"/>
          </p:cNvSpPr>
          <p:nvPr>
            <p:ph type="title"/>
          </p:nvPr>
        </p:nvSpPr>
        <p:spPr/>
        <p:txBody>
          <a:bodyPr/>
          <a:lstStyle/>
          <a:p>
            <a:r>
              <a:rPr lang="en-US" dirty="0"/>
              <a:t>LO2, key terms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Define the following terms:</a:t>
            </a:r>
          </a:p>
          <a:p>
            <a:endParaRPr lang="en-US" dirty="0"/>
          </a:p>
          <a:p>
            <a:r>
              <a:rPr lang="en-US" b="1" dirty="0"/>
              <a:t>professional</a:t>
            </a:r>
          </a:p>
          <a:p>
            <a:pPr lvl="1"/>
            <a:r>
              <a:rPr lang="en-US" dirty="0"/>
              <a:t>having to do with work or a job.</a:t>
            </a:r>
          </a:p>
          <a:p>
            <a:r>
              <a:rPr lang="en-US" b="1" dirty="0"/>
              <a:t>personal</a:t>
            </a:r>
          </a:p>
          <a:p>
            <a:pPr lvl="1"/>
            <a:r>
              <a:rPr lang="en-US" dirty="0"/>
              <a:t>relating to life outside one’s job, such as family, friends, and home.</a:t>
            </a:r>
          </a:p>
          <a:p>
            <a:r>
              <a:rPr lang="en-US" b="1" dirty="0"/>
              <a:t>professionalism</a:t>
            </a:r>
          </a:p>
          <a:p>
            <a:pPr lvl="1"/>
            <a:r>
              <a:rPr lang="en-US" dirty="0"/>
              <a:t>the act of behaving properly when working.</a:t>
            </a:r>
          </a:p>
          <a:p>
            <a:r>
              <a:rPr lang="en-US" b="1" dirty="0"/>
              <a:t>person-centered care</a:t>
            </a:r>
          </a:p>
          <a:p>
            <a:pPr lvl="1"/>
            <a:r>
              <a:rPr lang="en-US" dirty="0"/>
              <a:t>a type of care that places the emphasis on the person needing care and his or her individuality and capabilities.</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723744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F478A76-49F3-1141-825E-1ECC6E452B76}"/>
              </a:ext>
            </a:extLst>
          </p:cNvPr>
          <p:cNvSpPr>
            <a:spLocks noGrp="1"/>
          </p:cNvSpPr>
          <p:nvPr>
            <p:ph type="title"/>
          </p:nvPr>
        </p:nvSpPr>
        <p:spPr/>
        <p:txBody>
          <a:bodyPr/>
          <a:lstStyle/>
          <a:p>
            <a:r>
              <a:rPr lang="en-US" dirty="0"/>
              <a:t>LO2, key terms 2</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Define the following terms:</a:t>
            </a:r>
          </a:p>
          <a:p>
            <a:endParaRPr lang="en-US" dirty="0"/>
          </a:p>
          <a:p>
            <a:r>
              <a:rPr lang="en-US" b="1" dirty="0"/>
              <a:t>confidential</a:t>
            </a:r>
          </a:p>
          <a:p>
            <a:pPr lvl="1"/>
            <a:r>
              <a:rPr lang="en-US" dirty="0"/>
              <a:t>private.</a:t>
            </a:r>
          </a:p>
          <a:p>
            <a:r>
              <a:rPr lang="en-US" b="1" dirty="0"/>
              <a:t>chain of command</a:t>
            </a:r>
          </a:p>
          <a:p>
            <a:pPr lvl="1"/>
            <a:r>
              <a:rPr lang="en-US" dirty="0"/>
              <a:t>the line of authority within a facility or agency.</a:t>
            </a:r>
          </a:p>
          <a:p>
            <a:r>
              <a:rPr lang="en-US" b="1" dirty="0"/>
              <a:t>conscientious</a:t>
            </a:r>
          </a:p>
          <a:p>
            <a:pPr lvl="1"/>
            <a:r>
              <a:rPr lang="en-US" dirty="0"/>
              <a:t>guided by a sense of right and wrong; principled.</a:t>
            </a:r>
          </a:p>
          <a:p>
            <a:r>
              <a:rPr lang="en-US" b="1" dirty="0"/>
              <a:t>delegate</a:t>
            </a:r>
          </a:p>
          <a:p>
            <a:pPr lvl="1"/>
            <a:r>
              <a:rPr lang="en-US" dirty="0"/>
              <a:t>to transfer responsibility to a person for a specific task.</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854472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Professional behavior toward residents includes the following:</a:t>
            </a:r>
          </a:p>
          <a:p>
            <a:pPr marL="342900" indent="-342900">
              <a:buFont typeface="Arial" panose="020B0604020202020204" pitchFamily="34" charset="0"/>
              <a:buChar char="•"/>
            </a:pPr>
            <a:r>
              <a:rPr lang="en-US" dirty="0"/>
              <a:t>Providing person-centered care, or care that is sensitive to each resident’s particular needs</a:t>
            </a:r>
          </a:p>
          <a:p>
            <a:pPr marL="342900" indent="-342900">
              <a:buFont typeface="Arial" panose="020B0604020202020204" pitchFamily="34" charset="0"/>
              <a:buChar char="•"/>
            </a:pPr>
            <a:r>
              <a:rPr lang="en-US" dirty="0"/>
              <a:t>Keeping a positive attitude</a:t>
            </a:r>
          </a:p>
          <a:p>
            <a:pPr marL="342900" indent="-342900">
              <a:buFont typeface="Arial" panose="020B0604020202020204" pitchFamily="34" charset="0"/>
              <a:buChar char="•"/>
            </a:pPr>
            <a:r>
              <a:rPr lang="en-US" dirty="0"/>
              <a:t>Doing only assigned tasks that the MA is trained to do</a:t>
            </a:r>
          </a:p>
          <a:p>
            <a:pPr marL="342900" indent="-342900">
              <a:buFont typeface="Arial" panose="020B0604020202020204" pitchFamily="34" charset="0"/>
              <a:buChar char="•"/>
            </a:pPr>
            <a:r>
              <a:rPr lang="en-US" dirty="0"/>
              <a:t>Keeping all resident information private, or confidential</a:t>
            </a:r>
          </a:p>
          <a:p>
            <a:pPr marL="342900" indent="-342900">
              <a:buFont typeface="Arial" panose="020B0604020202020204" pitchFamily="34" charset="0"/>
              <a:buChar char="•"/>
            </a:pPr>
            <a:r>
              <a:rPr lang="en-US" dirty="0"/>
              <a:t>Always being polite and cheerful </a:t>
            </a:r>
          </a:p>
          <a:p>
            <a:pPr marL="342900" indent="-342900">
              <a:buFont typeface="Arial" panose="020B0604020202020204" pitchFamily="34" charset="0"/>
              <a:buChar char="•"/>
            </a:pPr>
            <a:r>
              <a:rPr lang="en-US" dirty="0"/>
              <a:t>Not discussing personal problems with residents or their family members</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364042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Professional behavior toward residents (cont’d):</a:t>
            </a:r>
          </a:p>
          <a:p>
            <a:pPr marL="342900" indent="-342900">
              <a:buFont typeface="Arial" panose="020B0604020202020204" pitchFamily="34" charset="0"/>
              <a:buChar char="•"/>
            </a:pPr>
            <a:r>
              <a:rPr lang="en-US" dirty="0"/>
              <a:t>Not using personal phones in residents’ rooms or in any resident care area</a:t>
            </a:r>
          </a:p>
          <a:p>
            <a:pPr marL="342900" indent="-342900">
              <a:buFont typeface="Arial" panose="020B0604020202020204" pitchFamily="34" charset="0"/>
              <a:buChar char="•"/>
            </a:pPr>
            <a:r>
              <a:rPr lang="en-US" dirty="0"/>
              <a:t>Not using profanity, even if a resident does</a:t>
            </a:r>
          </a:p>
          <a:p>
            <a:pPr marL="342900" indent="-342900">
              <a:buFont typeface="Arial" panose="020B0604020202020204" pitchFamily="34" charset="0"/>
              <a:buChar char="•"/>
            </a:pPr>
            <a:r>
              <a:rPr lang="en-US" dirty="0"/>
              <a:t>Listening to the resident</a:t>
            </a:r>
          </a:p>
          <a:p>
            <a:pPr marL="342900" indent="-342900">
              <a:buFont typeface="Arial" panose="020B0604020202020204" pitchFamily="34" charset="0"/>
              <a:buChar char="•"/>
            </a:pPr>
            <a:r>
              <a:rPr lang="en-US" dirty="0"/>
              <a:t>Calling a resident by preferred names and not using disrespectful nicknames</a:t>
            </a:r>
          </a:p>
          <a:p>
            <a:pPr marL="342900" indent="-342900">
              <a:buFont typeface="Arial" panose="020B0604020202020204" pitchFamily="34" charset="0"/>
              <a:buChar char="•"/>
            </a:pPr>
            <a:r>
              <a:rPr lang="en-US" dirty="0"/>
              <a:t>Using the pronouns a resident prefers </a:t>
            </a:r>
          </a:p>
          <a:p>
            <a:pPr marL="342900" indent="-342900">
              <a:buFont typeface="Arial" panose="020B0604020202020204" pitchFamily="34" charset="0"/>
              <a:buChar char="•"/>
            </a:pPr>
            <a:r>
              <a:rPr lang="en-US" dirty="0"/>
              <a:t>Never giving or accepting gifts</a:t>
            </a:r>
          </a:p>
          <a:p>
            <a:pPr marL="342900" indent="-342900">
              <a:buFont typeface="Arial" panose="020B0604020202020204" pitchFamily="34" charset="0"/>
              <a:buChar char="•"/>
            </a:pPr>
            <a:r>
              <a:rPr lang="en-US" dirty="0"/>
              <a:t>Always explaining care before providing it</a:t>
            </a:r>
          </a:p>
          <a:p>
            <a:pPr marL="342900" indent="-342900">
              <a:buFont typeface="Arial" panose="020B0604020202020204" pitchFamily="34" charset="0"/>
              <a:buChar char="•"/>
            </a:pPr>
            <a:r>
              <a:rPr lang="en-US" dirty="0"/>
              <a:t>Following practices, such as handwashing, to protect oneself and residents</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697433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Professional behavior toward employers includes the following:</a:t>
            </a:r>
          </a:p>
          <a:p>
            <a:pPr marL="342900" indent="-342900">
              <a:buFont typeface="Arial" panose="020B0604020202020204" pitchFamily="34" charset="0"/>
              <a:buChar char="•"/>
            </a:pPr>
            <a:r>
              <a:rPr lang="en-US" dirty="0"/>
              <a:t>Completing tasks efficiently</a:t>
            </a:r>
          </a:p>
          <a:p>
            <a:pPr marL="342900" indent="-342900">
              <a:buFont typeface="Arial" panose="020B0604020202020204" pitchFamily="34" charset="0"/>
              <a:buChar char="•"/>
            </a:pPr>
            <a:r>
              <a:rPr lang="en-US" dirty="0"/>
              <a:t>Always following policies and procedures</a:t>
            </a:r>
          </a:p>
          <a:p>
            <a:pPr marL="342900" indent="-342900">
              <a:buFont typeface="Arial" panose="020B0604020202020204" pitchFamily="34" charset="0"/>
              <a:buChar char="•"/>
            </a:pPr>
            <a:r>
              <a:rPr lang="en-US" dirty="0"/>
              <a:t>Documenting and reporting carefully and correctly</a:t>
            </a:r>
          </a:p>
          <a:p>
            <a:pPr marL="342900" indent="-342900">
              <a:buFont typeface="Arial" panose="020B0604020202020204" pitchFamily="34" charset="0"/>
              <a:buChar char="•"/>
            </a:pPr>
            <a:r>
              <a:rPr lang="en-US" dirty="0"/>
              <a:t>Reporting problems with residents or tasks</a:t>
            </a:r>
          </a:p>
          <a:p>
            <a:pPr marL="342900" indent="-342900">
              <a:buFont typeface="Arial" panose="020B0604020202020204" pitchFamily="34" charset="0"/>
              <a:buChar char="•"/>
            </a:pPr>
            <a:r>
              <a:rPr lang="en-US" dirty="0"/>
              <a:t>Reporting anything that keeps a medication aide from completing duties</a:t>
            </a:r>
          </a:p>
          <a:p>
            <a:pPr marL="342900" indent="-342900">
              <a:buFont typeface="Arial" panose="020B0604020202020204" pitchFamily="34" charset="0"/>
              <a:buChar char="•"/>
            </a:pPr>
            <a:r>
              <a:rPr lang="en-US" dirty="0"/>
              <a:t>Asking questions when necessary</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401492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4</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Professional behavior toward employers (cont’d):</a:t>
            </a:r>
          </a:p>
          <a:p>
            <a:pPr marL="342900" indent="-342900">
              <a:buFont typeface="Arial" panose="020B0604020202020204" pitchFamily="34" charset="0"/>
              <a:buChar char="•"/>
            </a:pPr>
            <a:r>
              <a:rPr lang="en-US" dirty="0"/>
              <a:t>Taking directions or feedback without becoming upset</a:t>
            </a:r>
          </a:p>
          <a:p>
            <a:pPr marL="342900" indent="-342900">
              <a:buFont typeface="Arial" panose="020B0604020202020204" pitchFamily="34" charset="0"/>
              <a:buChar char="•"/>
            </a:pPr>
            <a:r>
              <a:rPr lang="en-US" dirty="0"/>
              <a:t>Being clean and neatly dressed and groomed</a:t>
            </a:r>
          </a:p>
          <a:p>
            <a:pPr marL="342900" indent="-342900">
              <a:buFont typeface="Arial" panose="020B0604020202020204" pitchFamily="34" charset="0"/>
              <a:buChar char="•"/>
            </a:pPr>
            <a:r>
              <a:rPr lang="en-US" dirty="0"/>
              <a:t>Always being on time</a:t>
            </a:r>
          </a:p>
          <a:p>
            <a:pPr marL="342900" indent="-342900">
              <a:buFont typeface="Arial" panose="020B0604020202020204" pitchFamily="34" charset="0"/>
              <a:buChar char="•"/>
            </a:pPr>
            <a:r>
              <a:rPr lang="en-US" dirty="0"/>
              <a:t>Communicating when sick/delayed/unable to come to work</a:t>
            </a:r>
          </a:p>
          <a:p>
            <a:pPr marL="342900" indent="-342900">
              <a:buFont typeface="Arial" panose="020B0604020202020204" pitchFamily="34" charset="0"/>
              <a:buChar char="•"/>
            </a:pPr>
            <a:r>
              <a:rPr lang="en-US" dirty="0"/>
              <a:t>Following the chain of command</a:t>
            </a:r>
          </a:p>
          <a:p>
            <a:pPr marL="342900" indent="-342900">
              <a:buFont typeface="Arial" panose="020B0604020202020204" pitchFamily="34" charset="0"/>
              <a:buChar char="•"/>
            </a:pPr>
            <a:r>
              <a:rPr lang="en-US" dirty="0"/>
              <a:t>Participating in continuing education programs</a:t>
            </a:r>
          </a:p>
          <a:p>
            <a:pPr marL="342900" indent="-342900">
              <a:buFont typeface="Arial" panose="020B0604020202020204" pitchFamily="34" charset="0"/>
              <a:buChar char="•"/>
            </a:pPr>
            <a:r>
              <a:rPr lang="en-US" dirty="0"/>
              <a:t>Being a positive role model for the facility </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115985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5</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Critical Thinking: Conversation Starter</a:t>
            </a:r>
          </a:p>
          <a:p>
            <a:endParaRPr lang="en-US" dirty="0"/>
          </a:p>
          <a:p>
            <a:r>
              <a:rPr lang="en-US" dirty="0"/>
              <a:t>What traits does a person need to succeed as a medication aide? </a:t>
            </a:r>
          </a:p>
          <a:p>
            <a:endParaRPr lang="en-US" dirty="0"/>
          </a:p>
          <a:p>
            <a:r>
              <a:rPr lang="en-US" dirty="0"/>
              <a:t>Why are these traits important?</a:t>
            </a:r>
          </a:p>
          <a:p>
            <a:endParaRPr lang="en-US" dirty="0"/>
          </a:p>
          <a:p>
            <a:r>
              <a:rPr lang="en-US" dirty="0"/>
              <a:t>What do they look like in action?</a:t>
            </a:r>
          </a:p>
          <a:p>
            <a:endParaRPr lang="en-US" dirty="0"/>
          </a:p>
          <a:p>
            <a:r>
              <a:rPr lang="en-US" dirty="0"/>
              <a:t>Is there a single most important trait?</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1061154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6</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Critical Thinking: Role Play</a:t>
            </a:r>
          </a:p>
          <a:p>
            <a:endParaRPr lang="en-US" dirty="0"/>
          </a:p>
          <a:p>
            <a:r>
              <a:rPr lang="en-US" dirty="0"/>
              <a:t>In pairs, role play the following situations:</a:t>
            </a:r>
          </a:p>
          <a:p>
            <a:endParaRPr lang="en-US" dirty="0"/>
          </a:p>
          <a:p>
            <a:r>
              <a:rPr lang="en-US" dirty="0"/>
              <a:t>A doctor visiting a resident tells you she wants you to contact the pharmacy and order a new medication for the resident. (Roles: doctor and MA)</a:t>
            </a:r>
          </a:p>
          <a:p>
            <a:r>
              <a:rPr lang="en-US" dirty="0"/>
              <a:t> </a:t>
            </a:r>
          </a:p>
          <a:p>
            <a:r>
              <a:rPr lang="en-US" dirty="0"/>
              <a:t>You live in a state in which MAs can administer nebulized medications, but you have never used the nebulizer at your facility. Your supervisor assigns a resident with an order for nebulized medications to you. (Roles: supervisor and MA)</a:t>
            </a:r>
          </a:p>
          <a:p>
            <a:r>
              <a:rPr lang="en-US" dirty="0"/>
              <a:t> </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055908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LO2, content 7</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professionalism and list examples of professional behavior</a:t>
            </a:r>
          </a:p>
          <a:p>
            <a:endParaRPr lang="en-US" dirty="0"/>
          </a:p>
          <a:p>
            <a:r>
              <a:rPr lang="en-US" dirty="0"/>
              <a:t>Critical Thinking: Role Play (cont’d)</a:t>
            </a:r>
          </a:p>
          <a:p>
            <a:endParaRPr lang="en-US" dirty="0"/>
          </a:p>
          <a:p>
            <a:r>
              <a:rPr lang="en-US" dirty="0"/>
              <a:t>A nurse is about to administer an insulin injection when an emergency with another resident requires his attention. He tells you to go to the resident’s room and administer the injection. MAs are not allowed to give injections in your state. (Roles: nurse and MA)</a:t>
            </a:r>
          </a:p>
          <a:p>
            <a:r>
              <a:rPr lang="en-US" dirty="0"/>
              <a:t> </a:t>
            </a:r>
          </a:p>
          <a:p>
            <a:r>
              <a:rPr lang="en-US" dirty="0"/>
              <a:t>A resident tells you she has a horrible headache and needs Tylenol. Tylenol is listed on the resident’s medication administration record as a PRN medication for headache, but the nurse is not available at the moment to approve it. The resident wants you to give her the Tylenol right away. (Roles: resident and MA)</a:t>
            </a:r>
          </a:p>
          <a:p>
            <a:r>
              <a:rPr lang="en-US" dirty="0"/>
              <a:t> </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43575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F899C80-AE0F-2B40-B245-01FD0A6BEEB2}"/>
              </a:ext>
            </a:extLst>
          </p:cNvPr>
          <p:cNvSpPr>
            <a:spLocks noGrp="1"/>
          </p:cNvSpPr>
          <p:nvPr>
            <p:ph type="title"/>
          </p:nvPr>
        </p:nvSpPr>
        <p:spPr/>
        <p:txBody>
          <a:bodyPr/>
          <a:lstStyle/>
          <a:p>
            <a:r>
              <a:rPr lang="en-US" dirty="0"/>
              <a:t>LO3, key terms </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Define the following terms:</a:t>
            </a:r>
          </a:p>
          <a:p>
            <a:endParaRPr lang="en-US" dirty="0"/>
          </a:p>
          <a:p>
            <a:r>
              <a:rPr lang="en-US" b="1" dirty="0"/>
              <a:t>liability</a:t>
            </a:r>
          </a:p>
          <a:p>
            <a:pPr lvl="1"/>
            <a:r>
              <a:rPr lang="en-US" dirty="0"/>
              <a:t>a legal term that means someone can be held responsible for harming someone.</a:t>
            </a:r>
          </a:p>
          <a:p>
            <a:r>
              <a:rPr lang="en-US" b="1" dirty="0"/>
              <a:t>scope of practice</a:t>
            </a:r>
          </a:p>
          <a:p>
            <a:pPr lvl="1"/>
            <a:r>
              <a:rPr lang="en-US" dirty="0"/>
              <a:t>defines the tasks that healthcare providers are legally allowed to do as permitted by state or federal law.</a:t>
            </a:r>
          </a:p>
          <a:p>
            <a:r>
              <a:rPr lang="en-US" b="1" dirty="0"/>
              <a:t>nursing process</a:t>
            </a:r>
          </a:p>
          <a:p>
            <a:pPr lvl="1"/>
            <a:r>
              <a:rPr lang="en-US" dirty="0"/>
              <a:t>an approach to providing effective care for a resident on an ongoing basis; involves assessment, diagnosis, planning, implementation, and evaluation.</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1913025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7E65F62-BFDE-0A49-9424-F84AAC1FB1AC}"/>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REMEMBER:</a:t>
            </a:r>
          </a:p>
          <a:p>
            <a:endParaRPr lang="en-US" dirty="0"/>
          </a:p>
          <a:p>
            <a:r>
              <a:rPr lang="en-US" dirty="0"/>
              <a:t>The chain of command protects residents from harm and protects employees and employers from liability. </a:t>
            </a:r>
          </a:p>
          <a:p>
            <a:endParaRPr lang="en-US" dirty="0"/>
          </a:p>
          <a:p>
            <a:r>
              <a:rPr lang="en-US" dirty="0"/>
              <a:t>How does the chain of command promote safety?</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597162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7E65F62-BFDE-0A49-9424-F84AAC1FB1AC}"/>
              </a:ext>
            </a:extLst>
          </p:cNvPr>
          <p:cNvSpPr>
            <a:spLocks noGrp="1"/>
          </p:cNvSpPr>
          <p:nvPr>
            <p:ph type="title"/>
          </p:nvPr>
        </p:nvSpPr>
        <p:spPr/>
        <p:txBody>
          <a:bodyPr/>
          <a:lstStyle/>
          <a:p>
            <a:r>
              <a:rPr lang="en-US" dirty="0"/>
              <a:t>LO3, content 2</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These are important points about medication aide scope of practice:</a:t>
            </a:r>
          </a:p>
          <a:p>
            <a:pPr marL="342900" indent="-342900">
              <a:buFont typeface="Arial" panose="020B0604020202020204" pitchFamily="34" charset="0"/>
              <a:buChar char="•"/>
            </a:pPr>
            <a:r>
              <a:rPr lang="en-US" dirty="0"/>
              <a:t>MAs must not perform tasks outside scope of practice, not listed in care plan, or not assigned, no matter who requests the task</a:t>
            </a:r>
          </a:p>
          <a:p>
            <a:pPr marL="342900" indent="-342900">
              <a:buFont typeface="Arial" panose="020B0604020202020204" pitchFamily="34" charset="0"/>
              <a:buChar char="•"/>
            </a:pPr>
            <a:r>
              <a:rPr lang="en-US" dirty="0"/>
              <a:t>MAs cannot diagnose illness, prescribe medications, or determine/calculate dose</a:t>
            </a:r>
          </a:p>
          <a:p>
            <a:pPr marL="342900" indent="-342900">
              <a:buFont typeface="Arial" panose="020B0604020202020204" pitchFamily="34" charset="0"/>
              <a:buChar char="•"/>
            </a:pPr>
            <a:r>
              <a:rPr lang="en-US" dirty="0"/>
              <a:t>MAs cannot discuss the treatment plan with the resident or family. Questions about how a medication works or why it was prescribed should be referred to a supervisor</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2980863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7E65F62-BFDE-0A49-9424-F84AAC1FB1AC}"/>
              </a:ext>
            </a:extLst>
          </p:cNvPr>
          <p:cNvSpPr>
            <a:spLocks noGrp="1"/>
          </p:cNvSpPr>
          <p:nvPr>
            <p:ph type="title"/>
          </p:nvPr>
        </p:nvSpPr>
        <p:spPr/>
        <p:txBody>
          <a:bodyPr/>
          <a:lstStyle/>
          <a:p>
            <a:r>
              <a:rPr lang="en-US" dirty="0"/>
              <a:t>LO3, content 3</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The nursing process includes the following steps:</a:t>
            </a:r>
          </a:p>
          <a:p>
            <a:pPr marL="342900" indent="-342900">
              <a:buFont typeface="Arial" panose="020B0604020202020204" pitchFamily="34" charset="0"/>
              <a:buChar char="•"/>
            </a:pPr>
            <a:r>
              <a:rPr lang="en-US" dirty="0"/>
              <a:t>Assessment</a:t>
            </a:r>
          </a:p>
          <a:p>
            <a:pPr marL="342900" indent="-342900">
              <a:buFont typeface="Arial" panose="020B0604020202020204" pitchFamily="34" charset="0"/>
              <a:buChar char="•"/>
            </a:pPr>
            <a:r>
              <a:rPr lang="en-US" dirty="0"/>
              <a:t>Diagnosis</a:t>
            </a:r>
          </a:p>
          <a:p>
            <a:pPr marL="342900" indent="-342900">
              <a:buFont typeface="Arial" panose="020B0604020202020204" pitchFamily="34" charset="0"/>
              <a:buChar char="•"/>
            </a:pPr>
            <a:r>
              <a:rPr lang="en-US" dirty="0"/>
              <a:t>Planning</a:t>
            </a:r>
          </a:p>
          <a:p>
            <a:pPr marL="342900" indent="-342900">
              <a:buFont typeface="Arial" panose="020B0604020202020204" pitchFamily="34" charset="0"/>
              <a:buChar char="•"/>
            </a:pPr>
            <a:r>
              <a:rPr lang="en-US" dirty="0"/>
              <a:t>Implementation</a:t>
            </a:r>
          </a:p>
          <a:p>
            <a:pPr marL="342900" indent="-342900">
              <a:buFont typeface="Arial" panose="020B0604020202020204" pitchFamily="34" charset="0"/>
              <a:buChar char="•"/>
            </a:pPr>
            <a:r>
              <a:rPr lang="en-US" dirty="0"/>
              <a:t>Evaluation </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2120509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7E65F62-BFDE-0A49-9424-F84AAC1FB1AC}"/>
              </a:ext>
            </a:extLst>
          </p:cNvPr>
          <p:cNvSpPr>
            <a:spLocks noGrp="1"/>
          </p:cNvSpPr>
          <p:nvPr>
            <p:ph type="title"/>
          </p:nvPr>
        </p:nvSpPr>
        <p:spPr/>
        <p:txBody>
          <a:bodyPr/>
          <a:lstStyle/>
          <a:p>
            <a:r>
              <a:rPr lang="en-US" dirty="0"/>
              <a:t>LO3, content 4</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REMEMBER:</a:t>
            </a:r>
          </a:p>
          <a:p>
            <a:endParaRPr lang="en-US" dirty="0"/>
          </a:p>
          <a:p>
            <a:r>
              <a:rPr lang="en-US" dirty="0"/>
              <a:t>Communication between team members and the resident informs the nursing process and improves care.</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2147805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7E65F62-BFDE-0A49-9424-F84AAC1FB1AC}"/>
              </a:ext>
            </a:extLst>
          </p:cNvPr>
          <p:cNvSpPr>
            <a:spLocks noGrp="1"/>
          </p:cNvSpPr>
          <p:nvPr>
            <p:ph type="title"/>
          </p:nvPr>
        </p:nvSpPr>
        <p:spPr/>
        <p:txBody>
          <a:bodyPr/>
          <a:lstStyle/>
          <a:p>
            <a:r>
              <a:rPr lang="en-US" dirty="0"/>
              <a:t>LO3, content 5</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the facility chain of command regarding medication administration</a:t>
            </a:r>
          </a:p>
          <a:p>
            <a:endParaRPr lang="en-US" dirty="0"/>
          </a:p>
          <a:p>
            <a:r>
              <a:rPr lang="en-US" dirty="0"/>
              <a:t>Critical Thinking: Conversation Starter</a:t>
            </a:r>
          </a:p>
          <a:p>
            <a:endParaRPr lang="en-US" dirty="0"/>
          </a:p>
          <a:p>
            <a:r>
              <a:rPr lang="en-US" dirty="0"/>
              <a:t>Does the medication aide have a role in the nursing process?</a:t>
            </a:r>
          </a:p>
          <a:p>
            <a:endParaRPr lang="en-US" dirty="0"/>
          </a:p>
          <a:p>
            <a:r>
              <a:rPr lang="en-US" dirty="0"/>
              <a:t>Can you think of examples of ways an MA might contribute to the nursing process? What kinds of changes might be made based on an MA’s input?</a:t>
            </a:r>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startAt="3"/>
            </a:pPr>
            <a:endParaRPr lang="en-US" dirty="0">
              <a:solidFill>
                <a:srgbClr val="FF0000"/>
              </a:solidFill>
            </a:endParaRPr>
          </a:p>
        </p:txBody>
      </p:sp>
    </p:spTree>
    <p:extLst>
      <p:ext uri="{BB962C8B-B14F-4D97-AF65-F5344CB8AC3E}">
        <p14:creationId xmlns:p14="http://schemas.microsoft.com/office/powerpoint/2010/main" val="73089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key terms</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Define the following terms:</a:t>
            </a:r>
          </a:p>
          <a:p>
            <a:endParaRPr lang="en-US" b="1" dirty="0"/>
          </a:p>
          <a:p>
            <a:r>
              <a:rPr lang="en-US" b="1" dirty="0"/>
              <a:t>verbal communication</a:t>
            </a:r>
          </a:p>
          <a:p>
            <a:pPr lvl="1"/>
            <a:r>
              <a:rPr lang="en-US" dirty="0"/>
              <a:t>Communication involving the use of spoken or written words or sounds.</a:t>
            </a:r>
          </a:p>
          <a:p>
            <a:r>
              <a:rPr lang="en-US" b="1" dirty="0"/>
              <a:t>nonverbal communication</a:t>
            </a:r>
          </a:p>
          <a:p>
            <a:pPr lvl="1"/>
            <a:r>
              <a:rPr lang="en-US" dirty="0"/>
              <a:t>Communication without using words.</a:t>
            </a:r>
          </a:p>
          <a:p>
            <a:r>
              <a:rPr lang="en-US" b="1" dirty="0"/>
              <a:t>cliché </a:t>
            </a:r>
          </a:p>
          <a:p>
            <a:pPr lvl="1"/>
            <a:r>
              <a:rPr lang="en-US" dirty="0"/>
              <a:t>phrase that is used over and over again and does not really mean anything.</a:t>
            </a:r>
            <a:endParaRPr lang="en-US" b="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569204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REMEMBER:</a:t>
            </a:r>
          </a:p>
          <a:p>
            <a:endParaRPr lang="en-US" dirty="0"/>
          </a:p>
          <a:p>
            <a:r>
              <a:rPr lang="en-US" dirty="0"/>
              <a:t>Good communication skills involve being mindful of both verbal and nonverbal communication. Body language can communicate both positive and negative messages.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017950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2</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These types of nonverbal communication are generally considered to send a positive message:</a:t>
            </a:r>
          </a:p>
          <a:p>
            <a:pPr marL="342900" indent="-342900">
              <a:buFont typeface="Arial" panose="020B0604020202020204" pitchFamily="34" charset="0"/>
              <a:buChar char="•"/>
            </a:pPr>
            <a:r>
              <a:rPr lang="en-US" dirty="0"/>
              <a:t>Standing up straight with arms relaxed</a:t>
            </a:r>
          </a:p>
          <a:p>
            <a:pPr marL="342900" indent="-342900">
              <a:buFont typeface="Arial" panose="020B0604020202020204" pitchFamily="34" charset="0"/>
              <a:buChar char="•"/>
            </a:pPr>
            <a:r>
              <a:rPr lang="en-US" dirty="0"/>
              <a:t>Leaning toward speaker</a:t>
            </a:r>
          </a:p>
          <a:p>
            <a:pPr marL="342900" indent="-342900">
              <a:buFont typeface="Arial" panose="020B0604020202020204" pitchFamily="34" charset="0"/>
              <a:buChar char="•"/>
            </a:pPr>
            <a:r>
              <a:rPr lang="en-US" dirty="0"/>
              <a:t>Making eye contact</a:t>
            </a:r>
          </a:p>
          <a:p>
            <a:pPr marL="342900" indent="-342900">
              <a:buFont typeface="Arial" panose="020B0604020202020204" pitchFamily="34" charset="0"/>
              <a:buChar char="•"/>
            </a:pPr>
            <a:r>
              <a:rPr lang="en-US" dirty="0"/>
              <a:t>Nodding or smiling</a:t>
            </a:r>
          </a:p>
          <a:p>
            <a:pPr marL="342900" indent="-342900">
              <a:buFont typeface="Arial" panose="020B0604020202020204" pitchFamily="34" charset="0"/>
              <a:buChar char="•"/>
            </a:pPr>
            <a:r>
              <a:rPr lang="en-US" dirty="0"/>
              <a:t>Offering handshake or greeting</a:t>
            </a:r>
          </a:p>
          <a:p>
            <a:pPr marL="342900" indent="-342900">
              <a:buFont typeface="Arial" panose="020B0604020202020204" pitchFamily="34" charset="0"/>
              <a:buChar char="•"/>
            </a:pPr>
            <a:r>
              <a:rPr lang="en-US" dirty="0"/>
              <a:t>Taking notes</a:t>
            </a:r>
          </a:p>
          <a:p>
            <a:pPr marL="342900" indent="-342900">
              <a:buFont typeface="Arial" panose="020B0604020202020204" pitchFamily="34" charset="0"/>
              <a:buChar char="•"/>
            </a:pPr>
            <a:r>
              <a:rPr lang="en-US" dirty="0"/>
              <a:t>Using a cheerful tone of voice</a:t>
            </a:r>
          </a:p>
          <a:p>
            <a:pPr marL="342900" indent="-342900">
              <a:buFont typeface="Arial" panose="020B0604020202020204" pitchFamily="34" charset="0"/>
              <a:buChar char="•"/>
            </a:pPr>
            <a:r>
              <a:rPr lang="en-US" dirty="0"/>
              <a:t>Smiling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083921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3</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These types of nonverbal communication are generally considered to send a negative message:</a:t>
            </a:r>
          </a:p>
          <a:p>
            <a:pPr marL="342900" indent="-342900">
              <a:buFont typeface="Arial" panose="020B0604020202020204" pitchFamily="34" charset="0"/>
              <a:buChar char="•"/>
            </a:pPr>
            <a:r>
              <a:rPr lang="en-US" dirty="0"/>
              <a:t>Slouching or resting head in hands</a:t>
            </a:r>
          </a:p>
          <a:p>
            <a:pPr marL="342900" indent="-342900">
              <a:buFont typeface="Arial" panose="020B0604020202020204" pitchFamily="34" charset="0"/>
              <a:buChar char="•"/>
            </a:pPr>
            <a:r>
              <a:rPr lang="en-US" dirty="0"/>
              <a:t>Leaning back from the speaker</a:t>
            </a:r>
          </a:p>
          <a:p>
            <a:pPr marL="342900" indent="-342900">
              <a:buFont typeface="Arial" panose="020B0604020202020204" pitchFamily="34" charset="0"/>
              <a:buChar char="•"/>
            </a:pPr>
            <a:r>
              <a:rPr lang="en-US" dirty="0"/>
              <a:t>Crossing arms over chest</a:t>
            </a:r>
          </a:p>
          <a:p>
            <a:pPr marL="342900" indent="-342900">
              <a:buFont typeface="Arial" panose="020B0604020202020204" pitchFamily="34" charset="0"/>
              <a:buChar char="•"/>
            </a:pPr>
            <a:r>
              <a:rPr lang="en-US" dirty="0"/>
              <a:t>Avoiding eye contact, looking down</a:t>
            </a:r>
          </a:p>
          <a:p>
            <a:pPr marL="342900" indent="-342900">
              <a:buFont typeface="Arial" panose="020B0604020202020204" pitchFamily="34" charset="0"/>
              <a:buChar char="•"/>
            </a:pPr>
            <a:r>
              <a:rPr lang="en-US" dirty="0"/>
              <a:t>Checking the time</a:t>
            </a:r>
          </a:p>
          <a:p>
            <a:pPr marL="342900" indent="-342900">
              <a:buFont typeface="Arial" panose="020B0604020202020204" pitchFamily="34" charset="0"/>
              <a:buChar char="•"/>
            </a:pPr>
            <a:r>
              <a:rPr lang="en-US" dirty="0"/>
              <a:t>Not acknowledging the other person</a:t>
            </a:r>
          </a:p>
          <a:p>
            <a:pPr marL="342900" indent="-342900">
              <a:buFont typeface="Arial" panose="020B0604020202020204" pitchFamily="34" charset="0"/>
              <a:buChar char="•"/>
            </a:pPr>
            <a:r>
              <a:rPr lang="en-US" dirty="0"/>
              <a:t>Picking at or playing with something</a:t>
            </a:r>
          </a:p>
          <a:p>
            <a:pPr marL="342900" indent="-342900">
              <a:buFont typeface="Arial" panose="020B0604020202020204" pitchFamily="34" charset="0"/>
              <a:buChar char="•"/>
            </a:pPr>
            <a:r>
              <a:rPr lang="en-US" dirty="0"/>
              <a:t>Using an angry tone of voice</a:t>
            </a:r>
          </a:p>
          <a:p>
            <a:pPr marL="342900" indent="-342900">
              <a:buFont typeface="Arial" panose="020B0604020202020204" pitchFamily="34" charset="0"/>
              <a:buChar char="•"/>
            </a:pPr>
            <a:r>
              <a:rPr lang="en-US" dirty="0"/>
              <a:t>Frowning, wincing, rolling eyes </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874242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A1D5A53-A239-5241-B50B-60B417F996B1}"/>
              </a:ext>
            </a:extLst>
          </p:cNvPr>
          <p:cNvSpPr>
            <a:spLocks noGrp="1"/>
          </p:cNvSpPr>
          <p:nvPr>
            <p:ph type="title"/>
          </p:nvPr>
        </p:nvSpPr>
        <p:spPr/>
        <p:txBody>
          <a:bodyPr/>
          <a:lstStyle/>
          <a:p>
            <a:r>
              <a:rPr lang="en-US" dirty="0"/>
              <a:t>LO4, content 4</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r>
              <a:rPr lang="en-US" dirty="0"/>
              <a:t>Key Material 1-3: Barriers to Communication</a:t>
            </a:r>
          </a:p>
          <a:p>
            <a:endParaRPr lang="en-US" dirty="0"/>
          </a:p>
          <a:p>
            <a:endParaRPr lang="en-US" dirty="0"/>
          </a:p>
          <a:p>
            <a:endParaRPr lang="en-US" dirty="0"/>
          </a:p>
          <a:p>
            <a:endParaRPr lang="en-US" dirty="0"/>
          </a:p>
          <a:p>
            <a:endParaRPr lang="en-US" dirty="0"/>
          </a:p>
          <a:p>
            <a:endParaRPr lang="en-US" dirty="0">
              <a:solidFill>
                <a:srgbClr val="FF0000"/>
              </a:solidFill>
            </a:endParaRPr>
          </a:p>
        </p:txBody>
      </p:sp>
      <p:pic>
        <p:nvPicPr>
          <p:cNvPr id="8" name="Picture 7" descr="resident and medication aide experiencing barriers to communication">
            <a:extLst>
              <a:ext uri="{FF2B5EF4-FFF2-40B4-BE49-F238E27FC236}">
                <a16:creationId xmlns:a16="http://schemas.microsoft.com/office/drawing/2014/main" id="{429F61AE-662C-6F4C-82C7-8202C6A4DF4B}"/>
              </a:ext>
            </a:extLst>
          </p:cNvPr>
          <p:cNvPicPr>
            <a:picLocks noChangeAspect="1"/>
          </p:cNvPicPr>
          <p:nvPr/>
        </p:nvPicPr>
        <p:blipFill rotWithShape="1">
          <a:blip r:embed="rId2">
            <a:extLst>
              <a:ext uri="{28A0092B-C50C-407E-A947-70E740481C1C}">
                <a14:useLocalDpi xmlns:a14="http://schemas.microsoft.com/office/drawing/2010/main" val="0"/>
              </a:ext>
            </a:extLst>
          </a:blip>
          <a:srcRect b="3610"/>
          <a:stretch/>
        </p:blipFill>
        <p:spPr>
          <a:xfrm>
            <a:off x="1122161" y="1378680"/>
            <a:ext cx="9260840" cy="4798284"/>
          </a:xfrm>
          <a:prstGeom prst="rect">
            <a:avLst/>
          </a:prstGeom>
        </p:spPr>
      </p:pic>
    </p:spTree>
    <p:extLst>
      <p:ext uri="{BB962C8B-B14F-4D97-AF65-F5344CB8AC3E}">
        <p14:creationId xmlns:p14="http://schemas.microsoft.com/office/powerpoint/2010/main" val="3455022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5</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Following these guidelines will promote effective communication:</a:t>
            </a:r>
          </a:p>
          <a:p>
            <a:pPr marL="342900" indent="-342900">
              <a:buFont typeface="Arial" panose="020B0604020202020204" pitchFamily="34" charset="0"/>
              <a:buChar char="•"/>
            </a:pPr>
            <a:r>
              <a:rPr lang="en-US" dirty="0"/>
              <a:t>Be a good listener</a:t>
            </a:r>
          </a:p>
          <a:p>
            <a:pPr marL="342900" indent="-342900">
              <a:buFont typeface="Arial" panose="020B0604020202020204" pitchFamily="34" charset="0"/>
              <a:buChar char="•"/>
            </a:pPr>
            <a:r>
              <a:rPr lang="en-US" dirty="0"/>
              <a:t>Provide feedback</a:t>
            </a:r>
          </a:p>
          <a:p>
            <a:pPr marL="342900" indent="-342900">
              <a:buFont typeface="Arial" panose="020B0604020202020204" pitchFamily="34" charset="0"/>
              <a:buChar char="•"/>
            </a:pPr>
            <a:r>
              <a:rPr lang="en-US" dirty="0"/>
              <a:t>Bring up topics of concern</a:t>
            </a:r>
          </a:p>
          <a:p>
            <a:pPr marL="342900" indent="-342900">
              <a:buFont typeface="Arial" panose="020B0604020202020204" pitchFamily="34" charset="0"/>
              <a:buChar char="•"/>
            </a:pPr>
            <a:r>
              <a:rPr lang="en-US" dirty="0"/>
              <a:t>Let some pauses happen</a:t>
            </a:r>
          </a:p>
          <a:p>
            <a:pPr marL="342900" indent="-342900">
              <a:buFont typeface="Arial" panose="020B0604020202020204" pitchFamily="34" charset="0"/>
              <a:buChar char="•"/>
            </a:pPr>
            <a:r>
              <a:rPr lang="en-US" dirty="0"/>
              <a:t>Tune in to other cultures</a:t>
            </a:r>
          </a:p>
          <a:p>
            <a:pPr marL="342900" indent="-342900">
              <a:buFont typeface="Arial" panose="020B0604020202020204" pitchFamily="34" charset="0"/>
              <a:buChar char="•"/>
            </a:pPr>
            <a:r>
              <a:rPr lang="en-US" dirty="0"/>
              <a:t>Accept a resident’s religion or lack of religion</a:t>
            </a:r>
          </a:p>
          <a:p>
            <a:pPr marL="342900" indent="-342900">
              <a:buFont typeface="Arial" panose="020B0604020202020204" pitchFamily="34" charset="0"/>
              <a:buChar char="•"/>
            </a:pPr>
            <a:r>
              <a:rPr lang="en-US" dirty="0"/>
              <a:t>Understand the importance of touch</a:t>
            </a:r>
          </a:p>
          <a:p>
            <a:pPr marL="342900" indent="-342900">
              <a:buFont typeface="Arial" panose="020B0604020202020204" pitchFamily="34" charset="0"/>
              <a:buChar char="•"/>
            </a:pPr>
            <a:r>
              <a:rPr lang="en-US" dirty="0"/>
              <a:t>Ask for more information as needed</a:t>
            </a:r>
          </a:p>
          <a:p>
            <a:pPr marL="342900" indent="-342900">
              <a:buFont typeface="Arial" panose="020B0604020202020204" pitchFamily="34" charset="0"/>
              <a:buChar char="•"/>
            </a:pPr>
            <a:r>
              <a:rPr lang="en-US" dirty="0"/>
              <a:t>Make sure communication aids are clean and in proper working order</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859528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6</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REMEMBER:</a:t>
            </a:r>
          </a:p>
          <a:p>
            <a:endParaRPr lang="en-US" dirty="0"/>
          </a:p>
          <a:p>
            <a:r>
              <a:rPr lang="en-US" dirty="0"/>
              <a:t>MAs play an important role in promoting resident safety through careful communication. Listen carefully and report to the nurse if residents are experiencing new symptoms or behaving differently.</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59834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7</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Following these guidelines will help resolve conflict in the workplace:</a:t>
            </a:r>
          </a:p>
          <a:p>
            <a:pPr marL="342900" indent="-342900">
              <a:buFont typeface="Arial" panose="020B0604020202020204" pitchFamily="34" charset="0"/>
              <a:buChar char="•"/>
            </a:pPr>
            <a:r>
              <a:rPr lang="en-US" dirty="0"/>
              <a:t>Address conflict early on</a:t>
            </a:r>
          </a:p>
          <a:p>
            <a:pPr marL="342900" indent="-342900">
              <a:buFont typeface="Arial" panose="020B0604020202020204" pitchFamily="34" charset="0"/>
              <a:buChar char="•"/>
            </a:pPr>
            <a:r>
              <a:rPr lang="en-US" dirty="0"/>
              <a:t>Plan to discuss the issue at the right time</a:t>
            </a:r>
          </a:p>
          <a:p>
            <a:pPr marL="342900" indent="-342900">
              <a:buFont typeface="Arial" panose="020B0604020202020204" pitchFamily="34" charset="0"/>
              <a:buChar char="•"/>
            </a:pPr>
            <a:r>
              <a:rPr lang="en-US" dirty="0"/>
              <a:t>Agree not to interrupt</a:t>
            </a:r>
          </a:p>
          <a:p>
            <a:pPr marL="342900" indent="-342900">
              <a:buFont typeface="Arial" panose="020B0604020202020204" pitchFamily="34" charset="0"/>
              <a:buChar char="•"/>
            </a:pPr>
            <a:r>
              <a:rPr lang="en-US" dirty="0"/>
              <a:t>Do not get emotional</a:t>
            </a:r>
          </a:p>
          <a:p>
            <a:pPr marL="342900" indent="-342900">
              <a:buFont typeface="Arial" panose="020B0604020202020204" pitchFamily="34" charset="0"/>
              <a:buChar char="•"/>
            </a:pPr>
            <a:r>
              <a:rPr lang="en-US" dirty="0"/>
              <a:t>Check your body language</a:t>
            </a:r>
          </a:p>
          <a:p>
            <a:pPr marL="342900" indent="-342900">
              <a:buFont typeface="Arial" panose="020B0604020202020204" pitchFamily="34" charset="0"/>
              <a:buChar char="•"/>
            </a:pPr>
            <a:r>
              <a:rPr lang="en-US" dirty="0"/>
              <a:t>Keep the focus on the issue at hand</a:t>
            </a:r>
          </a:p>
          <a:p>
            <a:pPr marL="342900" indent="-342900">
              <a:buFont typeface="Arial" panose="020B0604020202020204" pitchFamily="34" charset="0"/>
              <a:buChar char="•"/>
            </a:pPr>
            <a:r>
              <a:rPr lang="en-US" dirty="0"/>
              <a:t>Recognize and accept individual differences</a:t>
            </a:r>
          </a:p>
          <a:p>
            <a:pPr marL="342900" indent="-342900">
              <a:buFont typeface="Arial" panose="020B0604020202020204" pitchFamily="34" charset="0"/>
              <a:buChar char="•"/>
            </a:pPr>
            <a:r>
              <a:rPr lang="en-US" dirty="0"/>
              <a:t>Think of ways the conflict can be resolved and be prepared to compromise</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43391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608DFB1C-3BB8-5F47-9257-C1AAFB7C1629}"/>
              </a:ext>
            </a:extLst>
          </p:cNvPr>
          <p:cNvSpPr>
            <a:spLocks noGrp="1"/>
          </p:cNvSpPr>
          <p:nvPr>
            <p:ph type="title"/>
          </p:nvPr>
        </p:nvSpPr>
        <p:spPr/>
        <p:txBody>
          <a:bodyPr/>
          <a:lstStyle/>
          <a:p>
            <a:r>
              <a:rPr lang="en-US" dirty="0"/>
              <a:t>LO4, content 8</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communication, team building, and interpersonal relationships</a:t>
            </a:r>
          </a:p>
          <a:p>
            <a:endParaRPr lang="en-US" dirty="0"/>
          </a:p>
          <a:p>
            <a:r>
              <a:rPr lang="en-US" dirty="0"/>
              <a:t>Critical Thinking: Conversation Starter</a:t>
            </a:r>
          </a:p>
          <a:p>
            <a:endParaRPr lang="en-US" dirty="0"/>
          </a:p>
          <a:p>
            <a:r>
              <a:rPr lang="en-US" dirty="0"/>
              <a:t>Think about times when you have had to resolve conflict</a:t>
            </a:r>
          </a:p>
          <a:p>
            <a:pPr marL="342900" indent="-342900">
              <a:buFont typeface="Arial" panose="020B0604020202020204" pitchFamily="34" charset="0"/>
              <a:buChar char="•"/>
            </a:pPr>
            <a:r>
              <a:rPr lang="en-US" dirty="0"/>
              <a:t>In a personal relationship</a:t>
            </a:r>
          </a:p>
          <a:p>
            <a:pPr marL="342900" indent="-342900">
              <a:buFont typeface="Arial" panose="020B0604020202020204" pitchFamily="34" charset="0"/>
              <a:buChar char="•"/>
            </a:pPr>
            <a:r>
              <a:rPr lang="en-US" dirty="0"/>
              <a:t>With a coworker</a:t>
            </a:r>
          </a:p>
          <a:p>
            <a:pPr marL="342900" indent="-342900">
              <a:buFont typeface="Arial" panose="020B0604020202020204" pitchFamily="34" charset="0"/>
              <a:buChar char="•"/>
            </a:pPr>
            <a:r>
              <a:rPr lang="en-US" dirty="0"/>
              <a:t>With a supervisor</a:t>
            </a:r>
          </a:p>
          <a:p>
            <a:pPr marL="342900" indent="-342900">
              <a:buFont typeface="Arial" panose="020B0604020202020204" pitchFamily="34" charset="0"/>
              <a:buChar char="•"/>
            </a:pPr>
            <a:r>
              <a:rPr lang="en-US" dirty="0"/>
              <a:t>With a resident or family member</a:t>
            </a:r>
          </a:p>
          <a:p>
            <a:pPr marL="342900" indent="-342900">
              <a:buFont typeface="Arial" panose="020B0604020202020204" pitchFamily="34" charset="0"/>
              <a:buChar char="•"/>
            </a:pPr>
            <a:endParaRPr lang="en-US" dirty="0"/>
          </a:p>
          <a:p>
            <a:r>
              <a:rPr lang="en-US" dirty="0"/>
              <a:t>Did these different types of conflict require different approaches? Different skills?</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738898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3879012-59D7-844B-82F4-AFE8DD02BAB3}"/>
              </a:ext>
            </a:extLst>
          </p:cNvPr>
          <p:cNvSpPr>
            <a:spLocks noGrp="1"/>
          </p:cNvSpPr>
          <p:nvPr>
            <p:ph type="title"/>
          </p:nvPr>
        </p:nvSpPr>
        <p:spPr/>
        <p:txBody>
          <a:bodyPr/>
          <a:lstStyle/>
          <a:p>
            <a:r>
              <a:rPr lang="en-US" dirty="0"/>
              <a:t>LO5, key terms</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Explain policy and procedure manuals</a:t>
            </a:r>
          </a:p>
          <a:p>
            <a:endParaRPr lang="en-US" dirty="0"/>
          </a:p>
          <a:p>
            <a:r>
              <a:rPr lang="en-US" dirty="0"/>
              <a:t>Define the following terms:</a:t>
            </a:r>
          </a:p>
          <a:p>
            <a:endParaRPr lang="en-US" dirty="0"/>
          </a:p>
          <a:p>
            <a:r>
              <a:rPr lang="en-US" b="1" dirty="0"/>
              <a:t>policy</a:t>
            </a:r>
          </a:p>
          <a:p>
            <a:pPr lvl="1"/>
            <a:r>
              <a:rPr lang="en-US" dirty="0"/>
              <a:t>a course of action that should be taken every time a certain situation occurs.</a:t>
            </a:r>
          </a:p>
          <a:p>
            <a:r>
              <a:rPr lang="en-US" b="1" dirty="0"/>
              <a:t>procedure</a:t>
            </a:r>
          </a:p>
          <a:p>
            <a:pPr lvl="1"/>
            <a:r>
              <a:rPr lang="en-US" dirty="0"/>
              <a:t>a method or way of doing something.</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290268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1E99780B-53FF-4717-A495-DBC4494968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3879012-59D7-844B-82F4-AFE8DD02BAB3}"/>
              </a:ext>
            </a:extLst>
          </p:cNvPr>
          <p:cNvSpPr>
            <a:spLocks noGrp="1"/>
          </p:cNvSpPr>
          <p:nvPr>
            <p:ph type="title"/>
          </p:nvPr>
        </p:nvSpPr>
        <p:spPr/>
        <p:txBody>
          <a:bodyPr/>
          <a:lstStyle/>
          <a:p>
            <a:r>
              <a:rPr lang="en-US" dirty="0"/>
              <a:t>LO5, content 1</a:t>
            </a:r>
          </a:p>
        </p:txBody>
      </p:sp>
      <p:sp>
        <p:nvSpPr>
          <p:cNvPr id="2" name="Content Placeholder 1">
            <a:extLst>
              <a:ext uri="{FF2B5EF4-FFF2-40B4-BE49-F238E27FC236}">
                <a16:creationId xmlns:a16="http://schemas.microsoft.com/office/drawing/2014/main" id="{2972A335-290B-4A93-ADE7-4AF7C772A54A}"/>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Explain policy and procedure manuals</a:t>
            </a:r>
          </a:p>
          <a:p>
            <a:endParaRPr lang="en-US" dirty="0"/>
          </a:p>
          <a:p>
            <a:r>
              <a:rPr lang="en-US" dirty="0"/>
              <a:t>The following are examples of common policies:</a:t>
            </a:r>
          </a:p>
          <a:p>
            <a:endParaRPr lang="en-US" dirty="0"/>
          </a:p>
          <a:p>
            <a:pPr marL="342900" indent="-342900">
              <a:buFont typeface="Arial" panose="020B0604020202020204" pitchFamily="34" charset="0"/>
              <a:buChar char="•"/>
            </a:pPr>
            <a:r>
              <a:rPr lang="en-US" dirty="0"/>
              <a:t>All resident information must remain confidential</a:t>
            </a:r>
          </a:p>
          <a:p>
            <a:pPr marL="342900" indent="-342900">
              <a:buFont typeface="Arial" panose="020B0604020202020204" pitchFamily="34" charset="0"/>
              <a:buChar char="•"/>
            </a:pPr>
            <a:r>
              <a:rPr lang="en-US" dirty="0"/>
              <a:t>The care plan must always be followed</a:t>
            </a:r>
          </a:p>
          <a:p>
            <a:pPr marL="342900" indent="-342900">
              <a:buFont typeface="Arial" panose="020B0604020202020204" pitchFamily="34" charset="0"/>
              <a:buChar char="•"/>
            </a:pPr>
            <a:r>
              <a:rPr lang="en-US" dirty="0"/>
              <a:t>MAs should not do tasks not included in their job descriptions</a:t>
            </a:r>
          </a:p>
          <a:p>
            <a:pPr marL="342900" indent="-342900">
              <a:buFont typeface="Arial" panose="020B0604020202020204" pitchFamily="34" charset="0"/>
              <a:buChar char="•"/>
            </a:pPr>
            <a:r>
              <a:rPr lang="en-US" dirty="0"/>
              <a:t>MAs must report important events or changes in residents to a nurse</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891093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161221"/>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1064</TotalTime>
  <Words>2012</Words>
  <Application>Microsoft Macintosh PowerPoint</Application>
  <PresentationFormat>Widescreen</PresentationFormat>
  <Paragraphs>450</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Scala Sans</vt:lpstr>
      <vt:lpstr>1_Office Theme</vt:lpstr>
      <vt:lpstr>PowerPoint Presentation</vt:lpstr>
      <vt:lpstr>Chapter 1, LO1 key terms</vt:lpstr>
      <vt:lpstr>LO1, content 1</vt:lpstr>
      <vt:lpstr>LO1, content 2</vt:lpstr>
      <vt:lpstr>LO1, content 3</vt:lpstr>
      <vt:lpstr>LO1, content 4</vt:lpstr>
      <vt:lpstr>LO1, content 5</vt:lpstr>
      <vt:lpstr>LO2, key terms 1</vt:lpstr>
      <vt:lpstr>LO2, key terms 2</vt:lpstr>
      <vt:lpstr>LO2, content 1</vt:lpstr>
      <vt:lpstr>LO2, content 2</vt:lpstr>
      <vt:lpstr>LO2, content 3</vt:lpstr>
      <vt:lpstr>LO2, content 4</vt:lpstr>
      <vt:lpstr>LO2, content 5</vt:lpstr>
      <vt:lpstr>LO2, content 6</vt:lpstr>
      <vt:lpstr>LO2, content 7</vt:lpstr>
      <vt:lpstr>LO3, key terms </vt:lpstr>
      <vt:lpstr>LO3, content 1</vt:lpstr>
      <vt:lpstr>LO3, content 2</vt:lpstr>
      <vt:lpstr>LO3, content 3</vt:lpstr>
      <vt:lpstr>LO3, content 4</vt:lpstr>
      <vt:lpstr>LO3, content 5</vt:lpstr>
      <vt:lpstr>LO4, key terms</vt:lpstr>
      <vt:lpstr>LO4, content 1</vt:lpstr>
      <vt:lpstr>LO4, content 2</vt:lpstr>
      <vt:lpstr>LO4, content 3</vt:lpstr>
      <vt:lpstr>LO4, content 4</vt:lpstr>
      <vt:lpstr>LO4, content 5</vt:lpstr>
      <vt:lpstr>LO4, content 6</vt:lpstr>
      <vt:lpstr>LO4, content 7</vt:lpstr>
      <vt:lpstr>LO4, content 8</vt:lpstr>
      <vt:lpstr>LO5, key terms</vt:lpstr>
      <vt:lpstr>LO5, content 1</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112</cp:revision>
  <dcterms:created xsi:type="dcterms:W3CDTF">2020-03-18T20:49:54Z</dcterms:created>
  <dcterms:modified xsi:type="dcterms:W3CDTF">2021-05-11T17:34:14Z</dcterms:modified>
</cp:coreProperties>
</file>