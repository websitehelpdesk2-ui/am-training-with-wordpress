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4" r:id="rId2"/>
    <p:sldId id="326" r:id="rId3"/>
    <p:sldId id="327" r:id="rId4"/>
    <p:sldId id="344" r:id="rId5"/>
    <p:sldId id="305" r:id="rId6"/>
    <p:sldId id="331" r:id="rId7"/>
    <p:sldId id="345" r:id="rId8"/>
    <p:sldId id="308" r:id="rId9"/>
    <p:sldId id="346" r:id="rId10"/>
    <p:sldId id="334" r:id="rId11"/>
    <p:sldId id="347" r:id="rId12"/>
    <p:sldId id="315" r:id="rId13"/>
    <p:sldId id="343" r:id="rId14"/>
    <p:sldId id="348" r:id="rId15"/>
    <p:sldId id="349" r:id="rId16"/>
    <p:sldId id="350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64" autoAdjust="0"/>
    <p:restoredTop sz="94660"/>
  </p:normalViewPr>
  <p:slideViewPr>
    <p:cSldViewPr snapToGrid="0">
      <p:cViewPr varScale="1">
        <p:scale>
          <a:sx n="53" d="100"/>
          <a:sy n="53" d="100"/>
        </p:scale>
        <p:origin x="8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Immune and Lymphatic Systems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6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81402-EEAD-3849-9AE2-4ABD963D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06473"/>
            <a:ext cx="7031182" cy="812509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553998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Immune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and Lymphatic Systems              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6/8/2022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9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5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6/8/2022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6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89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F04F8D-B55A-9F42-BE76-7A62E0FF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19, 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Material19-1: The Lymphatic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Human figure with parts of the lymphatic system labeled">
            <a:extLst>
              <a:ext uri="{FF2B5EF4-FFF2-40B4-BE49-F238E27FC236}">
                <a16:creationId xmlns:a16="http://schemas.microsoft.com/office/drawing/2014/main" id="{D9EAD1B2-3712-4549-AE5B-A745F5F5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331" y="1051816"/>
            <a:ext cx="45085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0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F04F8D-B55A-9F42-BE76-7A62E0FF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structure and function of the immune and lymphatic systems</a:t>
            </a:r>
          </a:p>
          <a:p>
            <a:endParaRPr lang="en-US" dirty="0"/>
          </a:p>
          <a:p>
            <a:r>
              <a:rPr lang="en-US" dirty="0"/>
              <a:t>Remember the following points about the lymphatic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Functions of the system are to remove excess fluids and waste products and to help the immune system fight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closely related to the circulatory system because lymph fluid, after being purified in the lymph nodes, flows into the bloodstream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has no pump, but is circulated by muscle activity, massage, and breathing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9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F04F8D-B55A-9F42-BE76-7A62E0FF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structure and function of the immune and lymphatic systems</a:t>
            </a:r>
          </a:p>
          <a:p>
            <a:endParaRPr lang="en-US" dirty="0"/>
          </a:p>
          <a:p>
            <a:r>
              <a:rPr lang="en-US" dirty="0"/>
              <a:t>Normal changes of aging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Weakened immune system increases risk of infections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Takes longer to recover from an illness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number and size of lymph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response to vaccines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7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BEDF11-F27B-AB47-9B80-5BD48C00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HIV/AIDS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acquired immunodeficiency syndrome (AIDS)</a:t>
            </a:r>
          </a:p>
          <a:p>
            <a:pPr lvl="1"/>
            <a:r>
              <a:rPr lang="en-US" dirty="0"/>
              <a:t>the final stage of HIV infection, in which infections, tumors, and central nervous system symptoms appear due to a weakened immune system that is unable to fight infection.</a:t>
            </a:r>
          </a:p>
          <a:p>
            <a:r>
              <a:rPr lang="en-US" b="1" dirty="0"/>
              <a:t>human immunodeficiency virus (HIV)</a:t>
            </a:r>
          </a:p>
          <a:p>
            <a:pPr lvl="1"/>
            <a:r>
              <a:rPr lang="en-US" dirty="0"/>
              <a:t>the virus that attacks the body’s immune system and gradually disables it; eventually can cause AIDS.</a:t>
            </a:r>
          </a:p>
          <a:p>
            <a:r>
              <a:rPr lang="en-US" b="1" dirty="0"/>
              <a:t>opportunistic infection</a:t>
            </a:r>
          </a:p>
          <a:p>
            <a:pPr lvl="1"/>
            <a:r>
              <a:rPr lang="en-US" dirty="0"/>
              <a:t>an infection that invades the body when the immune system is weak and unable to defend itself.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65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3C4334-B640-F144-B0AB-5CF393F5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HIV/AIDS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HIV/AIDS: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Antiretroviral therapy involves three or more medications that slow/control the HIV virus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ART medications reduce chemicals in the body that HIV needs to make copies of itself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prevent HIV from combining with the patient’s DNA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Drug classes involved in ART include the word [ITAL]inhibitor[/ITAL] because they slow down particular body processes.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ART medications have many unpleasant side effects, including nausea, vomiting, diarrhea, fever, and skin rashes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also involves relieving symptoms and prevention/treatment of opportunistic infections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178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39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3C4334-B640-F144-B0AB-5CF393F5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HIV/AIDS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HIV/AIDS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Follow Standard Precautions. Follow Transmission-Based Precautions as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Wash hands often and keep things clean to protect residents with compromised immune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people with HIV/AIDS lose their appetites and have difficulty eating. Follow any ordered dietary guidelines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antiretroviral drugs can cause liver problems. Observe and report signs such as jaundice to the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medications can cause serious adverse effects. Observe and report carefully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to a supervisor immediately if exposed to blood/body fluids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99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2F2D62-E2CE-CF46-A37B-7F9403F7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Describe common treatments for cancer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cancer</a:t>
            </a:r>
          </a:p>
          <a:p>
            <a:pPr lvl="1"/>
            <a:r>
              <a:rPr lang="en-US" dirty="0"/>
              <a:t>general term to describe a disease in which abnormal cells grow in an uncontrolled way. </a:t>
            </a:r>
          </a:p>
          <a:p>
            <a:r>
              <a:rPr lang="en-US" b="1" dirty="0"/>
              <a:t>tumor</a:t>
            </a:r>
          </a:p>
          <a:p>
            <a:pPr lvl="1"/>
            <a:r>
              <a:rPr lang="en-US" dirty="0"/>
              <a:t>a cluster of abnormally growing cells. </a:t>
            </a:r>
          </a:p>
          <a:p>
            <a:r>
              <a:rPr lang="en-US" b="1" dirty="0"/>
              <a:t>benign tumor</a:t>
            </a:r>
          </a:p>
          <a:p>
            <a:pPr lvl="1"/>
            <a:r>
              <a:rPr lang="en-US" dirty="0"/>
              <a:t>a tumor that is considered noncancerous.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61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2F2D62-E2CE-CF46-A37B-7F9403F7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Describe common treatments for cancer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malignant tumor</a:t>
            </a:r>
          </a:p>
          <a:p>
            <a:pPr lvl="1"/>
            <a:r>
              <a:rPr lang="en-US" dirty="0"/>
              <a:t>a tumor that is cancerous. </a:t>
            </a:r>
          </a:p>
          <a:p>
            <a:r>
              <a:rPr lang="en-US" b="1" dirty="0"/>
              <a:t>lymphoma</a:t>
            </a:r>
          </a:p>
          <a:p>
            <a:pPr lvl="1"/>
            <a:r>
              <a:rPr lang="en-US" dirty="0"/>
              <a:t>a form of cancer affecting white blood cells and lymphatic tissue, including the lymph nodes, thymus gland, spleen, and bone marrow. </a:t>
            </a:r>
          </a:p>
          <a:p>
            <a:r>
              <a:rPr lang="en-US" b="1" dirty="0"/>
              <a:t>leukemia</a:t>
            </a:r>
          </a:p>
          <a:p>
            <a:pPr lvl="1"/>
            <a:r>
              <a:rPr lang="en-US" dirty="0"/>
              <a:t>a form of cancer affecting the blood and bone marrow.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78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FE5409-E24A-584F-A6A6-3AF8940D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Describe common treatments for cancer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treatments for cancer: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Surgery is front line of defense for most forms of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Chemotherapy</a:t>
            </a:r>
            <a:r>
              <a:rPr lang="en-US" dirty="0"/>
              <a:t> refers to medications given, usually intravenously, to fight cancer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have severe side effects, including nausea, vomiting, diarrhea, oral sores, hair loss, fatigue, and decreased resistance to infection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Medications may be administered to treat symptoms caused by side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Radiation therapy (radiotherapy) directs radiation to a limited area to kill cancer cells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Immunotherapy uses a person’s own immune system to fight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MAs do not administer chemotherapy drugs (most are IV), but may administer medications to ease side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178 (or handout) details specific drugs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390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FE5409-E24A-584F-A6A6-3AF8940D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Describe common treatments for cancer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cancer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case is different. Cancer is a general term and refers to many individual situations. Do not make assumptions about a resident’s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Cancer can cause great pain, especially in the late stages. Be alert for signs of pain and report them to the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Follow facility procedures for administering mediations. Cancer treatments can put residents at a higher risk of infection. Additional infection prevention practices may be in place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 not apply lotion or any topical medication to areas receiving radiation therapy unless ordered to do so. Do not remove markings used in radiation therapy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signs of infection, such as fever, malaise, and fatigue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269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2BC8B9-843F-FE45-9888-6165DB7A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rheumatoid arthritis, lupus, and shingles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rheumatoid arthritis</a:t>
            </a:r>
          </a:p>
          <a:p>
            <a:pPr lvl="1"/>
            <a:r>
              <a:rPr lang="en-US" dirty="0"/>
              <a:t>a type of arthritis in which joints become red, swollen, and very pain­ful, resulting in restricted movement and pos­sible deformities. </a:t>
            </a:r>
          </a:p>
          <a:p>
            <a:r>
              <a:rPr lang="en-US" b="1" dirty="0"/>
              <a:t>lupus</a:t>
            </a:r>
          </a:p>
          <a:p>
            <a:pPr lvl="1"/>
            <a:r>
              <a:rPr lang="en-US" dirty="0"/>
              <a:t>a chronic autoimmune disease in which the body attacks its own healthy tissues. </a:t>
            </a:r>
          </a:p>
          <a:p>
            <a:r>
              <a:rPr lang="en-US" b="1" dirty="0"/>
              <a:t>shingles</a:t>
            </a:r>
          </a:p>
          <a:p>
            <a:pPr lvl="1"/>
            <a:r>
              <a:rPr lang="en-US" dirty="0"/>
              <a:t>a skin rash caused by the varicella-zoster virus (VZV) that causes pain, tingling, itching, and a rash of fluid-filled blisters.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628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B4FCA-3B8B-8643-9E16-05E3C1AC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rheumatoid arthritis, lupus, and shingles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rheumatoid arthritis: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Disease-modifying antirheumatic drugs (DMARDs) work with the immune system to slow progression of 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Biologic DMARDs may be used if DMARDs are not effective (administered by injection)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NSAIDs may be ordered for pain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or injected corticosteroids reduce inflammation and can relieve RA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179 (or handout) details specific drugs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26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B4FCA-3B8B-8643-9E16-05E3C1AC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rheumatoid arthritis, lupus, and shingles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lupus: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Antimalarial agents change the immune system in a way that can relieve lupus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Immunosuppressant drugs can slow the damaging immune response caused by lupus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Residents with lupus may be more prone to infection because of these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180 (or handout) details specific drugs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49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B4FCA-3B8B-8643-9E16-05E3C1AC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rheumatoid arthritis, lupus, and shingles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shingles/post-herpetic neuralgia: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Vaccine can help reduce risk of contracting shingles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Antiviral agents can reduce severity/shorten length of illness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Analgesics (NSAIDs, acetaminophen) help manage pain; severe pain may be treated with opioids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Tricyclic antidepressants, anticonvulsants, and topical anesthetics are possible treatments for post-herpetic neuralgia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180–181 (or handout) details specific drugs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60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475445B-5AB6-44F4-8112-3587AA2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B4FCA-3B8B-8643-9E16-05E3C1AC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3B96-2487-4C6C-88E9-51107D3F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rheumatoid arthritis, lupus, and shingles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RA, lupus, and shingles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for gastrointestinal bleeding in residents taking NSAIDs. Report any concerns to the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signs of infection (fever, malaise, fatigue) in residents taking immunosuppressant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residents taking opioid analgesics for signs and symptoms of over-sedation (slow breathing, low oxygen levels, hard to wake)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signs of uncontrolled pain</a:t>
            </a:r>
          </a:p>
        </p:txBody>
      </p:sp>
    </p:spTree>
    <p:extLst>
      <p:ext uri="{BB962C8B-B14F-4D97-AF65-F5344CB8AC3E}">
        <p14:creationId xmlns:p14="http://schemas.microsoft.com/office/powerpoint/2010/main" val="3000883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2631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</TotalTime>
  <Words>1324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Scala Sans</vt:lpstr>
      <vt:lpstr>1_Office Theme</vt:lpstr>
      <vt:lpstr>PowerPoint Presentation</vt:lpstr>
      <vt:lpstr>Chapter 19, LO1, content 1</vt:lpstr>
      <vt:lpstr>LO1, content 2</vt:lpstr>
      <vt:lpstr>LO1, content 3</vt:lpstr>
      <vt:lpstr>LO2, key terms 1</vt:lpstr>
      <vt:lpstr>LO2, content 1</vt:lpstr>
      <vt:lpstr>LO2, content 2</vt:lpstr>
      <vt:lpstr>LO3, key terms 1</vt:lpstr>
      <vt:lpstr>LO3, key terms 2</vt:lpstr>
      <vt:lpstr>LO3, content 1</vt:lpstr>
      <vt:lpstr>LO3, content 2</vt:lpstr>
      <vt:lpstr>LO4, key terms 1</vt:lpstr>
      <vt:lpstr>LO4, content 1</vt:lpstr>
      <vt:lpstr>LO4, content 2</vt:lpstr>
      <vt:lpstr>LO4, content 3</vt:lpstr>
      <vt:lpstr>LO4, content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Angela Storey</cp:lastModifiedBy>
  <cp:revision>78</cp:revision>
  <dcterms:created xsi:type="dcterms:W3CDTF">2020-03-18T21:19:37Z</dcterms:created>
  <dcterms:modified xsi:type="dcterms:W3CDTF">2022-06-08T16:43:52Z</dcterms:modified>
</cp:coreProperties>
</file>