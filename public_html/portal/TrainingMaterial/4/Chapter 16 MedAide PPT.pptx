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1" r:id="rId2"/>
    <p:sldId id="258" r:id="rId3"/>
    <p:sldId id="368" r:id="rId4"/>
    <p:sldId id="335" r:id="rId5"/>
    <p:sldId id="374" r:id="rId6"/>
    <p:sldId id="305" r:id="rId7"/>
    <p:sldId id="341" r:id="rId8"/>
    <p:sldId id="375" r:id="rId9"/>
    <p:sldId id="376" r:id="rId10"/>
    <p:sldId id="308" r:id="rId11"/>
    <p:sldId id="369" r:id="rId12"/>
    <p:sldId id="377" r:id="rId13"/>
    <p:sldId id="378" r:id="rId14"/>
    <p:sldId id="379" r:id="rId15"/>
    <p:sldId id="380" r:id="rId16"/>
    <p:sldId id="310" r:id="rId17"/>
    <p:sldId id="348" r:id="rId18"/>
    <p:sldId id="381" r:id="rId19"/>
    <p:sldId id="382" r:id="rId20"/>
    <p:sldId id="383" r:id="rId21"/>
    <p:sldId id="307" r:id="rId22"/>
    <p:sldId id="367" r:id="rId23"/>
    <p:sldId id="384" r:id="rId24"/>
    <p:sldId id="385" r:id="rId25"/>
    <p:sldId id="370" r:id="rId26"/>
    <p:sldId id="386" r:id="rId27"/>
    <p:sldId id="371" r:id="rId28"/>
    <p:sldId id="387" r:id="rId29"/>
    <p:sldId id="388" r:id="rId30"/>
    <p:sldId id="389" r:id="rId31"/>
    <p:sldId id="372" r:id="rId32"/>
    <p:sldId id="373" r:id="rId33"/>
    <p:sldId id="390" r:id="rId34"/>
    <p:sldId id="391" r:id="rId35"/>
    <p:sldId id="392" r:id="rId36"/>
    <p:sldId id="393" r:id="rId37"/>
    <p:sldId id="25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37" autoAdjust="0"/>
    <p:restoredTop sz="94640"/>
  </p:normalViewPr>
  <p:slideViewPr>
    <p:cSldViewPr snapToGrid="0">
      <p:cViewPr varScale="1">
        <p:scale>
          <a:sx n="100" d="100"/>
          <a:sy n="100" d="100"/>
        </p:scale>
        <p:origin x="1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5C2F09-6D1A-4A21-97DF-F888DD13FD39}"/>
              </a:ext>
            </a:extLst>
          </p:cNvPr>
          <p:cNvSpPr txBox="1"/>
          <p:nvPr userDrawn="1"/>
        </p:nvSpPr>
        <p:spPr>
          <a:xfrm>
            <a:off x="1142997" y="539293"/>
            <a:ext cx="1816272" cy="186204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EBFBB-1425-4277-8500-4300AD017EDA}"/>
              </a:ext>
            </a:extLst>
          </p:cNvPr>
          <p:cNvSpPr txBox="1"/>
          <p:nvPr userDrawn="1"/>
        </p:nvSpPr>
        <p:spPr>
          <a:xfrm>
            <a:off x="1150229" y="2062986"/>
            <a:ext cx="8717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Gastrointestinal System and Common Medications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1325043" y="4825851"/>
            <a:ext cx="1236907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2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E03F057-80E6-4933-B039-F692BF84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8452" y="6279454"/>
            <a:ext cx="1297633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E6B1E-818D-9C42-97FB-7E5D1CAEE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1879"/>
            <a:ext cx="7312572" cy="706928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393" y="780226"/>
            <a:ext cx="10234377" cy="53967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5F491-9531-4861-B658-DB5FE7E2FEAE}"/>
              </a:ext>
            </a:extLst>
          </p:cNvPr>
          <p:cNvSpPr/>
          <p:nvPr userDrawn="1"/>
        </p:nvSpPr>
        <p:spPr>
          <a:xfrm>
            <a:off x="11328400" y="0"/>
            <a:ext cx="863600" cy="16065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F0E1-C264-477A-8C68-5954EE75A404}"/>
              </a:ext>
            </a:extLst>
          </p:cNvPr>
          <p:cNvSpPr txBox="1"/>
          <p:nvPr userDrawn="1"/>
        </p:nvSpPr>
        <p:spPr>
          <a:xfrm>
            <a:off x="11506200" y="1752599"/>
            <a:ext cx="369332" cy="37986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t>The Gastrointestinal System and Common Medications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A6800-7865-48FF-933D-2164FAE0ACC9}"/>
              </a:ext>
            </a:extLst>
          </p:cNvPr>
          <p:cNvSpPr txBox="1"/>
          <p:nvPr userDrawn="1"/>
        </p:nvSpPr>
        <p:spPr>
          <a:xfrm>
            <a:off x="11506197" y="101143"/>
            <a:ext cx="1816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t>16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5C658E-B179-4C5F-B3AF-13638309A3D4}"/>
              </a:ext>
            </a:extLst>
          </p:cNvPr>
          <p:cNvCxnSpPr>
            <a:cxnSpLocks/>
          </p:cNvCxnSpPr>
          <p:nvPr userDrawn="1"/>
        </p:nvCxnSpPr>
        <p:spPr>
          <a:xfrm flipH="1">
            <a:off x="745067" y="6629400"/>
            <a:ext cx="100076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C71CCBE0-D1B9-42FA-8DAC-87EEE4FE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79454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C1E1F3-686D-4F52-826D-70A4F80E72A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33E0703D-A83A-40F4-A8D2-8D56B297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9454"/>
            <a:ext cx="4993783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0274B49-780C-479A-B0DB-0F3EABBF8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1641" y="5924550"/>
            <a:ext cx="719715" cy="74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6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F1DCB50-4D11-4F0B-AF02-F07973610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798611" y="2338649"/>
            <a:ext cx="2539591" cy="26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0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82F9F-E9DB-44F9-8F4D-A11E49818C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5/20/21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cala Sans" panose="02000503060000020003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ala Sans" panose="02000503060000020003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ala Sans" panose="0200050306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01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080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6AA5A4-A0E5-4F46-AF3B-8AC9ED19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16, LO1,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structure and function of the gastrointestinal system</a:t>
            </a:r>
          </a:p>
          <a:p>
            <a:endParaRPr lang="en-US" dirty="0"/>
          </a:p>
          <a:p>
            <a:r>
              <a:rPr lang="en-US" dirty="0"/>
              <a:t>Define the following terms: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digestion</a:t>
            </a:r>
          </a:p>
          <a:p>
            <a:pPr lvl="1"/>
            <a:r>
              <a:rPr lang="en-US" dirty="0"/>
              <a:t>the process of preparing food physi­cally and chemically so that it can be absorbed into the cells.</a:t>
            </a:r>
          </a:p>
          <a:p>
            <a:r>
              <a:rPr lang="en-US" b="1" dirty="0"/>
              <a:t>elimination</a:t>
            </a:r>
          </a:p>
          <a:p>
            <a:pPr lvl="1"/>
            <a:r>
              <a:rPr lang="en-US" dirty="0"/>
              <a:t>the process of expelling wastes (made up of the waste products of food and flu­ids) that are not absorbed into the cells.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52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Material 16-1: The Gastrointestinal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 descr="Human figure with parts of the digestive system labeled">
            <a:extLst>
              <a:ext uri="{FF2B5EF4-FFF2-40B4-BE49-F238E27FC236}">
                <a16:creationId xmlns:a16="http://schemas.microsoft.com/office/drawing/2014/main" id="{AAE6093F-FB55-BB47-A137-567518FE6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783" y="1311992"/>
            <a:ext cx="4141643" cy="486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9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6AA5A4-A0E5-4F46-AF3B-8AC9ED19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structure and function of the gastrointestinal system</a:t>
            </a:r>
          </a:p>
          <a:p>
            <a:endParaRPr lang="en-US" dirty="0"/>
          </a:p>
          <a:p>
            <a:r>
              <a:rPr lang="en-US" dirty="0"/>
              <a:t>Remember the following points about the gastrointestinal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Digestion is the process of preparing food for absorption into the cells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Absorption is the transfer of nutrients from the intestines to the cells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Elimination is the process of expelling wastes that are not absorbed into the cells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58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6AA5A4-A0E5-4F46-AF3B-8AC9ED19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LO1,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Describe the structure and function of the gastrointestinal system</a:t>
            </a:r>
          </a:p>
          <a:p>
            <a:endParaRPr lang="en-US" dirty="0"/>
          </a:p>
          <a:p>
            <a:r>
              <a:rPr lang="en-US" dirty="0"/>
              <a:t>Normal changes of aging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Decreased saliva production affects chewing/swallowing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Dulled sense of taste may result in poor appetite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Decreased absorption of vitamins/minerals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Longer, less efficient digestion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More frequent constipation caused by body moving more slowly through the intestines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67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stomatitis and ulcerative gingivitis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stomatitis</a:t>
            </a:r>
          </a:p>
          <a:p>
            <a:pPr lvl="1"/>
            <a:r>
              <a:rPr lang="en-US" dirty="0"/>
              <a:t>inflammation and soreness of the mouth. </a:t>
            </a:r>
          </a:p>
          <a:p>
            <a:r>
              <a:rPr lang="en-US" b="1" dirty="0"/>
              <a:t>ulcerative gingivitis</a:t>
            </a:r>
          </a:p>
          <a:p>
            <a:pPr lvl="1"/>
            <a:r>
              <a:rPr lang="en-US" dirty="0"/>
              <a:t>an infection of the gums, usually caused by lack of proper mouth care.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70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stomatitis and ulcerative gingivitis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stomatitis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anesthetics to numb the affected area and reduce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corticosteroids (oral for severe cases) to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Antibiotic/antifungal agents if bacterial or fungal infection is diagnosed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155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563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stomatitis and ulcerative gingivitis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ulcerative gingivitis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Thorough cleaning performed by an oral hygienist or dentist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Regular antiseptic rinses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antibiotics may be required if the infection spreads to the rest of the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155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546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A5FC8C-FC05-8E46-8294-56B9CB81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LO2,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Discuss common medications used to treat stomatitis and ulcerative gingivitis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 these care guidelines for stomatitis and ulcerative gingivitis: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Corticosteroids can cause oral candidiasis (thrush). Residents using topical corticosteroids in the mouth must rinse with water afterward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Any sore, irritation, or inflammation in the mouth can be made worse by acidic or spicy foods. Carbonated beverages and citrus juices should also be avoided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poorly fitted dentures and complaints of mouth pain promptly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Dilute hydrogen peroxide as ordered before using it as a mouth rinse. Swallowing hydrogen peroxide is dangerous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Residents who are cognitively impaired may need to have topical agents applied to the surface of sores with a swab rather than a rinse (to prevent swallowing). Follow instructions on the 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any system symptoms (e.g., fever, malaise) that could indicate need for systemic antibiotic treatment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28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gastroesophageal reflux disease (GERD), peptic ulcer disease, and gastritis</a:t>
            </a:r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gastroesophageal reflux disease (GERD)</a:t>
            </a:r>
          </a:p>
          <a:p>
            <a:pPr lvl="1"/>
            <a:r>
              <a:rPr lang="en-US" dirty="0"/>
              <a:t>a chronic condition in which the liquid contents of the stomach back up into the esophagus.</a:t>
            </a:r>
          </a:p>
          <a:p>
            <a:r>
              <a:rPr lang="en-US" b="1" dirty="0"/>
              <a:t>peptic ulcer</a:t>
            </a:r>
          </a:p>
          <a:p>
            <a:pPr lvl="1"/>
            <a:r>
              <a:rPr lang="en-US" dirty="0"/>
              <a:t>raw sore in the stomach that can cause pain, belching, and vomiting.</a:t>
            </a:r>
          </a:p>
          <a:p>
            <a:r>
              <a:rPr lang="en-US" b="1" dirty="0"/>
              <a:t>gastritis</a:t>
            </a:r>
          </a:p>
          <a:p>
            <a:pPr lvl="1"/>
            <a:r>
              <a:rPr lang="en-US" dirty="0"/>
              <a:t>inflammation or irritation of the lining of the stomach.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450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gastroesophageal reflux disease (GERD), peptic ulcer disease, and gastritis</a:t>
            </a:r>
          </a:p>
          <a:p>
            <a:endParaRPr lang="en-US" dirty="0"/>
          </a:p>
          <a:p>
            <a:r>
              <a:rPr lang="en-US" dirty="0"/>
              <a:t>Understand the following about treatment for gastroesophageal reflux disease (GERD):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Lifestyle and diet changes can relieve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Proton pump inhibitors slow the release of acid into the stomach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H2 blockers slow the release of acid into the stomach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Both classes of medication can cause nausea, vomiting, and headache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Long-term use of proton pump inhibitors may cause kidney injury and vitamin deficiencies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156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24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gastroesophageal reflux disease (GERD), peptic ulcer disease, and gastritis</a:t>
            </a:r>
          </a:p>
          <a:p>
            <a:endParaRPr lang="en-US" dirty="0"/>
          </a:p>
          <a:p>
            <a:r>
              <a:rPr lang="en-US" dirty="0"/>
              <a:t>Understand the following about treatment for peptic ulcers: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caused by bacteria, a combination of antibiotics and a proton pump inhibitor may be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caused by reflux, medications are similar to those used for GERD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OTC antacids reduce acidity in the stomach and can relieve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156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886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gastroesophageal reflux disease (GERD), peptic ulcer disease, and gastritis</a:t>
            </a:r>
          </a:p>
          <a:p>
            <a:endParaRPr lang="en-US" dirty="0"/>
          </a:p>
          <a:p>
            <a:r>
              <a:rPr lang="en-US" dirty="0"/>
              <a:t>The following medications are used in the treatment for gastritis: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Proton pump inhibitors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H2 blockers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Misoprostol may be administered to prevent/treat stomach damage caused by NSAIDs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157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431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gastroesophageal reflux disease (GERD), peptic ulcer disease, and gastritis</a:t>
            </a:r>
          </a:p>
          <a:p>
            <a:endParaRPr lang="en-US" dirty="0"/>
          </a:p>
          <a:p>
            <a:r>
              <a:rPr lang="en-US" dirty="0"/>
              <a:t>Care guidelines for GERD, peptic ulcer disease, and gastritis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Administer proton pump inhibitors 30–60 minutes before a meal for maximum effectiveness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medications for these conditions take time to work. Encourage residents to be patient during this phase.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Know the foods and drinks that can increase symptoms: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Citrus fruits and beverages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Tomatoes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Chocolate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Fatty foods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Spicy foods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Caffeine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Alcohol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Large meals/lying down soon after eating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572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B0D8AC-E413-4542-9870-DEA50EFE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LO3,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solidFill>
                  <a:srgbClr val="FF0000"/>
                </a:solidFill>
              </a:rPr>
              <a:t>Discuss common medications used to treat gastroesophageal reflux disease (GERD), peptic ulcer disease, and gastritis</a:t>
            </a:r>
          </a:p>
          <a:p>
            <a:endParaRPr lang="en-US" dirty="0"/>
          </a:p>
          <a:p>
            <a:r>
              <a:rPr lang="en-US" dirty="0"/>
              <a:t>Care guidelines for GERD, peptic ulcer disease, and gastritis (cont’d):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Lowfat</a:t>
            </a:r>
            <a:r>
              <a:rPr lang="en-US" dirty="0"/>
              <a:t> milk may relieve pain temporarily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 not administer NSAIDs to residents with peptic ulcer disease unless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residents who are nonverbal, observe for facial expression and mood changes that may indicate pain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208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nausea, vomiting, diarrhea, and gastroenteritis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dirty="0"/>
          </a:p>
          <a:p>
            <a:r>
              <a:rPr lang="en-US" b="1" dirty="0"/>
              <a:t>nausea</a:t>
            </a:r>
          </a:p>
          <a:p>
            <a:pPr lvl="1"/>
            <a:r>
              <a:rPr lang="en-US" dirty="0"/>
              <a:t>the feeling that one might vomit.</a:t>
            </a:r>
          </a:p>
          <a:p>
            <a:r>
              <a:rPr lang="en-US" b="1" dirty="0"/>
              <a:t>vomiting</a:t>
            </a:r>
          </a:p>
          <a:p>
            <a:pPr lvl="1"/>
            <a:r>
              <a:rPr lang="en-US" dirty="0"/>
              <a:t>the act of ejecting stomach contents through the mouth and/or nose; also called </a:t>
            </a:r>
            <a:r>
              <a:rPr lang="en-US" i="1" dirty="0"/>
              <a:t>emesis</a:t>
            </a:r>
            <a:r>
              <a:rPr lang="en-US" dirty="0"/>
              <a:t>.</a:t>
            </a:r>
          </a:p>
          <a:p>
            <a:r>
              <a:rPr lang="en-US" b="1" dirty="0"/>
              <a:t>diarrhea</a:t>
            </a:r>
          </a:p>
          <a:p>
            <a:pPr lvl="1"/>
            <a:r>
              <a:rPr lang="en-US" dirty="0"/>
              <a:t>the frequent elimination of liquid or semi-liquid feces. </a:t>
            </a:r>
          </a:p>
          <a:p>
            <a:r>
              <a:rPr lang="en-US" b="1" dirty="0"/>
              <a:t>gastroenteritis</a:t>
            </a:r>
          </a:p>
          <a:p>
            <a:pPr lvl="1"/>
            <a:r>
              <a:rPr lang="en-US" dirty="0"/>
              <a:t>irritation or inflammation of the intestines.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485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nausea, vomiting, diarrhea, and gastroenteritis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nausea and vomiting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Rehydration beverages to replace fluids and electrolytes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Antiemetics to slow or prevent vomiting (oral, transdermal, rectal, and IV formulations available)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antihistamines have an </a:t>
            </a:r>
            <a:r>
              <a:rPr lang="en-US" dirty="0" err="1"/>
              <a:t>antinausea</a:t>
            </a:r>
            <a:r>
              <a:rPr lang="en-US" dirty="0"/>
              <a:t>/antiemetic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157 (or handout) details specific drugs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32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nausea, vomiting, diarrhea, and gastroenteritis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diarrhea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Antimotility agents slow the movement of the digestive 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Probiotics may shorten a bout of diarrhea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157 (or handout) details specific drugs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80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nausea, vomiting, diarrhea, and gastroenteritis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gastroenteritis: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Treated according to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Rest and hydration are key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63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D4569E-2259-1A4D-8D60-BB6885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LO4,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Discuss common medications used to treat nausea, vomiting, diarrhea, and gastroenteritis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nausea, vomiting, diarrhea, and gastroenteritis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signs of dehydration to the nurse immediately: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Dry mouth/lips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Sunken eyes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Dark or strong-smelling urine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Confusion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administering oral medications, provide small sips of cold water. Sweet beverages can also ease nausea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immediately if a resident is unable to tolerate swallowing an oral medication or vomits immediately after taking a medication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Wash hands frequently with soap and water. Viruses that cause gastroenteritis are highly contagious. Chronic watery diarrhea may be caused by </a:t>
            </a:r>
            <a:r>
              <a:rPr lang="en-US" i="1" dirty="0"/>
              <a:t>C. difficile</a:t>
            </a:r>
            <a:r>
              <a:rPr lang="en-US" dirty="0"/>
              <a:t>, a spore-forming bacterium. Alcohol-based hand sanitizer is not effective against </a:t>
            </a:r>
            <a:r>
              <a:rPr lang="en-US" i="1" dirty="0"/>
              <a:t>C. difficile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78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constipation and hemorrhoids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b="1" dirty="0"/>
          </a:p>
          <a:p>
            <a:r>
              <a:rPr lang="en-US" b="1" dirty="0"/>
              <a:t>constipation</a:t>
            </a:r>
          </a:p>
          <a:p>
            <a:pPr lvl="1"/>
            <a:r>
              <a:rPr lang="en-US" dirty="0"/>
              <a:t>the inability to eliminate stool, or the infrequent, difficult, and often painful elimi­nation of a hard, dry stool. </a:t>
            </a:r>
          </a:p>
          <a:p>
            <a:r>
              <a:rPr lang="en-US" b="1" dirty="0"/>
              <a:t>hemorrhoid</a:t>
            </a:r>
          </a:p>
          <a:p>
            <a:pPr lvl="1"/>
            <a:r>
              <a:rPr lang="en-US" dirty="0"/>
              <a:t>enlarged vein in the rectum or outside the anus that can cause rectal itching, burning, pain, and bleeding.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28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constipation and hemorrhoids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constipation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Increasing fiber and fluid intake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Increasing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Laxatives to allow stool to pass more easily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Some soften the stool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Some increase the movement of the intestines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Some do both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Laxatives come in many forms; suppository or enema forms usually result in a bowel movement more quickly than oral laxatives.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157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57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constipation and hemorrhoids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hemorrhoids: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First line of treatment is increasing fiber/fluid intake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anesthetics numb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Topical corticosteroids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Pads, gels, creams, sprays, and suppositories may include both anesthetic and corticosteroid medications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pp. 157–158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648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LO5,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Discuss common medications used to treat constipation and hemorrhoids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constipation and hemorrhoids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Encourage physical activity and proper water and fiber intake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Discourage straining when residents are experiencing constipation. This can cause hemorrhoids or make them worse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to the nurse if a resident taking laxatives develops diarrhea. Do not administer a laxative to a resident diarrhea without first reporting to the nurse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308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LO6, key terms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bowels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b="1" dirty="0"/>
          </a:p>
          <a:p>
            <a:r>
              <a:rPr lang="en-US" b="1" dirty="0"/>
              <a:t>irritable bowel syndrome (IBS)</a:t>
            </a:r>
          </a:p>
          <a:p>
            <a:pPr lvl="1"/>
            <a:r>
              <a:rPr lang="en-US" dirty="0"/>
              <a:t>a condition that causes diarrhea, constipation, or both on a regular basis. </a:t>
            </a:r>
          </a:p>
          <a:p>
            <a:r>
              <a:rPr lang="en-US" b="1" dirty="0"/>
              <a:t>inflammatory bowel disease (IBD)</a:t>
            </a:r>
          </a:p>
          <a:p>
            <a:pPr lvl="1"/>
            <a:r>
              <a:rPr lang="en-US" dirty="0"/>
              <a:t>a condition in which the bowel is chronically inflamed. </a:t>
            </a:r>
          </a:p>
          <a:p>
            <a:r>
              <a:rPr lang="en-US" b="1" dirty="0"/>
              <a:t>ulcerative colitis</a:t>
            </a:r>
          </a:p>
          <a:p>
            <a:pPr lvl="1"/>
            <a:r>
              <a:rPr lang="en-US" dirty="0"/>
              <a:t>a chronic inflammatory disease of the large intestine.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051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LO6, key terms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bowels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b="1" dirty="0"/>
          </a:p>
          <a:p>
            <a:r>
              <a:rPr lang="en-US" b="1" dirty="0"/>
              <a:t>Crohn’s disease</a:t>
            </a:r>
          </a:p>
          <a:p>
            <a:pPr lvl="1"/>
            <a:r>
              <a:rPr lang="en-US" dirty="0"/>
              <a:t>an inflammatory disease that can affect any part of the digestive tract, but most commonly affects the small intestine.</a:t>
            </a:r>
          </a:p>
          <a:p>
            <a:r>
              <a:rPr lang="en-US" b="1" dirty="0"/>
              <a:t>diverticulitis</a:t>
            </a:r>
          </a:p>
          <a:p>
            <a:pPr lvl="1"/>
            <a:r>
              <a:rPr lang="en-US" dirty="0"/>
              <a:t>inflammation of </a:t>
            </a:r>
            <a:r>
              <a:rPr lang="en-US" i="1" dirty="0"/>
              <a:t>diverticula</a:t>
            </a:r>
            <a:r>
              <a:rPr lang="en-US" dirty="0"/>
              <a:t>, or small pouches that form in the colon.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655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LO6,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bowels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irritable bowel syndrome (IBS)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Avoiding trigger foods/beverages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depend upon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Psyllium and probiotics may help IBS with constipation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Antispasmodic agents can relax muscles in the digestive tract and improve cramping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Antidepressants may reduce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Antibiotics may be ordered for IBS with diarrhea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158–159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191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LO6,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bowels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inflammatory bowel disease (ulcerative colitis and Crohn’s disease):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Medications ease symptoms but cannot cure IBD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Corticosteroids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5-aminosalicylates may also be ordered to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Immunosuppressants are prescribed because immune system reactions are involved in causing IBD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Antidiarrheal/antimotility medications may be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Iron supplements may be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159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77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LO6,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bowels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Treatment for diverticulitis includes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Oral antibiotics for mild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IV antibiotics/hospitalization for severe cases (because complications can be dangerous; if an infected pouch ruptures it can cause peritonitis, or infection of the abdominal cavity)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160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407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LO6,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bowels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bowel conditions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Observe and report worsening or improvement of IBS symptoms. Treatment is most successful when triggers can be identified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Monitor for signs of infection (fever, malaise) in residents taking corticosteroids or immunosuppressants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Dietary changes can help lesson effects of bowel conditions. Smaller, more frequent meals can help control IBS. Bland foods can improve symptoms of IBD. Encourage residents to follow diet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 any sign of intestinal bleeding. Report worsening of diverticulitis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73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LO7, key terms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liver, gallbladder, and pancreas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 the following terms: </a:t>
            </a:r>
          </a:p>
          <a:p>
            <a:endParaRPr lang="en-US" b="1" dirty="0"/>
          </a:p>
          <a:p>
            <a:r>
              <a:rPr lang="en-US" b="1" dirty="0"/>
              <a:t>hepatitis</a:t>
            </a:r>
          </a:p>
          <a:p>
            <a:pPr lvl="1"/>
            <a:r>
              <a:rPr lang="en-US" dirty="0"/>
              <a:t>inflammation of the liver caused by certain viruses and other factors, such as alcohol abuse, some medications, and trauma.</a:t>
            </a:r>
          </a:p>
          <a:p>
            <a:r>
              <a:rPr lang="en-US" b="1" dirty="0"/>
              <a:t>cirrhosis</a:t>
            </a:r>
          </a:p>
          <a:p>
            <a:pPr lvl="1"/>
            <a:r>
              <a:rPr lang="en-US" dirty="0"/>
              <a:t>disease in which healthy liver tissue is replaced by scar tissue. </a:t>
            </a:r>
          </a:p>
          <a:p>
            <a:r>
              <a:rPr lang="en-US" b="1" dirty="0"/>
              <a:t>cholelithiasis</a:t>
            </a:r>
          </a:p>
          <a:p>
            <a:pPr lvl="1"/>
            <a:r>
              <a:rPr lang="en-US" dirty="0"/>
              <a:t>a condition in which small stones (gallstones) develop in the gallbladder. </a:t>
            </a:r>
          </a:p>
          <a:p>
            <a:r>
              <a:rPr lang="en-US" b="1" dirty="0"/>
              <a:t>pancreatitis</a:t>
            </a:r>
          </a:p>
          <a:p>
            <a:pPr lvl="1"/>
            <a:r>
              <a:rPr lang="en-US" dirty="0"/>
              <a:t>inflammation of the pancreas.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095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LO7, content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liver, gallbladder, and pancreas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hepatitis: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Vaccination can prevent hepatitis B infection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Antiviral medication can fight hepatitis virus and prevent liver damage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Antiviral drugs can cause fever, headache, fatigue, stomach pain, and diarrhea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160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224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LO7, content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liver, gallbladder, and pancreas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cirrhosis: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Managing underlying causes can prevent further damage to the liver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Hepatitis A and B and pneumococcal pneumonia vaccinations can prevent infections that worsen cirrhosis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Antibiotics may be ordered to prevent infection if gastrointestinal bleeding is present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160 (or handout) details specific drugs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10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LO7, content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liver, gallbladder, and pancreas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cholelithiasis (gallstones):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Surgery may be necessary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NSAIDs can limit pain and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Gallstone-dissolving drugs may be ordered if surgery is not possible, but they have drawbacks: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Side effects include diarrhea, constipation, stomach upset, nausea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affect liver function; blood may be drawn to monitor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take a long time to work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160 (or handout) details specific drugs</a:t>
            </a:r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85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LO7, content 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liver, gallbladder, and pancreas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Understand the following about treatment for pancreatitis: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Acute pancreatitis may require surgery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Analgesics are used to manage abdominal pain (not NSAIDs due to bleeding risk)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Corticosteroids can reduce inflammation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Pancreatic enzymes may be prescribed to improve digestion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Table on textbook p. 160–161 (or handout) details specific drugs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975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278D1285-FAEF-42DC-B248-D18928EF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19C8D7-53EE-4AF8-9E87-BBF55B67A6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91B9"/>
                </a:solidFill>
                <a:effectLst/>
                <a:uLnTx/>
                <a:uFillTx/>
                <a:latin typeface="Scala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1B9"/>
              </a:solidFill>
              <a:effectLst/>
              <a:uLnTx/>
              <a:uFillTx/>
              <a:latin typeface="Scala Sans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CAFD4-8E4E-274B-8B64-1E9C6CF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LO7, content 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81241-3B97-4F07-BA2D-17FDA0E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dirty="0">
                <a:solidFill>
                  <a:srgbClr val="FF0000"/>
                </a:solidFill>
              </a:rPr>
              <a:t>Discuss common medications used to treat conditions affecting the liver, gallbladder, and pancreas</a:t>
            </a:r>
            <a:endParaRPr lang="en-US" dirty="0"/>
          </a:p>
          <a:p>
            <a:endParaRPr lang="en-US" dirty="0"/>
          </a:p>
          <a:p>
            <a:r>
              <a:rPr lang="en-US" dirty="0"/>
              <a:t>Care guidelines for conditions of the liver, gallbladder, and pancreas include the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Gallstones and pancreatitis can cause intense pain. Observe and report signs of pain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 aware of all ordered medications containing acetaminophen. Residents with pancreatitis may take acetaminophen for extended periods. Total daily dose should not exceed 3,000 mg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535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7265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C76"/>
      </a:accent1>
      <a:accent2>
        <a:srgbClr val="B37924"/>
      </a:accent2>
      <a:accent3>
        <a:srgbClr val="E3567D"/>
      </a:accent3>
      <a:accent4>
        <a:srgbClr val="0091B9"/>
      </a:accent4>
      <a:accent5>
        <a:srgbClr val="D6BF00"/>
      </a:accent5>
      <a:accent6>
        <a:srgbClr val="934C93"/>
      </a:accent6>
      <a:hlink>
        <a:srgbClr val="0563C1"/>
      </a:hlink>
      <a:folHlink>
        <a:srgbClr val="954F72"/>
      </a:folHlink>
    </a:clrScheme>
    <a:fontScheme name="Susan Hedman - Hartman Publishing">
      <a:majorFont>
        <a:latin typeface="Scala Sans"/>
        <a:ea typeface=""/>
        <a:cs typeface=""/>
      </a:majorFont>
      <a:minorFont>
        <a:latin typeface="Scal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1500</TotalTime>
  <Words>2655</Words>
  <Application>Microsoft Macintosh PowerPoint</Application>
  <PresentationFormat>Widescreen</PresentationFormat>
  <Paragraphs>416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Scala Sans</vt:lpstr>
      <vt:lpstr>1_Office Theme</vt:lpstr>
      <vt:lpstr>PowerPoint Presentation</vt:lpstr>
      <vt:lpstr>Chapter 16, LO1, key terms</vt:lpstr>
      <vt:lpstr>LO1, content 1</vt:lpstr>
      <vt:lpstr>LO1, content 2</vt:lpstr>
      <vt:lpstr>LO1, content 3</vt:lpstr>
      <vt:lpstr>LO2, key terms</vt:lpstr>
      <vt:lpstr>LO2, content 1</vt:lpstr>
      <vt:lpstr>LO2, content 2</vt:lpstr>
      <vt:lpstr>LO2, content 3</vt:lpstr>
      <vt:lpstr>LO3, key terms</vt:lpstr>
      <vt:lpstr>LO3, content 1</vt:lpstr>
      <vt:lpstr>LO3, content 2</vt:lpstr>
      <vt:lpstr>LO3, content 3</vt:lpstr>
      <vt:lpstr>LO3, content 4</vt:lpstr>
      <vt:lpstr>LO3, content 5</vt:lpstr>
      <vt:lpstr>LO4, key terms</vt:lpstr>
      <vt:lpstr>LO4, content 1</vt:lpstr>
      <vt:lpstr>LO4, content 2</vt:lpstr>
      <vt:lpstr>LO4, content 3</vt:lpstr>
      <vt:lpstr>LO4, content 4</vt:lpstr>
      <vt:lpstr>LO5, key terms</vt:lpstr>
      <vt:lpstr>LO5, content 1</vt:lpstr>
      <vt:lpstr>LO5, content 2</vt:lpstr>
      <vt:lpstr>LO5, content 3</vt:lpstr>
      <vt:lpstr>LO6, key terms 1</vt:lpstr>
      <vt:lpstr>LO6, key terms 2</vt:lpstr>
      <vt:lpstr>LO6, content 1</vt:lpstr>
      <vt:lpstr>LO6, content 2</vt:lpstr>
      <vt:lpstr>LO6, content 3</vt:lpstr>
      <vt:lpstr>LO6, content 4</vt:lpstr>
      <vt:lpstr>LO7, key terms</vt:lpstr>
      <vt:lpstr>LO7, content 1</vt:lpstr>
      <vt:lpstr>LO7, content 2</vt:lpstr>
      <vt:lpstr>LO7, content 3</vt:lpstr>
      <vt:lpstr>LO7, content 4</vt:lpstr>
      <vt:lpstr>LO7, content 5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Angela Storey</dc:creator>
  <cp:lastModifiedBy>Kristin Calderon</cp:lastModifiedBy>
  <cp:revision>102</cp:revision>
  <dcterms:created xsi:type="dcterms:W3CDTF">2020-03-18T21:23:10Z</dcterms:created>
  <dcterms:modified xsi:type="dcterms:W3CDTF">2021-05-20T14:01:36Z</dcterms:modified>
</cp:coreProperties>
</file>