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5" r:id="rId2"/>
    <p:sldId id="258" r:id="rId3"/>
    <p:sldId id="332" r:id="rId4"/>
    <p:sldId id="323" r:id="rId5"/>
    <p:sldId id="385" r:id="rId6"/>
    <p:sldId id="308" r:id="rId7"/>
    <p:sldId id="325" r:id="rId8"/>
    <p:sldId id="386" r:id="rId9"/>
    <p:sldId id="387" r:id="rId10"/>
    <p:sldId id="388" r:id="rId11"/>
    <p:sldId id="310" r:id="rId12"/>
    <p:sldId id="333" r:id="rId13"/>
    <p:sldId id="389" r:id="rId14"/>
    <p:sldId id="390" r:id="rId15"/>
    <p:sldId id="391" r:id="rId16"/>
    <p:sldId id="392" r:id="rId17"/>
    <p:sldId id="311" r:id="rId18"/>
    <p:sldId id="348" r:id="rId19"/>
    <p:sldId id="393" r:id="rId20"/>
    <p:sldId id="309" r:id="rId21"/>
    <p:sldId id="355" r:id="rId22"/>
    <p:sldId id="394" r:id="rId23"/>
    <p:sldId id="395" r:id="rId24"/>
    <p:sldId id="396" r:id="rId25"/>
    <p:sldId id="397" r:id="rId26"/>
    <p:sldId id="383" r:id="rId27"/>
    <p:sldId id="384" r:id="rId28"/>
    <p:sldId id="398" r:id="rId29"/>
    <p:sldId id="30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05" autoAdjust="0"/>
    <p:restoredTop sz="94660"/>
  </p:normalViewPr>
  <p:slideViewPr>
    <p:cSldViewPr snapToGrid="0">
      <p:cViewPr varScale="1">
        <p:scale>
          <a:sx n="109" d="100"/>
          <a:sy n="109" d="100"/>
        </p:scale>
        <p:origin x="328" y="17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2"/>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14</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The Respiratory System and Common Medications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2607356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2"/>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2" name="Title 1">
            <a:extLst>
              <a:ext uri="{FF2B5EF4-FFF2-40B4-BE49-F238E27FC236}">
                <a16:creationId xmlns:a16="http://schemas.microsoft.com/office/drawing/2014/main" id="{5BF49FBA-5C24-8C46-8E40-BC53BC32FF38}"/>
              </a:ext>
            </a:extLst>
          </p:cNvPr>
          <p:cNvSpPr>
            <a:spLocks noGrp="1"/>
          </p:cNvSpPr>
          <p:nvPr>
            <p:ph type="title"/>
          </p:nvPr>
        </p:nvSpPr>
        <p:spPr>
          <a:xfrm>
            <a:off x="0" y="-812509"/>
            <a:ext cx="6837218" cy="646255"/>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The Respiratory System and Common Medications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white"/>
                </a:solidFill>
                <a:effectLst/>
                <a:uLnTx/>
                <a:uFillTx/>
                <a:latin typeface="Scala Sans"/>
                <a:ea typeface="+mn-ea"/>
                <a:cs typeface="+mn-cs"/>
              </a:rPr>
              <a:t>1</a:t>
            </a:r>
            <a:r>
              <a:rPr kumimoji="0" lang="en-US" sz="4000" b="0" i="0" u="none" strike="noStrike" kern="1200" cap="none" spc="0" normalizeH="0" baseline="0" noProof="0" dirty="0">
                <a:ln>
                  <a:noFill/>
                </a:ln>
                <a:solidFill>
                  <a:prstClr val="white"/>
                </a:solidFill>
                <a:effectLst/>
                <a:uLnTx/>
                <a:uFillTx/>
                <a:latin typeface="Scala Sans"/>
                <a:ea typeface="+mn-ea"/>
                <a:cs typeface="+mn-cs"/>
              </a:rPr>
              <a:t>4</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2923901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9686734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3857177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0529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C9FF03E-3B05-7E4F-8B1E-97836A8F41AE}"/>
              </a:ext>
            </a:extLst>
          </p:cNvPr>
          <p:cNvSpPr>
            <a:spLocks noGrp="1"/>
          </p:cNvSpPr>
          <p:nvPr>
            <p:ph type="title"/>
          </p:nvPr>
        </p:nvSpPr>
        <p:spPr/>
        <p:txBody>
          <a:bodyPr>
            <a:normAutofit fontScale="90000"/>
          </a:bodyPr>
          <a:lstStyle/>
          <a:p>
            <a:r>
              <a:rPr lang="en-US" dirty="0"/>
              <a:t>Chapter 8, LO1, key term</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respiratory system</a:t>
            </a:r>
          </a:p>
          <a:p>
            <a:endParaRPr lang="en-US" dirty="0">
              <a:solidFill>
                <a:srgbClr val="FF0000"/>
              </a:solidFill>
            </a:endParaRPr>
          </a:p>
          <a:p>
            <a:r>
              <a:rPr lang="en-US" dirty="0"/>
              <a:t>Define the following term:</a:t>
            </a:r>
          </a:p>
          <a:p>
            <a:endParaRPr lang="en-US" dirty="0"/>
          </a:p>
          <a:p>
            <a:r>
              <a:rPr lang="en-US" b="1" dirty="0"/>
              <a:t>respiration</a:t>
            </a:r>
          </a:p>
          <a:p>
            <a:pPr lvl="1"/>
            <a:r>
              <a:rPr lang="en-US" dirty="0"/>
              <a:t>the process of inhaling air into the lungs and exhaling air out of the lungs.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126376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9DD88F5-C210-714B-8A84-081D001F5885}"/>
              </a:ext>
            </a:extLst>
          </p:cNvPr>
          <p:cNvSpPr>
            <a:spLocks noGrp="1"/>
          </p:cNvSpPr>
          <p:nvPr>
            <p:ph type="title"/>
          </p:nvPr>
        </p:nvSpPr>
        <p:spPr/>
        <p:txBody>
          <a:bodyPr>
            <a:normAutofit fontScale="90000"/>
          </a:bodyPr>
          <a:lstStyle/>
          <a:p>
            <a:r>
              <a:rPr lang="en-US" dirty="0"/>
              <a:t>LO1, content 1</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r>
              <a:rPr lang="en-US" dirty="0"/>
              <a:t>Key Material 8-1: The Respiratory System </a:t>
            </a:r>
          </a:p>
          <a:p>
            <a:endParaRPr lang="en-US" dirty="0"/>
          </a:p>
          <a:p>
            <a:endParaRPr lang="en-US" dirty="0"/>
          </a:p>
          <a:p>
            <a:endParaRPr lang="en-US" dirty="0"/>
          </a:p>
          <a:p>
            <a:endParaRPr lang="en-US" dirty="0"/>
          </a:p>
          <a:p>
            <a:endParaRPr lang="en-US" dirty="0"/>
          </a:p>
          <a:p>
            <a:endParaRPr lang="en-US" dirty="0"/>
          </a:p>
        </p:txBody>
      </p:sp>
      <p:pic>
        <p:nvPicPr>
          <p:cNvPr id="7" name="Picture 6" descr="Illustration of human figure with parts of the respiratory system labeled">
            <a:extLst>
              <a:ext uri="{FF2B5EF4-FFF2-40B4-BE49-F238E27FC236}">
                <a16:creationId xmlns:a16="http://schemas.microsoft.com/office/drawing/2014/main" id="{41F35CDE-7B85-E649-BF8D-1D31772FF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8231" y="1335054"/>
            <a:ext cx="6108700" cy="4775200"/>
          </a:xfrm>
          <a:prstGeom prst="rect">
            <a:avLst/>
          </a:prstGeom>
        </p:spPr>
      </p:pic>
    </p:spTree>
    <p:extLst>
      <p:ext uri="{BB962C8B-B14F-4D97-AF65-F5344CB8AC3E}">
        <p14:creationId xmlns:p14="http://schemas.microsoft.com/office/powerpoint/2010/main" val="1960859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C9FF03E-3B05-7E4F-8B1E-97836A8F41AE}"/>
              </a:ext>
            </a:extLst>
          </p:cNvPr>
          <p:cNvSpPr>
            <a:spLocks noGrp="1"/>
          </p:cNvSpPr>
          <p:nvPr>
            <p:ph type="title"/>
          </p:nvPr>
        </p:nvSpPr>
        <p:spPr/>
        <p:txBody>
          <a:bodyPr>
            <a:normAutofit fontScale="90000"/>
          </a:bodyPr>
          <a:lstStyle/>
          <a:p>
            <a:r>
              <a:rPr lang="en-US" dirty="0"/>
              <a:t>LO1, content 2</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respiratory system</a:t>
            </a:r>
          </a:p>
          <a:p>
            <a:endParaRPr lang="en-US" dirty="0">
              <a:solidFill>
                <a:srgbClr val="FF0000"/>
              </a:solidFill>
            </a:endParaRPr>
          </a:p>
          <a:p>
            <a:r>
              <a:rPr lang="en-US" dirty="0"/>
              <a:t>Remember these points about the respiratory system:</a:t>
            </a:r>
          </a:p>
          <a:p>
            <a:pPr marL="342900" indent="-342900">
              <a:buFont typeface="Arial" panose="020B0604020202020204" pitchFamily="34" charset="0"/>
              <a:buChar char="•"/>
            </a:pPr>
            <a:r>
              <a:rPr lang="en-US" dirty="0"/>
              <a:t>Inspiration is breathing in and expiration is breathing out</a:t>
            </a:r>
          </a:p>
          <a:p>
            <a:pPr marL="342900" indent="-342900">
              <a:buFont typeface="Arial" panose="020B0604020202020204" pitchFamily="34" charset="0"/>
              <a:buChar char="•"/>
            </a:pPr>
            <a:r>
              <a:rPr lang="en-US" dirty="0"/>
              <a:t>Functions are</a:t>
            </a:r>
          </a:p>
          <a:p>
            <a:pPr marL="800100" lvl="1" indent="-342900">
              <a:buFont typeface="Arial" panose="020B0604020202020204" pitchFamily="34" charset="0"/>
              <a:buChar char="•"/>
            </a:pPr>
            <a:r>
              <a:rPr lang="en-US" dirty="0"/>
              <a:t>To bring oxygen into the body</a:t>
            </a:r>
          </a:p>
          <a:p>
            <a:pPr marL="800100" lvl="1" indent="-342900">
              <a:buFont typeface="Arial" panose="020B0604020202020204" pitchFamily="34" charset="0"/>
              <a:buChar char="•"/>
            </a:pPr>
            <a:r>
              <a:rPr lang="en-US" dirty="0"/>
              <a:t>To eliminate carbon dioxide produced by the body</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02248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C9FF03E-3B05-7E4F-8B1E-97836A8F41AE}"/>
              </a:ext>
            </a:extLst>
          </p:cNvPr>
          <p:cNvSpPr>
            <a:spLocks noGrp="1"/>
          </p:cNvSpPr>
          <p:nvPr>
            <p:ph type="title"/>
          </p:nvPr>
        </p:nvSpPr>
        <p:spPr/>
        <p:txBody>
          <a:bodyPr>
            <a:normAutofit fontScale="90000"/>
          </a:bodyPr>
          <a:lstStyle/>
          <a:p>
            <a:r>
              <a:rPr lang="en-US" dirty="0"/>
              <a:t>LO1, content 3</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respiratory system</a:t>
            </a:r>
          </a:p>
          <a:p>
            <a:endParaRPr lang="en-US" dirty="0">
              <a:solidFill>
                <a:srgbClr val="FF0000"/>
              </a:solidFill>
            </a:endParaRPr>
          </a:p>
          <a:p>
            <a:r>
              <a:rPr lang="en-US" dirty="0"/>
              <a:t>Normal changes of aging include the following:</a:t>
            </a:r>
          </a:p>
          <a:p>
            <a:pPr marL="342900" indent="-342900">
              <a:buFont typeface="Arial" panose="020B0604020202020204" pitchFamily="34" charset="0"/>
              <a:buChar char="•"/>
            </a:pPr>
            <a:r>
              <a:rPr lang="en-US" dirty="0"/>
              <a:t>Decreased lung strength</a:t>
            </a:r>
          </a:p>
          <a:p>
            <a:pPr marL="342900" indent="-342900">
              <a:buFont typeface="Arial" panose="020B0604020202020204" pitchFamily="34" charset="0"/>
              <a:buChar char="•"/>
            </a:pPr>
            <a:r>
              <a:rPr lang="en-US" dirty="0"/>
              <a:t>Decreased lung capacity</a:t>
            </a:r>
          </a:p>
          <a:p>
            <a:pPr marL="342900" indent="-342900">
              <a:buFont typeface="Arial" panose="020B0604020202020204" pitchFamily="34" charset="0"/>
              <a:buChar char="•"/>
            </a:pPr>
            <a:r>
              <a:rPr lang="en-US" dirty="0"/>
              <a:t>Decreased oxygen in the blood</a:t>
            </a:r>
          </a:p>
          <a:p>
            <a:pPr marL="342900" indent="-342900">
              <a:buFont typeface="Arial" panose="020B0604020202020204" pitchFamily="34" charset="0"/>
              <a:buChar char="•"/>
            </a:pPr>
            <a:r>
              <a:rPr lang="en-US" dirty="0"/>
              <a:t>Weakened voice</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17562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DA19639-6B83-A84E-9E99-A46D26D5BA16}"/>
              </a:ext>
            </a:extLst>
          </p:cNvPr>
          <p:cNvSpPr>
            <a:spLocks noGrp="1"/>
          </p:cNvSpPr>
          <p:nvPr>
            <p:ph type="title"/>
          </p:nvPr>
        </p:nvSpPr>
        <p:spPr/>
        <p:txBody>
          <a:bodyPr>
            <a:normAutofit fontScale="90000"/>
          </a:bodyPr>
          <a:lstStyle/>
          <a:p>
            <a:r>
              <a:rPr lang="en-US" dirty="0"/>
              <a:t>LO2, key terms</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rhinitis, sinusitis, and asthma</a:t>
            </a:r>
          </a:p>
          <a:p>
            <a:endParaRPr lang="en-US" dirty="0">
              <a:solidFill>
                <a:srgbClr val="FF0000"/>
              </a:solidFill>
            </a:endParaRPr>
          </a:p>
          <a:p>
            <a:r>
              <a:rPr lang="en-US" dirty="0"/>
              <a:t>Define the following terms: </a:t>
            </a:r>
          </a:p>
          <a:p>
            <a:endParaRPr lang="en-US" dirty="0"/>
          </a:p>
          <a:p>
            <a:r>
              <a:rPr lang="en-US" b="1" dirty="0"/>
              <a:t>rhinitis</a:t>
            </a:r>
          </a:p>
          <a:p>
            <a:pPr lvl="1"/>
            <a:r>
              <a:rPr lang="en-US" dirty="0"/>
              <a:t>inflammation of the mucous membranes lining the nasal passages. </a:t>
            </a:r>
          </a:p>
          <a:p>
            <a:r>
              <a:rPr lang="en-US" b="1" dirty="0"/>
              <a:t>sinusitis</a:t>
            </a:r>
          </a:p>
          <a:p>
            <a:pPr lvl="1"/>
            <a:r>
              <a:rPr lang="en-US" dirty="0"/>
              <a:t>inflammation of the lining of the sinuses.</a:t>
            </a:r>
          </a:p>
          <a:p>
            <a:r>
              <a:rPr lang="en-US" b="1" dirty="0"/>
              <a:t>asthma</a:t>
            </a:r>
          </a:p>
          <a:p>
            <a:pPr lvl="1"/>
            <a:r>
              <a:rPr lang="en-US" dirty="0"/>
              <a:t>a chronic inflammatory disease that causes difficulty breathing, coughing, and wheezing. </a:t>
            </a:r>
          </a:p>
          <a:p>
            <a:endParaRPr lang="en-US" dirty="0"/>
          </a:p>
        </p:txBody>
      </p:sp>
    </p:spTree>
    <p:extLst>
      <p:ext uri="{BB962C8B-B14F-4D97-AF65-F5344CB8AC3E}">
        <p14:creationId xmlns:p14="http://schemas.microsoft.com/office/powerpoint/2010/main" val="1298401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DA19639-6B83-A84E-9E99-A46D26D5BA16}"/>
              </a:ext>
            </a:extLst>
          </p:cNvPr>
          <p:cNvSpPr>
            <a:spLocks noGrp="1"/>
          </p:cNvSpPr>
          <p:nvPr>
            <p:ph type="title"/>
          </p:nvPr>
        </p:nvSpPr>
        <p:spPr/>
        <p:txBody>
          <a:bodyPr>
            <a:normAutofit fontScale="90000"/>
          </a:bodyPr>
          <a:lstStyle/>
          <a:p>
            <a:r>
              <a:rPr lang="en-US" dirty="0"/>
              <a:t>LO2, content 1</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rhinitis, sinusitis, and asthma</a:t>
            </a:r>
          </a:p>
          <a:p>
            <a:endParaRPr lang="en-US" dirty="0">
              <a:solidFill>
                <a:srgbClr val="FF0000"/>
              </a:solidFill>
            </a:endParaRPr>
          </a:p>
          <a:p>
            <a:r>
              <a:rPr lang="en-US" dirty="0"/>
              <a:t>The following medications are used to treat rhinitis:</a:t>
            </a:r>
          </a:p>
          <a:p>
            <a:pPr marL="342900" indent="-342900">
              <a:buFont typeface="Arial" panose="020B0604020202020204" pitchFamily="34" charset="0"/>
              <a:buChar char="•"/>
            </a:pPr>
            <a:r>
              <a:rPr lang="en-US" dirty="0"/>
              <a:t>Intranasal corticosteroids</a:t>
            </a:r>
          </a:p>
          <a:p>
            <a:pPr marL="342900" indent="-342900">
              <a:buFont typeface="Arial" panose="020B0604020202020204" pitchFamily="34" charset="0"/>
              <a:buChar char="•"/>
            </a:pPr>
            <a:r>
              <a:rPr lang="en-US" dirty="0"/>
              <a:t>Intranasal antihistamines (for allergic rhinitis)</a:t>
            </a:r>
          </a:p>
          <a:p>
            <a:pPr marL="342900" indent="-342900">
              <a:buFont typeface="Arial" panose="020B0604020202020204" pitchFamily="34" charset="0"/>
              <a:buChar char="•"/>
            </a:pPr>
            <a:r>
              <a:rPr lang="en-US" dirty="0"/>
              <a:t>Intranasal saline</a:t>
            </a:r>
          </a:p>
          <a:p>
            <a:pPr marL="342900" indent="-342900">
              <a:buFont typeface="Arial" panose="020B0604020202020204" pitchFamily="34" charset="0"/>
              <a:buChar char="•"/>
            </a:pPr>
            <a:r>
              <a:rPr lang="en-US" dirty="0"/>
              <a:t>Oral antihistamines (for allergic rhinitis)</a:t>
            </a:r>
          </a:p>
          <a:p>
            <a:pPr marL="342900" indent="-342900">
              <a:buFont typeface="Arial" panose="020B0604020202020204" pitchFamily="34" charset="0"/>
              <a:buChar char="•"/>
            </a:pPr>
            <a:r>
              <a:rPr lang="en-US" dirty="0"/>
              <a:t>Oral decongestants</a:t>
            </a:r>
          </a:p>
          <a:p>
            <a:pPr marL="342900" indent="-342900">
              <a:buFont typeface="Arial" panose="020B0604020202020204" pitchFamily="34" charset="0"/>
              <a:buChar char="•"/>
            </a:pPr>
            <a:r>
              <a:rPr lang="en-US" dirty="0"/>
              <a:t>Leukotriene receptor antagonist </a:t>
            </a:r>
          </a:p>
          <a:p>
            <a:pPr marL="342900" indent="-342900">
              <a:buFont typeface="Arial" panose="020B0604020202020204" pitchFamily="34" charset="0"/>
              <a:buChar char="•"/>
            </a:pPr>
            <a:r>
              <a:rPr lang="en-US" dirty="0"/>
              <a:t>Table on textbook pp. 136–137 (or handout) details other specific drugs</a:t>
            </a:r>
          </a:p>
          <a:p>
            <a:endParaRPr lang="en-US" dirty="0"/>
          </a:p>
        </p:txBody>
      </p:sp>
    </p:spTree>
    <p:extLst>
      <p:ext uri="{BB962C8B-B14F-4D97-AF65-F5344CB8AC3E}">
        <p14:creationId xmlns:p14="http://schemas.microsoft.com/office/powerpoint/2010/main" val="1898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DA19639-6B83-A84E-9E99-A46D26D5BA16}"/>
              </a:ext>
            </a:extLst>
          </p:cNvPr>
          <p:cNvSpPr>
            <a:spLocks noGrp="1"/>
          </p:cNvSpPr>
          <p:nvPr>
            <p:ph type="title"/>
          </p:nvPr>
        </p:nvSpPr>
        <p:spPr/>
        <p:txBody>
          <a:bodyPr>
            <a:normAutofit fontScale="90000"/>
          </a:bodyPr>
          <a:lstStyle/>
          <a:p>
            <a:r>
              <a:rPr lang="en-US" dirty="0"/>
              <a:t>LO2, content 2</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rhinitis, sinusitis, and asthma</a:t>
            </a:r>
          </a:p>
          <a:p>
            <a:endParaRPr lang="en-US" dirty="0">
              <a:solidFill>
                <a:srgbClr val="FF0000"/>
              </a:solidFill>
            </a:endParaRPr>
          </a:p>
          <a:p>
            <a:r>
              <a:rPr lang="en-US" dirty="0"/>
              <a:t>The following medications are used to treat sinusitis:</a:t>
            </a:r>
          </a:p>
          <a:p>
            <a:pPr marL="342900" indent="-342900">
              <a:buFont typeface="Arial" panose="020B0604020202020204" pitchFamily="34" charset="0"/>
              <a:buChar char="•"/>
            </a:pPr>
            <a:r>
              <a:rPr lang="en-US" dirty="0"/>
              <a:t>Same medications indicated for rhinitis</a:t>
            </a:r>
          </a:p>
          <a:p>
            <a:pPr marL="342900" indent="-342900">
              <a:buFont typeface="Arial" panose="020B0604020202020204" pitchFamily="34" charset="0"/>
              <a:buChar char="•"/>
            </a:pPr>
            <a:r>
              <a:rPr lang="en-US" dirty="0"/>
              <a:t>Antibiotics may be ordered if symptoms are severe/last longer than 10 days</a:t>
            </a:r>
          </a:p>
          <a:p>
            <a:pPr marL="342900" indent="-342900">
              <a:buFont typeface="Arial" panose="020B0604020202020204" pitchFamily="34" charset="0"/>
              <a:buChar char="•"/>
            </a:pPr>
            <a:r>
              <a:rPr lang="en-US" dirty="0"/>
              <a:t>Table on textbook pp. 136–137 (or handout) details specific drugs</a:t>
            </a:r>
          </a:p>
          <a:p>
            <a:endParaRPr lang="en-US" dirty="0"/>
          </a:p>
        </p:txBody>
      </p:sp>
    </p:spTree>
    <p:extLst>
      <p:ext uri="{BB962C8B-B14F-4D97-AF65-F5344CB8AC3E}">
        <p14:creationId xmlns:p14="http://schemas.microsoft.com/office/powerpoint/2010/main" val="150287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DA19639-6B83-A84E-9E99-A46D26D5BA16}"/>
              </a:ext>
            </a:extLst>
          </p:cNvPr>
          <p:cNvSpPr>
            <a:spLocks noGrp="1"/>
          </p:cNvSpPr>
          <p:nvPr>
            <p:ph type="title"/>
          </p:nvPr>
        </p:nvSpPr>
        <p:spPr/>
        <p:txBody>
          <a:bodyPr>
            <a:normAutofit fontScale="90000"/>
          </a:bodyPr>
          <a:lstStyle/>
          <a:p>
            <a:r>
              <a:rPr lang="en-US" dirty="0"/>
              <a:t>LO2, content 3</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rhinitis, sinusitis, and asthma</a:t>
            </a:r>
          </a:p>
          <a:p>
            <a:endParaRPr lang="en-US" dirty="0">
              <a:solidFill>
                <a:srgbClr val="FF0000"/>
              </a:solidFill>
            </a:endParaRPr>
          </a:p>
          <a:p>
            <a:r>
              <a:rPr lang="en-US" dirty="0"/>
              <a:t>Understand the following about treatments for asthma:</a:t>
            </a:r>
          </a:p>
          <a:p>
            <a:pPr marL="342900" indent="-342900">
              <a:buFont typeface="Arial" panose="020B0604020202020204" pitchFamily="34" charset="0"/>
              <a:buChar char="•"/>
            </a:pPr>
            <a:r>
              <a:rPr lang="en-US" dirty="0"/>
              <a:t>Maintenance medications include </a:t>
            </a:r>
          </a:p>
          <a:p>
            <a:pPr marL="800100" lvl="1" indent="-342900">
              <a:buFont typeface="Arial" panose="020B0604020202020204" pitchFamily="34" charset="0"/>
              <a:buChar char="•"/>
            </a:pPr>
            <a:r>
              <a:rPr lang="en-US" dirty="0"/>
              <a:t>Inhaled corticosteroids</a:t>
            </a:r>
          </a:p>
          <a:p>
            <a:pPr marL="800100" lvl="1" indent="-342900">
              <a:buFont typeface="Arial" panose="020B0604020202020204" pitchFamily="34" charset="0"/>
              <a:buChar char="•"/>
            </a:pPr>
            <a:r>
              <a:rPr lang="en-US" dirty="0"/>
              <a:t>Inhaled long-acting bronchodilators</a:t>
            </a:r>
          </a:p>
          <a:p>
            <a:pPr marL="800100" lvl="1" indent="-342900">
              <a:buFont typeface="Arial" panose="020B0604020202020204" pitchFamily="34" charset="0"/>
              <a:buChar char="•"/>
            </a:pPr>
            <a:r>
              <a:rPr lang="en-US" dirty="0"/>
              <a:t>Combination medications (one metered dose inhaler containing medications from both classes)</a:t>
            </a:r>
          </a:p>
          <a:p>
            <a:pPr marL="342900" indent="-342900">
              <a:buFont typeface="Arial" panose="020B0604020202020204" pitchFamily="34" charset="0"/>
              <a:buChar char="•"/>
            </a:pPr>
            <a:r>
              <a:rPr lang="en-US" dirty="0"/>
              <a:t>Inhaled corticosteroids can cause sore throat and oral fungal infection (thrush); using a spacer and rinsing after use can prevent thrush</a:t>
            </a:r>
          </a:p>
          <a:p>
            <a:pPr marL="342900" indent="-342900">
              <a:buFont typeface="Arial" panose="020B0604020202020204" pitchFamily="34" charset="0"/>
              <a:buChar char="•"/>
            </a:pPr>
            <a:r>
              <a:rPr lang="en-US" dirty="0"/>
              <a:t>Rescue medications may be administered by metered dose inhaler or by nebulizer</a:t>
            </a:r>
          </a:p>
          <a:p>
            <a:pPr marL="800100" lvl="1" indent="-342900">
              <a:buFont typeface="Arial" panose="020B0604020202020204" pitchFamily="34" charset="0"/>
              <a:buChar char="•"/>
            </a:pPr>
            <a:r>
              <a:rPr lang="en-US" dirty="0"/>
              <a:t>Short-acting bronchodilators</a:t>
            </a:r>
          </a:p>
          <a:p>
            <a:pPr marL="342900" indent="-342900">
              <a:buFont typeface="Arial" panose="020B0604020202020204" pitchFamily="34" charset="0"/>
              <a:buChar char="•"/>
            </a:pPr>
            <a:r>
              <a:rPr lang="en-US" dirty="0"/>
              <a:t>Leukotriene receptor antagonist (oral) may be prescribed to reduce inflammation in the airways</a:t>
            </a:r>
          </a:p>
          <a:p>
            <a:pPr marL="342900" indent="-342900">
              <a:buFont typeface="Arial" panose="020B0604020202020204" pitchFamily="34" charset="0"/>
              <a:buChar char="•"/>
            </a:pPr>
            <a:r>
              <a:rPr lang="en-US" dirty="0"/>
              <a:t>Short course of oral corticosteroids may be ordered during asthma flare-ups</a:t>
            </a:r>
          </a:p>
          <a:p>
            <a:pPr marL="342900" indent="-342900">
              <a:buFont typeface="Arial" panose="020B0604020202020204" pitchFamily="34" charset="0"/>
              <a:buChar char="•"/>
            </a:pPr>
            <a:r>
              <a:rPr lang="en-US" dirty="0"/>
              <a:t>Table on textbook p. 137 (and on handout) details specific drugs</a:t>
            </a:r>
          </a:p>
        </p:txBody>
      </p:sp>
    </p:spTree>
    <p:extLst>
      <p:ext uri="{BB962C8B-B14F-4D97-AF65-F5344CB8AC3E}">
        <p14:creationId xmlns:p14="http://schemas.microsoft.com/office/powerpoint/2010/main" val="78869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DA19639-6B83-A84E-9E99-A46D26D5BA16}"/>
              </a:ext>
            </a:extLst>
          </p:cNvPr>
          <p:cNvSpPr>
            <a:spLocks noGrp="1"/>
          </p:cNvSpPr>
          <p:nvPr>
            <p:ph type="title"/>
          </p:nvPr>
        </p:nvSpPr>
        <p:spPr/>
        <p:txBody>
          <a:bodyPr>
            <a:normAutofit fontScale="90000"/>
          </a:bodyPr>
          <a:lstStyle/>
          <a:p>
            <a:r>
              <a:rPr lang="en-US" dirty="0"/>
              <a:t>LO2, content 4</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rhinitis, sinusitis, and asthma</a:t>
            </a:r>
          </a:p>
          <a:p>
            <a:endParaRPr lang="en-US" dirty="0">
              <a:solidFill>
                <a:srgbClr val="FF0000"/>
              </a:solidFill>
            </a:endParaRPr>
          </a:p>
          <a:p>
            <a:r>
              <a:rPr lang="en-US" dirty="0"/>
              <a:t>Care guidelines for rhinitis, sinusitis, and asthma include the following:</a:t>
            </a:r>
          </a:p>
          <a:p>
            <a:pPr marL="342900" indent="-342900">
              <a:buFont typeface="Arial" panose="020B0604020202020204" pitchFamily="34" charset="0"/>
              <a:buChar char="•"/>
            </a:pPr>
            <a:r>
              <a:rPr lang="en-US" dirty="0"/>
              <a:t>Before administering a medication by nasal spray, ask the resident to blow their nose</a:t>
            </a:r>
          </a:p>
          <a:p>
            <a:pPr marL="342900" indent="-342900">
              <a:buFont typeface="Arial" panose="020B0604020202020204" pitchFamily="34" charset="0"/>
              <a:buChar char="•"/>
            </a:pPr>
            <a:r>
              <a:rPr lang="en-US" dirty="0"/>
              <a:t>Report high fever/severe symptoms in resident with sinusitis; antibiotics may be needed</a:t>
            </a:r>
          </a:p>
          <a:p>
            <a:pPr marL="342900" indent="-342900">
              <a:buFont typeface="Arial" panose="020B0604020202020204" pitchFamily="34" charset="0"/>
              <a:buChar char="•"/>
            </a:pPr>
            <a:r>
              <a:rPr lang="en-US" dirty="0"/>
              <a:t>Report immediately to a nurse if a resident with asthma is experiencing difficulty breathing.</a:t>
            </a:r>
          </a:p>
          <a:p>
            <a:pPr marL="342900" indent="-342900">
              <a:buFont typeface="Arial" panose="020B0604020202020204" pitchFamily="34" charset="0"/>
              <a:buChar char="•"/>
            </a:pPr>
            <a:r>
              <a:rPr lang="en-US" dirty="0"/>
              <a:t>Shake metered dose inhalers well before administering</a:t>
            </a:r>
          </a:p>
          <a:p>
            <a:pPr marL="342900" indent="-342900">
              <a:buFont typeface="Arial" panose="020B0604020202020204" pitchFamily="34" charset="0"/>
              <a:buChar char="•"/>
            </a:pPr>
            <a:r>
              <a:rPr lang="en-US" dirty="0"/>
              <a:t>Assist residents who use inhaled corticosteroids to rinse their mouths afterward</a:t>
            </a:r>
          </a:p>
          <a:p>
            <a:pPr marL="342900" indent="-342900">
              <a:buFont typeface="Arial" panose="020B0604020202020204" pitchFamily="34" charset="0"/>
              <a:buChar char="•"/>
            </a:pPr>
            <a:r>
              <a:rPr lang="en-US" dirty="0"/>
              <a:t>Residents with asthma should avoid known triggers that bring on attacks (e.g., allergens, smoke, strong odors, strenuous exercise). Do not wear perfumes or strongly scented skin products to work</a:t>
            </a:r>
          </a:p>
          <a:p>
            <a:endParaRPr lang="en-US" dirty="0"/>
          </a:p>
        </p:txBody>
      </p:sp>
    </p:spTree>
    <p:extLst>
      <p:ext uri="{BB962C8B-B14F-4D97-AF65-F5344CB8AC3E}">
        <p14:creationId xmlns:p14="http://schemas.microsoft.com/office/powerpoint/2010/main" val="108488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B46348DE-A9E8-D947-AED7-5F21C289EDCB}"/>
              </a:ext>
            </a:extLst>
          </p:cNvPr>
          <p:cNvSpPr>
            <a:spLocks noGrp="1"/>
          </p:cNvSpPr>
          <p:nvPr>
            <p:ph type="title"/>
          </p:nvPr>
        </p:nvSpPr>
        <p:spPr/>
        <p:txBody>
          <a:bodyPr>
            <a:normAutofit fontScale="90000"/>
          </a:bodyPr>
          <a:lstStyle/>
          <a:p>
            <a:r>
              <a:rPr lang="en-US" dirty="0"/>
              <a:t>LO3, key terms </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influenza, bronchitis, and pneumonia</a:t>
            </a:r>
          </a:p>
          <a:p>
            <a:endParaRPr lang="en-US" dirty="0"/>
          </a:p>
          <a:p>
            <a:r>
              <a:rPr lang="en-US" dirty="0"/>
              <a:t>Define the following terms:</a:t>
            </a:r>
            <a:br>
              <a:rPr lang="en-US" dirty="0"/>
            </a:br>
            <a:endParaRPr lang="en-US" dirty="0"/>
          </a:p>
          <a:p>
            <a:r>
              <a:rPr lang="en-US" b="1" dirty="0"/>
              <a:t>influenza</a:t>
            </a:r>
          </a:p>
          <a:p>
            <a:pPr lvl="1"/>
            <a:r>
              <a:rPr lang="en-US" dirty="0"/>
              <a:t>a respiratory illness caused by a virus; common in the fall and winter months.</a:t>
            </a:r>
          </a:p>
          <a:p>
            <a:r>
              <a:rPr lang="en-US" b="1" dirty="0"/>
              <a:t>bronchitis</a:t>
            </a:r>
          </a:p>
          <a:p>
            <a:pPr lvl="1"/>
            <a:r>
              <a:rPr lang="en-US" dirty="0"/>
              <a:t>an irritation and inflammation of the lining of the bronchi. </a:t>
            </a:r>
          </a:p>
          <a:p>
            <a:r>
              <a:rPr lang="en-US" b="1" dirty="0"/>
              <a:t>pneumonia</a:t>
            </a:r>
          </a:p>
          <a:p>
            <a:pPr lvl="1"/>
            <a:r>
              <a:rPr lang="en-US" dirty="0"/>
              <a:t>a bacterial, viral, or fungal infection that causes acute inflammation in lung tissue, causing fever, chills, cough, greenish sputum, chest pains, and rapid pulse. </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45293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9DD88F5-C210-714B-8A84-081D001F5885}"/>
              </a:ext>
            </a:extLst>
          </p:cNvPr>
          <p:cNvSpPr>
            <a:spLocks noGrp="1"/>
          </p:cNvSpPr>
          <p:nvPr>
            <p:ph type="title"/>
          </p:nvPr>
        </p:nvSpPr>
        <p:spPr/>
        <p:txBody>
          <a:bodyPr>
            <a:normAutofit fontScale="90000"/>
          </a:bodyPr>
          <a:lstStyle/>
          <a:p>
            <a:r>
              <a:rPr lang="en-US" dirty="0"/>
              <a:t>LO3, content 1</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influenza, bronchitis, and pneumonia</a:t>
            </a:r>
          </a:p>
          <a:p>
            <a:endParaRPr lang="en-US" dirty="0"/>
          </a:p>
          <a:p>
            <a:r>
              <a:rPr lang="en-US" dirty="0"/>
              <a:t>Understand the following about treatment for influenza:</a:t>
            </a:r>
          </a:p>
          <a:p>
            <a:pPr marL="342900" indent="-342900">
              <a:buFont typeface="Arial" panose="020B0604020202020204" pitchFamily="34" charset="0"/>
              <a:buChar char="•"/>
            </a:pPr>
            <a:r>
              <a:rPr lang="en-US" dirty="0"/>
              <a:t>Influenza vaccination can prevent infection</a:t>
            </a:r>
          </a:p>
          <a:p>
            <a:pPr marL="342900" indent="-342900">
              <a:buFont typeface="Arial" panose="020B0604020202020204" pitchFamily="34" charset="0"/>
              <a:buChar char="•"/>
            </a:pPr>
            <a:r>
              <a:rPr lang="en-US" dirty="0"/>
              <a:t>Antiviral medications can reduce severity of influenza if taken early on</a:t>
            </a:r>
          </a:p>
          <a:p>
            <a:pPr marL="342900" indent="-342900">
              <a:buFont typeface="Arial" panose="020B0604020202020204" pitchFamily="34" charset="0"/>
              <a:buChar char="•"/>
            </a:pPr>
            <a:r>
              <a:rPr lang="en-US" dirty="0"/>
              <a:t>Symptoms may be managed with OTC medications (as ordered/documented in the MAR):</a:t>
            </a:r>
          </a:p>
          <a:p>
            <a:pPr marL="800100" lvl="1" indent="-342900">
              <a:buFont typeface="Arial" panose="020B0604020202020204" pitchFamily="34" charset="0"/>
              <a:buChar char="•"/>
            </a:pPr>
            <a:r>
              <a:rPr lang="en-US" dirty="0"/>
              <a:t>Analgesics</a:t>
            </a:r>
          </a:p>
          <a:p>
            <a:pPr marL="800100" lvl="1" indent="-342900">
              <a:buFont typeface="Arial" panose="020B0604020202020204" pitchFamily="34" charset="0"/>
              <a:buChar char="•"/>
            </a:pPr>
            <a:r>
              <a:rPr lang="en-US" dirty="0"/>
              <a:t>Decongestants</a:t>
            </a:r>
          </a:p>
          <a:p>
            <a:pPr marL="342900" indent="-342900">
              <a:buFont typeface="Arial" panose="020B0604020202020204" pitchFamily="34" charset="0"/>
              <a:buChar char="•"/>
            </a:pPr>
            <a:r>
              <a:rPr lang="en-US" dirty="0"/>
              <a:t>Table on textbook p. 138 (or handout) details specific drugs</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44755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9DD88F5-C210-714B-8A84-081D001F5885}"/>
              </a:ext>
            </a:extLst>
          </p:cNvPr>
          <p:cNvSpPr>
            <a:spLocks noGrp="1"/>
          </p:cNvSpPr>
          <p:nvPr>
            <p:ph type="title"/>
          </p:nvPr>
        </p:nvSpPr>
        <p:spPr/>
        <p:txBody>
          <a:bodyPr>
            <a:normAutofit fontScale="90000"/>
          </a:bodyPr>
          <a:lstStyle/>
          <a:p>
            <a:r>
              <a:rPr lang="en-US" dirty="0"/>
              <a:t>LO3, content 2</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influenza, bronchitis, and pneumonia</a:t>
            </a:r>
          </a:p>
          <a:p>
            <a:endParaRPr lang="en-US" dirty="0"/>
          </a:p>
          <a:p>
            <a:r>
              <a:rPr lang="en-US" dirty="0"/>
              <a:t>Understand the following about treatment for bronchitis:</a:t>
            </a:r>
          </a:p>
          <a:p>
            <a:pPr marL="342900" indent="-342900">
              <a:buFont typeface="Arial" panose="020B0604020202020204" pitchFamily="34" charset="0"/>
              <a:buChar char="•"/>
            </a:pPr>
            <a:r>
              <a:rPr lang="en-US" dirty="0"/>
              <a:t>Analgesics/antipyretics can control headache and fever</a:t>
            </a:r>
          </a:p>
          <a:p>
            <a:pPr marL="342900" indent="-342900">
              <a:buFont typeface="Arial" panose="020B0604020202020204" pitchFamily="34" charset="0"/>
              <a:buChar char="•"/>
            </a:pPr>
            <a:r>
              <a:rPr lang="en-US" dirty="0"/>
              <a:t>Antitussive agents can help control cough </a:t>
            </a:r>
          </a:p>
          <a:p>
            <a:pPr marL="342900" indent="-342900">
              <a:buFont typeface="Arial" panose="020B0604020202020204" pitchFamily="34" charset="0"/>
              <a:buChar char="•"/>
            </a:pPr>
            <a:r>
              <a:rPr lang="en-US" dirty="0"/>
              <a:t>Expectorants thin mucus in the lungs, making it easier to cough out</a:t>
            </a:r>
          </a:p>
          <a:p>
            <a:pPr marL="342900" indent="-342900">
              <a:buFont typeface="Arial" panose="020B0604020202020204" pitchFamily="34" charset="0"/>
              <a:buChar char="•"/>
            </a:pPr>
            <a:r>
              <a:rPr lang="en-US" dirty="0"/>
              <a:t>Antibiotics are only used to treat bronchitis when pneumonia is suspected</a:t>
            </a:r>
          </a:p>
          <a:p>
            <a:pPr marL="342900" indent="-342900">
              <a:buFont typeface="Arial" panose="020B0604020202020204" pitchFamily="34" charset="0"/>
              <a:buChar char="•"/>
            </a:pPr>
            <a:r>
              <a:rPr lang="en-US" dirty="0"/>
              <a:t>Table on textbook p. 138 (or handout) details specific drugs</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1266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9DD88F5-C210-714B-8A84-081D001F5885}"/>
              </a:ext>
            </a:extLst>
          </p:cNvPr>
          <p:cNvSpPr>
            <a:spLocks noGrp="1"/>
          </p:cNvSpPr>
          <p:nvPr>
            <p:ph type="title"/>
          </p:nvPr>
        </p:nvSpPr>
        <p:spPr/>
        <p:txBody>
          <a:bodyPr>
            <a:normAutofit fontScale="90000"/>
          </a:bodyPr>
          <a:lstStyle/>
          <a:p>
            <a:r>
              <a:rPr lang="en-US" dirty="0"/>
              <a:t>LO3, content 3</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influenza, bronchitis, and pneumonia</a:t>
            </a:r>
          </a:p>
          <a:p>
            <a:endParaRPr lang="en-US" dirty="0"/>
          </a:p>
          <a:p>
            <a:r>
              <a:rPr lang="en-US" dirty="0"/>
              <a:t>Understand the following about treatment for pneumonia:</a:t>
            </a:r>
          </a:p>
          <a:p>
            <a:pPr marL="342900" indent="-342900">
              <a:buFont typeface="Arial" panose="020B0604020202020204" pitchFamily="34" charset="0"/>
              <a:buChar char="•"/>
            </a:pPr>
            <a:r>
              <a:rPr lang="en-US" dirty="0"/>
              <a:t>Antibiotics</a:t>
            </a:r>
          </a:p>
          <a:p>
            <a:pPr marL="800100" lvl="1" indent="-342900">
              <a:buFont typeface="Arial" panose="020B0604020202020204" pitchFamily="34" charset="0"/>
              <a:buChar char="•"/>
            </a:pPr>
            <a:r>
              <a:rPr lang="en-US" dirty="0"/>
              <a:t>Type used depends on the resident/history of antibiotic use</a:t>
            </a:r>
          </a:p>
          <a:p>
            <a:pPr marL="800100" lvl="1" indent="-342900">
              <a:buFont typeface="Arial" panose="020B0604020202020204" pitchFamily="34" charset="0"/>
              <a:buChar char="•"/>
            </a:pPr>
            <a:r>
              <a:rPr lang="en-US" dirty="0"/>
              <a:t>Also depends on whether the pneumonia is hospital- or community-acquired; hospital-acquired pneumonia is treated with specific antibiotic agents</a:t>
            </a:r>
          </a:p>
          <a:p>
            <a:pPr marL="342900" indent="-342900">
              <a:buFont typeface="Arial" panose="020B0604020202020204" pitchFamily="34" charset="0"/>
              <a:buChar char="•"/>
            </a:pPr>
            <a:r>
              <a:rPr lang="en-US" dirty="0"/>
              <a:t>Table on textbook p. 138 (or handout) details specific drugs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776033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9DD88F5-C210-714B-8A84-081D001F5885}"/>
              </a:ext>
            </a:extLst>
          </p:cNvPr>
          <p:cNvSpPr>
            <a:spLocks noGrp="1"/>
          </p:cNvSpPr>
          <p:nvPr>
            <p:ph type="title"/>
          </p:nvPr>
        </p:nvSpPr>
        <p:spPr/>
        <p:txBody>
          <a:bodyPr>
            <a:normAutofit fontScale="90000"/>
          </a:bodyPr>
          <a:lstStyle/>
          <a:p>
            <a:r>
              <a:rPr lang="en-US" dirty="0"/>
              <a:t>LO3, content 4</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influenza, bronchitis, and pneumonia</a:t>
            </a:r>
          </a:p>
          <a:p>
            <a:endParaRPr lang="en-US" dirty="0"/>
          </a:p>
          <a:p>
            <a:r>
              <a:rPr lang="en-US" dirty="0"/>
              <a:t>Care guidelines for influenza, bronchitis, and pneumonia include the following:</a:t>
            </a:r>
          </a:p>
          <a:p>
            <a:pPr marL="342900" indent="-342900">
              <a:buFont typeface="Arial" panose="020B0604020202020204" pitchFamily="34" charset="0"/>
              <a:buChar char="•"/>
            </a:pPr>
            <a:r>
              <a:rPr lang="en-US" dirty="0"/>
              <a:t>Wash your hands often. Get an annual flu vaccine</a:t>
            </a:r>
          </a:p>
          <a:p>
            <a:pPr marL="342900" indent="-342900">
              <a:buFont typeface="Arial" panose="020B0604020202020204" pitchFamily="34" charset="0"/>
              <a:buChar char="•"/>
            </a:pPr>
            <a:r>
              <a:rPr lang="en-US" dirty="0"/>
              <a:t>Be careful when administering OTC medications for cold/flu. Many have multiple ingredients. Do not exceed maximum daily dosages (report concerns to nurse)</a:t>
            </a:r>
          </a:p>
          <a:p>
            <a:pPr marL="342900" indent="-342900">
              <a:buFont typeface="Arial" panose="020B0604020202020204" pitchFamily="34" charset="0"/>
              <a:buChar char="•"/>
            </a:pPr>
            <a:r>
              <a:rPr lang="en-US" dirty="0"/>
              <a:t>Some OTC cold, flu, and cough medications can increase blood pressure and are contraindicated for residents with hypertension. Report concerns to the nurse</a:t>
            </a:r>
          </a:p>
          <a:p>
            <a:pPr marL="342900" indent="-342900">
              <a:buFont typeface="Arial" panose="020B0604020202020204" pitchFamily="34" charset="0"/>
              <a:buChar char="•"/>
            </a:pPr>
            <a:r>
              <a:rPr lang="en-US" dirty="0"/>
              <a:t>Position residents upright when administering oral medications to prevent aspiration pneumonia (caused by inhaling liquids or solids into the lungs)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806396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E9DD88F5-C210-714B-8A84-081D001F5885}"/>
              </a:ext>
            </a:extLst>
          </p:cNvPr>
          <p:cNvSpPr>
            <a:spLocks noGrp="1"/>
          </p:cNvSpPr>
          <p:nvPr>
            <p:ph type="title"/>
          </p:nvPr>
        </p:nvSpPr>
        <p:spPr/>
        <p:txBody>
          <a:bodyPr>
            <a:normAutofit fontScale="90000"/>
          </a:bodyPr>
          <a:lstStyle/>
          <a:p>
            <a:r>
              <a:rPr lang="en-US" dirty="0"/>
              <a:t>LO3, content 5</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influenza, bronchitis, and pneumonia</a:t>
            </a:r>
          </a:p>
          <a:p>
            <a:endParaRPr lang="en-US" dirty="0"/>
          </a:p>
          <a:p>
            <a:r>
              <a:rPr lang="en-US" dirty="0"/>
              <a:t>Care guidelines for influenza, bronchitis, and pneumonia (cont’d):</a:t>
            </a:r>
          </a:p>
          <a:p>
            <a:pPr marL="342900" indent="-342900">
              <a:buFont typeface="Arial" panose="020B0604020202020204" pitchFamily="34" charset="0"/>
              <a:buChar char="•"/>
            </a:pPr>
            <a:r>
              <a:rPr lang="en-US" dirty="0"/>
              <a:t>Observe residents closely for signs/symptoms of pneumonia. Report these signs immediately:</a:t>
            </a:r>
          </a:p>
          <a:p>
            <a:pPr marL="800100" lvl="1" indent="-342900">
              <a:buFont typeface="Arial" panose="020B0604020202020204" pitchFamily="34" charset="0"/>
              <a:buChar char="•"/>
            </a:pPr>
            <a:r>
              <a:rPr lang="en-US" dirty="0"/>
              <a:t>High fever</a:t>
            </a:r>
          </a:p>
          <a:p>
            <a:pPr marL="800100" lvl="1" indent="-342900">
              <a:buFont typeface="Arial" panose="020B0604020202020204" pitchFamily="34" charset="0"/>
              <a:buChar char="•"/>
            </a:pPr>
            <a:r>
              <a:rPr lang="en-US" dirty="0"/>
              <a:t>Worsening cough</a:t>
            </a:r>
          </a:p>
          <a:p>
            <a:pPr marL="800100" lvl="1" indent="-342900">
              <a:buFont typeface="Arial" panose="020B0604020202020204" pitchFamily="34" charset="0"/>
              <a:buChar char="•"/>
            </a:pPr>
            <a:r>
              <a:rPr lang="en-US" dirty="0"/>
              <a:t>Chest pains</a:t>
            </a:r>
          </a:p>
          <a:p>
            <a:pPr marL="800100" lvl="1" indent="-342900">
              <a:buFont typeface="Arial" panose="020B0604020202020204" pitchFamily="34" charset="0"/>
              <a:buChar char="•"/>
            </a:pPr>
            <a:r>
              <a:rPr lang="en-US" dirty="0"/>
              <a:t>Rapid pulse</a:t>
            </a:r>
          </a:p>
          <a:p>
            <a:pPr marL="342900" indent="-342900">
              <a:buFont typeface="Arial" panose="020B0604020202020204" pitchFamily="34" charset="0"/>
              <a:buChar char="•"/>
            </a:pPr>
            <a:r>
              <a:rPr lang="en-US" dirty="0"/>
              <a:t>Recovery from pneumonia may take longer for older adults and people with chronic illnesses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947055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B670D59-9789-0040-8836-5C386F1196CA}"/>
              </a:ext>
            </a:extLst>
          </p:cNvPr>
          <p:cNvSpPr>
            <a:spLocks noGrp="1"/>
          </p:cNvSpPr>
          <p:nvPr>
            <p:ph type="title"/>
          </p:nvPr>
        </p:nvSpPr>
        <p:spPr/>
        <p:txBody>
          <a:bodyPr>
            <a:normAutofit fontScale="90000"/>
          </a:bodyPr>
          <a:lstStyle/>
          <a:p>
            <a:r>
              <a:rPr lang="en-US" dirty="0"/>
              <a:t>LO4, key terms </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common medications used to treat chronic obstructive pulmonary disease (COPD)</a:t>
            </a:r>
          </a:p>
          <a:p>
            <a:endParaRPr lang="en-US" dirty="0"/>
          </a:p>
          <a:p>
            <a:r>
              <a:rPr lang="en-US" dirty="0"/>
              <a:t>Define the following terms:</a:t>
            </a:r>
          </a:p>
          <a:p>
            <a:endParaRPr lang="en-US" dirty="0"/>
          </a:p>
          <a:p>
            <a:r>
              <a:rPr lang="en-US" b="1" dirty="0"/>
              <a:t>chronic obstructive pulmonary disease</a:t>
            </a:r>
          </a:p>
          <a:p>
            <a:pPr lvl="1"/>
            <a:r>
              <a:rPr lang="en-US" dirty="0"/>
              <a:t>a chronic, progressive, and incurable lung disease that causes difficulty breathing, weakness, and a high risk for lung infections.</a:t>
            </a:r>
          </a:p>
          <a:p>
            <a:r>
              <a:rPr lang="en-US" b="1" dirty="0"/>
              <a:t>emphysema</a:t>
            </a:r>
          </a:p>
          <a:p>
            <a:pPr lvl="1"/>
            <a:r>
              <a:rPr lang="en-US" dirty="0"/>
              <a:t>a chronic disease of the lungs that usually results from chronic bronchitis and ciga­rette smoking. </a:t>
            </a:r>
          </a:p>
          <a:p>
            <a:endParaRPr lang="en-US" dirty="0"/>
          </a:p>
          <a:p>
            <a:endParaRPr lang="en-US" dirty="0"/>
          </a:p>
        </p:txBody>
      </p:sp>
    </p:spTree>
    <p:extLst>
      <p:ext uri="{BB962C8B-B14F-4D97-AF65-F5344CB8AC3E}">
        <p14:creationId xmlns:p14="http://schemas.microsoft.com/office/powerpoint/2010/main" val="96154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ED42E4D-6F66-4641-B90D-BD5E6C086F24}"/>
              </a:ext>
            </a:extLst>
          </p:cNvPr>
          <p:cNvSpPr>
            <a:spLocks noGrp="1"/>
          </p:cNvSpPr>
          <p:nvPr>
            <p:ph type="title"/>
          </p:nvPr>
        </p:nvSpPr>
        <p:spPr/>
        <p:txBody>
          <a:bodyPr>
            <a:normAutofit fontScale="90000"/>
          </a:bodyPr>
          <a:lstStyle/>
          <a:p>
            <a:r>
              <a:rPr lang="en-US" dirty="0"/>
              <a:t>LO4, content 1</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Discuss common medications used to treat chronic obstructive pulmonary disease (COPD)</a:t>
            </a:r>
          </a:p>
          <a:p>
            <a:endParaRPr lang="en-US" dirty="0"/>
          </a:p>
          <a:p>
            <a:r>
              <a:rPr lang="en-US" dirty="0"/>
              <a:t>Understand the following about treatment for COPD:</a:t>
            </a:r>
          </a:p>
          <a:p>
            <a:pPr marL="342900" indent="-342900">
              <a:buFont typeface="Arial" panose="020B0604020202020204" pitchFamily="34" charset="0"/>
              <a:buChar char="•"/>
            </a:pPr>
            <a:r>
              <a:rPr lang="en-US" dirty="0"/>
              <a:t>If a resident with COPD smokes, quitting is the first line of treatment</a:t>
            </a:r>
          </a:p>
          <a:p>
            <a:pPr marL="342900" indent="-342900">
              <a:buFont typeface="Arial" panose="020B0604020202020204" pitchFamily="34" charset="0"/>
              <a:buChar char="•"/>
            </a:pPr>
            <a:r>
              <a:rPr lang="en-US" dirty="0"/>
              <a:t>Medications include the following</a:t>
            </a:r>
          </a:p>
          <a:p>
            <a:pPr marL="800100" lvl="1" indent="-342900">
              <a:buFont typeface="Arial" panose="020B0604020202020204" pitchFamily="34" charset="0"/>
              <a:buChar char="•"/>
            </a:pPr>
            <a:r>
              <a:rPr lang="en-US" dirty="0"/>
              <a:t>Oxygen therapy</a:t>
            </a:r>
          </a:p>
          <a:p>
            <a:pPr marL="800100" lvl="1" indent="-342900">
              <a:buFont typeface="Arial" panose="020B0604020202020204" pitchFamily="34" charset="0"/>
              <a:buChar char="•"/>
            </a:pPr>
            <a:r>
              <a:rPr lang="en-US" dirty="0"/>
              <a:t>Short-acting bronchodilators</a:t>
            </a:r>
          </a:p>
          <a:p>
            <a:pPr marL="800100" lvl="1" indent="-342900">
              <a:buFont typeface="Arial" panose="020B0604020202020204" pitchFamily="34" charset="0"/>
              <a:buChar char="•"/>
            </a:pPr>
            <a:r>
              <a:rPr lang="en-US" dirty="0"/>
              <a:t>Long-acting bronchodilators</a:t>
            </a:r>
          </a:p>
          <a:p>
            <a:pPr marL="800100" lvl="1" indent="-342900">
              <a:buFont typeface="Arial" panose="020B0604020202020204" pitchFamily="34" charset="0"/>
              <a:buChar char="•"/>
            </a:pPr>
            <a:r>
              <a:rPr lang="en-US" dirty="0"/>
              <a:t>Roflumilast reduces lung inflammation</a:t>
            </a:r>
          </a:p>
          <a:p>
            <a:pPr marL="342900" indent="-342900">
              <a:buFont typeface="Arial" panose="020B0604020202020204" pitchFamily="34" charset="0"/>
              <a:buChar char="•"/>
            </a:pPr>
            <a:r>
              <a:rPr lang="en-US" dirty="0"/>
              <a:t>Table on textbook p. 139 (or handout) details other specific drugs</a:t>
            </a:r>
          </a:p>
          <a:p>
            <a:endParaRPr lang="en-US" dirty="0"/>
          </a:p>
          <a:p>
            <a:endParaRPr lang="en-US" dirty="0"/>
          </a:p>
        </p:txBody>
      </p:sp>
    </p:spTree>
    <p:extLst>
      <p:ext uri="{BB962C8B-B14F-4D97-AF65-F5344CB8AC3E}">
        <p14:creationId xmlns:p14="http://schemas.microsoft.com/office/powerpoint/2010/main" val="2781890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ED42E4D-6F66-4641-B90D-BD5E6C086F24}"/>
              </a:ext>
            </a:extLst>
          </p:cNvPr>
          <p:cNvSpPr>
            <a:spLocks noGrp="1"/>
          </p:cNvSpPr>
          <p:nvPr>
            <p:ph type="title"/>
          </p:nvPr>
        </p:nvSpPr>
        <p:spPr/>
        <p:txBody>
          <a:bodyPr>
            <a:normAutofit fontScale="90000"/>
          </a:bodyPr>
          <a:lstStyle/>
          <a:p>
            <a:r>
              <a:rPr lang="en-US" dirty="0"/>
              <a:t>LO4, content 2</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Discuss common medications used to treat chronic obstructive pulmonary disease (COPD)</a:t>
            </a:r>
          </a:p>
          <a:p>
            <a:endParaRPr lang="en-US" dirty="0"/>
          </a:p>
          <a:p>
            <a:r>
              <a:rPr lang="en-US" dirty="0"/>
              <a:t>Care guidelines for COPD include the following:</a:t>
            </a:r>
          </a:p>
          <a:p>
            <a:pPr marL="342900" indent="-342900">
              <a:buFont typeface="Arial" panose="020B0604020202020204" pitchFamily="34" charset="0"/>
              <a:buChar char="•"/>
            </a:pPr>
            <a:r>
              <a:rPr lang="en-US" dirty="0"/>
              <a:t>Encourage residents who are trying to quit smoking</a:t>
            </a:r>
          </a:p>
          <a:p>
            <a:pPr marL="342900" indent="-342900">
              <a:buFont typeface="Arial" panose="020B0604020202020204" pitchFamily="34" charset="0"/>
              <a:buChar char="•"/>
            </a:pPr>
            <a:r>
              <a:rPr lang="en-US" dirty="0"/>
              <a:t>Colds or viruses can make COPD worse. Observe and report signs/symptoms of respiratory illnesses</a:t>
            </a:r>
          </a:p>
          <a:p>
            <a:pPr marL="342900" indent="-342900">
              <a:buFont typeface="Arial" panose="020B0604020202020204" pitchFamily="34" charset="0"/>
              <a:buChar char="•"/>
            </a:pPr>
            <a:r>
              <a:rPr lang="en-US" dirty="0"/>
              <a:t>Use proper technique when administering inhaled medications to ensure maximum effectiveness</a:t>
            </a:r>
          </a:p>
          <a:p>
            <a:pPr marL="342900" indent="-342900">
              <a:buFont typeface="Arial" panose="020B0604020202020204" pitchFamily="34" charset="0"/>
              <a:buChar char="•"/>
            </a:pPr>
            <a:r>
              <a:rPr lang="en-US" dirty="0"/>
              <a:t>Do not administer or adjust oxygen if you are not trained to do so. Report to a nurse if there is a problem with a resident’s oxygen</a:t>
            </a:r>
          </a:p>
          <a:p>
            <a:endParaRPr lang="en-US" dirty="0"/>
          </a:p>
          <a:p>
            <a:endParaRPr lang="en-US" dirty="0"/>
          </a:p>
        </p:txBody>
      </p:sp>
    </p:spTree>
    <p:extLst>
      <p:ext uri="{BB962C8B-B14F-4D97-AF65-F5344CB8AC3E}">
        <p14:creationId xmlns:p14="http://schemas.microsoft.com/office/powerpoint/2010/main" val="3677216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LO5, key terms</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pleurisy, atelectasis, and pulmonary embolism (PE)</a:t>
            </a:r>
          </a:p>
          <a:p>
            <a:endParaRPr lang="en-US" dirty="0">
              <a:solidFill>
                <a:srgbClr val="FF0000"/>
              </a:solidFill>
            </a:endParaRPr>
          </a:p>
          <a:p>
            <a:r>
              <a:rPr lang="en-US" dirty="0"/>
              <a:t>Define the following term:</a:t>
            </a:r>
          </a:p>
          <a:p>
            <a:endParaRPr lang="en-US" dirty="0"/>
          </a:p>
          <a:p>
            <a:r>
              <a:rPr lang="en-US" b="1" dirty="0"/>
              <a:t>pleurisy</a:t>
            </a:r>
          </a:p>
          <a:p>
            <a:pPr lvl="1"/>
            <a:r>
              <a:rPr lang="en-US" dirty="0"/>
              <a:t>a condition caused by inflammation of the thin layers of tissue that separate the lungs from the chest wall (the </a:t>
            </a:r>
            <a:r>
              <a:rPr lang="en-US" i="1" dirty="0"/>
              <a:t>pleura</a:t>
            </a:r>
            <a:r>
              <a:rPr lang="en-US" dirty="0"/>
              <a:t>). </a:t>
            </a:r>
          </a:p>
          <a:p>
            <a:r>
              <a:rPr lang="en-US" b="1" dirty="0"/>
              <a:t>atelectasis</a:t>
            </a:r>
          </a:p>
          <a:p>
            <a:pPr lvl="1"/>
            <a:r>
              <a:rPr lang="en-US" dirty="0"/>
              <a:t>a condition in which a lung becomes blocked and unable to expand as it should.</a:t>
            </a:r>
          </a:p>
          <a:p>
            <a:r>
              <a:rPr lang="en-US" b="1" dirty="0"/>
              <a:t>pulmonary embolism</a:t>
            </a:r>
          </a:p>
          <a:p>
            <a:pPr lvl="1"/>
            <a:r>
              <a:rPr lang="en-US" dirty="0"/>
              <a:t>a blood clot or other blockage found in the lung.</a:t>
            </a:r>
          </a:p>
          <a:p>
            <a:pPr lvl="1"/>
            <a:endParaRPr lang="en-US" dirty="0"/>
          </a:p>
          <a:p>
            <a:pPr lvl="1"/>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13533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LO5, content 1</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pleurisy, atelectasis, and pulmonary embolism (PE)</a:t>
            </a:r>
          </a:p>
          <a:p>
            <a:endParaRPr lang="en-US" dirty="0">
              <a:solidFill>
                <a:srgbClr val="FF0000"/>
              </a:solidFill>
            </a:endParaRPr>
          </a:p>
          <a:p>
            <a:r>
              <a:rPr lang="en-US" dirty="0"/>
              <a:t>Treatment for pleurisy involves the following:</a:t>
            </a:r>
          </a:p>
          <a:p>
            <a:pPr marL="342900" indent="-342900">
              <a:buFont typeface="Arial" panose="020B0604020202020204" pitchFamily="34" charset="0"/>
              <a:buChar char="•"/>
            </a:pPr>
            <a:r>
              <a:rPr lang="en-US" dirty="0"/>
              <a:t>Treatment of any underlying condition (e.g., injury to the chest, infection)</a:t>
            </a:r>
          </a:p>
          <a:p>
            <a:pPr marL="342900" indent="-342900">
              <a:buFont typeface="Arial" panose="020B0604020202020204" pitchFamily="34" charset="0"/>
              <a:buChar char="•"/>
            </a:pPr>
            <a:r>
              <a:rPr lang="en-US" dirty="0"/>
              <a:t>Analgesics (NSAIDs, acetaminophen)</a:t>
            </a:r>
          </a:p>
          <a:p>
            <a:pPr marL="342900" indent="-342900">
              <a:buFont typeface="Arial" panose="020B0604020202020204" pitchFamily="34" charset="0"/>
              <a:buChar char="•"/>
            </a:pPr>
            <a:r>
              <a:rPr lang="en-US" dirty="0"/>
              <a:t>Table on textbook p. 139 (or handout) details specific drugs</a:t>
            </a:r>
          </a:p>
          <a:p>
            <a:endParaRPr lang="en-US" dirty="0"/>
          </a:p>
          <a:p>
            <a:endParaRPr lang="en-US" dirty="0"/>
          </a:p>
          <a:p>
            <a:endParaRPr lang="en-US" dirty="0"/>
          </a:p>
        </p:txBody>
      </p:sp>
    </p:spTree>
    <p:extLst>
      <p:ext uri="{BB962C8B-B14F-4D97-AF65-F5344CB8AC3E}">
        <p14:creationId xmlns:p14="http://schemas.microsoft.com/office/powerpoint/2010/main" val="1486672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LO5, content 2</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pleurisy, atelectasis, and pulmonary embolism (PE)</a:t>
            </a:r>
          </a:p>
          <a:p>
            <a:endParaRPr lang="en-US" dirty="0">
              <a:solidFill>
                <a:srgbClr val="FF0000"/>
              </a:solidFill>
            </a:endParaRPr>
          </a:p>
          <a:p>
            <a:r>
              <a:rPr lang="en-US" dirty="0"/>
              <a:t>Understand the following about treatment for atelectasis:</a:t>
            </a:r>
          </a:p>
          <a:p>
            <a:pPr marL="342900" indent="-342900">
              <a:buFont typeface="Arial" panose="020B0604020202020204" pitchFamily="34" charset="0"/>
              <a:buChar char="•"/>
            </a:pPr>
            <a:r>
              <a:rPr lang="en-US" dirty="0"/>
              <a:t>Mucolytics break up mucus and may be ordered if excessive mucus in the lung is the cause</a:t>
            </a:r>
          </a:p>
          <a:p>
            <a:pPr marL="342900" indent="-342900">
              <a:buFont typeface="Arial" panose="020B0604020202020204" pitchFamily="34" charset="0"/>
              <a:buChar char="•"/>
            </a:pPr>
            <a:r>
              <a:rPr lang="en-US" dirty="0"/>
              <a:t>Continuous positive airway pressure (CPAP) machine (if cause is not mucus)</a:t>
            </a:r>
          </a:p>
          <a:p>
            <a:pPr marL="342900" indent="-342900">
              <a:buFont typeface="Arial" panose="020B0604020202020204" pitchFamily="34" charset="0"/>
              <a:buChar char="•"/>
            </a:pPr>
            <a:r>
              <a:rPr lang="en-US" dirty="0"/>
              <a:t>Oxygen may also be ordered</a:t>
            </a:r>
          </a:p>
          <a:p>
            <a:pPr marL="342900" indent="-342900">
              <a:buFont typeface="Arial" panose="020B0604020202020204" pitchFamily="34" charset="0"/>
              <a:buChar char="•"/>
            </a:pPr>
            <a:r>
              <a:rPr lang="en-US" dirty="0"/>
              <a:t>Table on textbook p. 139 (or handout) details specific drugs</a:t>
            </a:r>
          </a:p>
          <a:p>
            <a:endParaRPr lang="en-US" dirty="0"/>
          </a:p>
          <a:p>
            <a:endParaRPr lang="en-US" dirty="0"/>
          </a:p>
          <a:p>
            <a:endParaRPr lang="en-US" dirty="0"/>
          </a:p>
        </p:txBody>
      </p:sp>
    </p:spTree>
    <p:extLst>
      <p:ext uri="{BB962C8B-B14F-4D97-AF65-F5344CB8AC3E}">
        <p14:creationId xmlns:p14="http://schemas.microsoft.com/office/powerpoint/2010/main" val="3951308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LO5, content 3</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Discuss common medications used to treat pleurisy, atelectasis, and pulmonary embolism (PE)</a:t>
            </a:r>
          </a:p>
          <a:p>
            <a:endParaRPr lang="en-US" dirty="0">
              <a:solidFill>
                <a:srgbClr val="FF0000"/>
              </a:solidFill>
            </a:endParaRPr>
          </a:p>
          <a:p>
            <a:r>
              <a:rPr lang="en-US" dirty="0"/>
              <a:t>Understand the following about treatment for pulmonary embolism:</a:t>
            </a:r>
          </a:p>
          <a:p>
            <a:pPr marL="342900" indent="-342900">
              <a:buFont typeface="Arial" panose="020B0604020202020204" pitchFamily="34" charset="0"/>
              <a:buChar char="•"/>
            </a:pPr>
            <a:r>
              <a:rPr lang="en-US" dirty="0"/>
              <a:t>Anticoagulants by injection or IV immediately after diagnosis</a:t>
            </a:r>
          </a:p>
          <a:p>
            <a:pPr marL="342900" indent="-342900">
              <a:buFont typeface="Arial" panose="020B0604020202020204" pitchFamily="34" charset="0"/>
              <a:buChar char="•"/>
            </a:pPr>
            <a:r>
              <a:rPr lang="en-US" dirty="0"/>
              <a:t>Oral anticoagulants for an extended time to prevent further clots</a:t>
            </a:r>
          </a:p>
          <a:p>
            <a:pPr marL="342900" indent="-342900">
              <a:buFont typeface="Arial" panose="020B0604020202020204" pitchFamily="34" charset="0"/>
              <a:buChar char="•"/>
            </a:pPr>
            <a:r>
              <a:rPr lang="en-US" dirty="0"/>
              <a:t>Table on textbook p. 140 (or handout) details specific drugs</a:t>
            </a:r>
          </a:p>
          <a:p>
            <a:endParaRPr lang="en-US" dirty="0"/>
          </a:p>
          <a:p>
            <a:endParaRPr lang="en-US" dirty="0"/>
          </a:p>
          <a:p>
            <a:endParaRPr lang="en-US" dirty="0"/>
          </a:p>
        </p:txBody>
      </p:sp>
    </p:spTree>
    <p:extLst>
      <p:ext uri="{BB962C8B-B14F-4D97-AF65-F5344CB8AC3E}">
        <p14:creationId xmlns:p14="http://schemas.microsoft.com/office/powerpoint/2010/main" val="3613568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LO5, content 4</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pleurisy, atelectasis, and pulmonary embolism (PE)</a:t>
            </a:r>
          </a:p>
          <a:p>
            <a:endParaRPr lang="en-US" dirty="0">
              <a:solidFill>
                <a:srgbClr val="FF0000"/>
              </a:solidFill>
            </a:endParaRPr>
          </a:p>
          <a:p>
            <a:r>
              <a:rPr lang="en-US" dirty="0"/>
              <a:t>Care guidelines for pleurisy, atelectasis, and pulmonary embolism include the following:</a:t>
            </a:r>
          </a:p>
          <a:p>
            <a:pPr marL="342900" indent="-342900">
              <a:buFont typeface="Arial" panose="020B0604020202020204" pitchFamily="34" charset="0"/>
              <a:buChar char="•"/>
            </a:pPr>
            <a:r>
              <a:rPr lang="en-US" dirty="0"/>
              <a:t>Report any signs of difficulty breathing with pleurisy. Labored breathing can be a sign that complications are developing</a:t>
            </a:r>
          </a:p>
          <a:p>
            <a:pPr marL="342900" indent="-342900">
              <a:buFont typeface="Arial" panose="020B0604020202020204" pitchFamily="34" charset="0"/>
              <a:buChar char="•"/>
            </a:pPr>
            <a:r>
              <a:rPr lang="en-US" dirty="0"/>
              <a:t>Do not use CPAP or oxygen delivery equipment if you are not trained/allowed by state law and facility policy to do so</a:t>
            </a:r>
          </a:p>
          <a:p>
            <a:pPr marL="342900" indent="-342900">
              <a:buFont typeface="Arial" panose="020B0604020202020204" pitchFamily="34" charset="0"/>
              <a:buChar char="•"/>
            </a:pPr>
            <a:r>
              <a:rPr lang="en-US" dirty="0"/>
              <a:t>In severe cases of atelectasis a chest tube may be inserted to remove air from the chest cavity Observe residents for signs/symptoms of breathing problems or cyanotic skin. Report these changes immediately</a:t>
            </a:r>
          </a:p>
          <a:p>
            <a:endParaRPr lang="en-US" dirty="0"/>
          </a:p>
          <a:p>
            <a:endParaRPr lang="en-US" dirty="0"/>
          </a:p>
          <a:p>
            <a:endParaRPr lang="en-US" dirty="0"/>
          </a:p>
        </p:txBody>
      </p:sp>
    </p:spTree>
    <p:extLst>
      <p:ext uri="{BB962C8B-B14F-4D97-AF65-F5344CB8AC3E}">
        <p14:creationId xmlns:p14="http://schemas.microsoft.com/office/powerpoint/2010/main" val="2977698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LO5, content 5</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pleurisy, atelectasis, and pulmonary embolism (PE)</a:t>
            </a:r>
          </a:p>
          <a:p>
            <a:endParaRPr lang="en-US" dirty="0">
              <a:solidFill>
                <a:srgbClr val="FF0000"/>
              </a:solidFill>
            </a:endParaRPr>
          </a:p>
          <a:p>
            <a:r>
              <a:rPr lang="en-US" dirty="0"/>
              <a:t>Care guidelines for pleurisy, atelectasis, and pulmonary embolism (cont’d):</a:t>
            </a:r>
          </a:p>
          <a:p>
            <a:pPr marL="342900" indent="-342900">
              <a:buFont typeface="Arial" panose="020B0604020202020204" pitchFamily="34" charset="0"/>
              <a:buChar char="•"/>
            </a:pPr>
            <a:r>
              <a:rPr lang="en-US" dirty="0"/>
              <a:t>Remember that residents taking anticoagulants are at increased risk for bleeding. Observe for signs/symptoms:</a:t>
            </a:r>
          </a:p>
          <a:p>
            <a:pPr marL="800100" lvl="1" indent="-342900">
              <a:buFont typeface="Arial" panose="020B0604020202020204" pitchFamily="34" charset="0"/>
              <a:buChar char="•"/>
            </a:pPr>
            <a:r>
              <a:rPr lang="en-US" dirty="0"/>
              <a:t>Excessive bruising</a:t>
            </a:r>
          </a:p>
          <a:p>
            <a:pPr marL="800100" lvl="1" indent="-342900">
              <a:buFont typeface="Arial" panose="020B0604020202020204" pitchFamily="34" charset="0"/>
              <a:buChar char="•"/>
            </a:pPr>
            <a:r>
              <a:rPr lang="en-US" dirty="0"/>
              <a:t>Blood in urine</a:t>
            </a:r>
          </a:p>
          <a:p>
            <a:pPr marL="800100" lvl="1" indent="-342900">
              <a:buFont typeface="Arial" panose="020B0604020202020204" pitchFamily="34" charset="0"/>
              <a:buChar char="•"/>
            </a:pPr>
            <a:r>
              <a:rPr lang="en-US" dirty="0"/>
              <a:t>Dark/tarry stools</a:t>
            </a:r>
          </a:p>
          <a:p>
            <a:pPr marL="800100" lvl="1" indent="-342900">
              <a:buFont typeface="Arial" panose="020B0604020202020204" pitchFamily="34" charset="0"/>
              <a:buChar char="•"/>
            </a:pPr>
            <a:r>
              <a:rPr lang="en-US" dirty="0"/>
              <a:t>Abdominal cramping</a:t>
            </a:r>
          </a:p>
          <a:p>
            <a:endParaRPr lang="en-US" dirty="0"/>
          </a:p>
          <a:p>
            <a:endParaRPr lang="en-US" dirty="0"/>
          </a:p>
          <a:p>
            <a:endParaRPr lang="en-US" dirty="0"/>
          </a:p>
        </p:txBody>
      </p:sp>
    </p:spTree>
    <p:extLst>
      <p:ext uri="{BB962C8B-B14F-4D97-AF65-F5344CB8AC3E}">
        <p14:creationId xmlns:p14="http://schemas.microsoft.com/office/powerpoint/2010/main" val="1769819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LO6, key terms</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6"/>
            </a:pPr>
            <a:r>
              <a:rPr lang="en-US" dirty="0">
                <a:solidFill>
                  <a:srgbClr val="FF0000"/>
                </a:solidFill>
              </a:rPr>
              <a:t>Discuss common medications used to treat tuberculosis (TB)</a:t>
            </a:r>
          </a:p>
          <a:p>
            <a:endParaRPr lang="en-US" dirty="0">
              <a:solidFill>
                <a:srgbClr val="FF0000"/>
              </a:solidFill>
            </a:endParaRPr>
          </a:p>
          <a:p>
            <a:r>
              <a:rPr lang="en-US" dirty="0"/>
              <a:t>Define the following terms:</a:t>
            </a:r>
          </a:p>
          <a:p>
            <a:endParaRPr lang="en-US" dirty="0"/>
          </a:p>
          <a:p>
            <a:r>
              <a:rPr lang="en-US" b="1" dirty="0"/>
              <a:t>tuberculosis (TB)</a:t>
            </a:r>
          </a:p>
          <a:p>
            <a:pPr lvl="1"/>
            <a:r>
              <a:rPr lang="en-US" dirty="0"/>
              <a:t>a highly contagious lung disease that causes fatigue, loss of appetite, slight fever, prolonged coughing, and shortness of breath. </a:t>
            </a:r>
          </a:p>
          <a:p>
            <a:r>
              <a:rPr lang="en-US" b="1" dirty="0"/>
              <a:t>multidrug-resistant TB (MDR-TB)</a:t>
            </a:r>
          </a:p>
          <a:p>
            <a:pPr lvl="1"/>
            <a:r>
              <a:rPr lang="en-US" dirty="0"/>
              <a:t>type of tuberculosis caused by an organism that is resis­tant to medication used to treat TB.</a:t>
            </a:r>
          </a:p>
          <a:p>
            <a:r>
              <a:rPr lang="en-US" dirty="0"/>
              <a:t> </a:t>
            </a:r>
            <a:r>
              <a:rPr lang="en-US" b="1" dirty="0"/>
              <a:t>resistant</a:t>
            </a:r>
          </a:p>
          <a:p>
            <a:pPr lvl="1"/>
            <a:r>
              <a:rPr lang="en-US" dirty="0"/>
              <a:t>a state in which drugs no longer work to kill specific bacteria. </a:t>
            </a:r>
          </a:p>
          <a:p>
            <a:pPr lvl="1"/>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66388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LO6, content 1</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6"/>
            </a:pPr>
            <a:r>
              <a:rPr lang="en-US" dirty="0">
                <a:solidFill>
                  <a:srgbClr val="FF0000"/>
                </a:solidFill>
              </a:rPr>
              <a:t>Discuss common medications used to treat tuberculosis (TB)</a:t>
            </a:r>
          </a:p>
          <a:p>
            <a:endParaRPr lang="en-US" dirty="0">
              <a:solidFill>
                <a:srgbClr val="FF0000"/>
              </a:solidFill>
            </a:endParaRPr>
          </a:p>
          <a:p>
            <a:r>
              <a:rPr lang="en-US" dirty="0"/>
              <a:t>Understand the following about treatment for tuberculosis (TB):</a:t>
            </a:r>
          </a:p>
          <a:p>
            <a:pPr marL="342900" indent="-342900">
              <a:buFont typeface="Arial" panose="020B0604020202020204" pitchFamily="34" charset="0"/>
              <a:buChar char="•"/>
            </a:pPr>
            <a:r>
              <a:rPr lang="en-US" dirty="0"/>
              <a:t>Two treatment phases: intensive phase and continuation phase</a:t>
            </a:r>
          </a:p>
          <a:p>
            <a:pPr marL="342900" indent="-342900">
              <a:buFont typeface="Arial" panose="020B0604020202020204" pitchFamily="34" charset="0"/>
              <a:buChar char="•"/>
            </a:pPr>
            <a:r>
              <a:rPr lang="en-US" dirty="0"/>
              <a:t>Intensive phase involves four antibiotics administered together for eight weeks</a:t>
            </a:r>
          </a:p>
          <a:p>
            <a:pPr marL="342900" indent="-342900">
              <a:buFont typeface="Arial" panose="020B0604020202020204" pitchFamily="34" charset="0"/>
              <a:buChar char="•"/>
            </a:pPr>
            <a:r>
              <a:rPr lang="en-US" dirty="0"/>
              <a:t>Continuation phase involves two of the four continued for four months</a:t>
            </a:r>
          </a:p>
          <a:p>
            <a:pPr marL="342900" indent="-342900">
              <a:buFont typeface="Arial" panose="020B0604020202020204" pitchFamily="34" charset="0"/>
              <a:buChar char="•"/>
            </a:pPr>
            <a:r>
              <a:rPr lang="en-US" dirty="0"/>
              <a:t>Adverse effects of TB medications can include Stevens-Johnson syndrome (SJS), a severe skin reaction</a:t>
            </a:r>
          </a:p>
          <a:p>
            <a:pPr marL="342900" indent="-342900">
              <a:buFont typeface="Arial" panose="020B0604020202020204" pitchFamily="34" charset="0"/>
              <a:buChar char="•"/>
            </a:pPr>
            <a:r>
              <a:rPr lang="en-US" dirty="0"/>
              <a:t>Other effects can include joint and muscle pain, increased liver enzymes, gout, visual problems, confusion, and hallucinations</a:t>
            </a:r>
          </a:p>
          <a:p>
            <a:pPr marL="342900" indent="-342900">
              <a:buFont typeface="Arial" panose="020B0604020202020204" pitchFamily="34" charset="0"/>
              <a:buChar char="•"/>
            </a:pPr>
            <a:r>
              <a:rPr lang="en-US" dirty="0"/>
              <a:t>Failure to finish TB medications can lead to a drug-resistant form of the disease</a:t>
            </a:r>
          </a:p>
          <a:p>
            <a:pPr marL="342900" indent="-342900">
              <a:buFont typeface="Arial" panose="020B0604020202020204" pitchFamily="34" charset="0"/>
              <a:buChar char="•"/>
            </a:pPr>
            <a:r>
              <a:rPr lang="en-US" dirty="0"/>
              <a:t>Table on textbook p. 140 (or handout) details specific drugs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860940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7575A9EB-66CC-4E36-900C-3E5CE39A60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B37924"/>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B37924"/>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48B9F58-9771-664B-9C4E-7891437EDE9F}"/>
              </a:ext>
            </a:extLst>
          </p:cNvPr>
          <p:cNvSpPr>
            <a:spLocks noGrp="1"/>
          </p:cNvSpPr>
          <p:nvPr>
            <p:ph type="title"/>
          </p:nvPr>
        </p:nvSpPr>
        <p:spPr/>
        <p:txBody>
          <a:bodyPr>
            <a:normAutofit fontScale="90000"/>
          </a:bodyPr>
          <a:lstStyle/>
          <a:p>
            <a:r>
              <a:rPr lang="en-US" dirty="0"/>
              <a:t>LO6, content 2</a:t>
            </a:r>
          </a:p>
        </p:txBody>
      </p:sp>
      <p:sp>
        <p:nvSpPr>
          <p:cNvPr id="2" name="Content Placeholder 1">
            <a:extLst>
              <a:ext uri="{FF2B5EF4-FFF2-40B4-BE49-F238E27FC236}">
                <a16:creationId xmlns:a16="http://schemas.microsoft.com/office/drawing/2014/main" id="{9E3C2282-D321-4D4F-9D77-2918B8F1F796}"/>
              </a:ext>
            </a:extLst>
          </p:cNvPr>
          <p:cNvSpPr>
            <a:spLocks noGrp="1"/>
          </p:cNvSpPr>
          <p:nvPr>
            <p:ph idx="1"/>
          </p:nvPr>
        </p:nvSpPr>
        <p:spPr/>
        <p:txBody>
          <a:bodyPr/>
          <a:lstStyle/>
          <a:p>
            <a:pPr marL="457200" indent="-457200">
              <a:buFont typeface="+mj-lt"/>
              <a:buAutoNum type="arabicPeriod" startAt="6"/>
            </a:pPr>
            <a:r>
              <a:rPr lang="en-US" dirty="0">
                <a:solidFill>
                  <a:srgbClr val="FF0000"/>
                </a:solidFill>
              </a:rPr>
              <a:t>Discuss common medications used to treat tuberculosis (TB)</a:t>
            </a:r>
          </a:p>
          <a:p>
            <a:endParaRPr lang="en-US" dirty="0">
              <a:solidFill>
                <a:srgbClr val="FF0000"/>
              </a:solidFill>
            </a:endParaRPr>
          </a:p>
          <a:p>
            <a:r>
              <a:rPr lang="en-US" dirty="0"/>
              <a:t>Care guidelines for tuberculosis include the following:</a:t>
            </a:r>
          </a:p>
          <a:p>
            <a:pPr marL="342900" indent="-342900">
              <a:buFont typeface="Arial" panose="020B0604020202020204" pitchFamily="34" charset="0"/>
              <a:buChar char="•"/>
            </a:pPr>
            <a:r>
              <a:rPr lang="en-US" dirty="0"/>
              <a:t>TB is highly contagious. Follow Standard Precautions and Airborne precautions when administering medications to residents with TB</a:t>
            </a:r>
          </a:p>
          <a:p>
            <a:pPr marL="342900" indent="-342900">
              <a:buFont typeface="Arial" panose="020B0604020202020204" pitchFamily="34" charset="0"/>
              <a:buChar char="•"/>
            </a:pPr>
            <a:r>
              <a:rPr lang="en-US" dirty="0"/>
              <a:t>Wear PPE as instructed</a:t>
            </a:r>
          </a:p>
          <a:p>
            <a:pPr marL="342900" indent="-342900">
              <a:buFont typeface="Arial" panose="020B0604020202020204" pitchFamily="34" charset="0"/>
              <a:buChar char="•"/>
            </a:pPr>
            <a:r>
              <a:rPr lang="en-US" dirty="0"/>
              <a:t>Residents with TB will be placed in an airborne infection isolation room (AIIR). When entering this room do not open or close the door quickly. This can pull contaminated room air into the hallway</a:t>
            </a:r>
          </a:p>
          <a:p>
            <a:pPr marL="342900" indent="-342900">
              <a:buFont typeface="Arial" panose="020B0604020202020204" pitchFamily="34" charset="0"/>
              <a:buChar char="•"/>
            </a:pPr>
            <a:r>
              <a:rPr lang="en-US" dirty="0"/>
              <a:t>Provide encouragement when administering TB medications. Failure to take all medication is a major factor in the spread of TB</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37942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2986026"/>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551</TotalTime>
  <Words>2047</Words>
  <Application>Microsoft Macintosh PowerPoint</Application>
  <PresentationFormat>Widescreen</PresentationFormat>
  <Paragraphs>316</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Scala Sans</vt:lpstr>
      <vt:lpstr>1_Office Theme</vt:lpstr>
      <vt:lpstr>PowerPoint Presentation</vt:lpstr>
      <vt:lpstr>Chapter 8, LO1, key term</vt:lpstr>
      <vt:lpstr>LO1, content 1</vt:lpstr>
      <vt:lpstr>LO1, content 2</vt:lpstr>
      <vt:lpstr>LO1, content 3</vt:lpstr>
      <vt:lpstr>LO2, key terms</vt:lpstr>
      <vt:lpstr>LO2, content 1</vt:lpstr>
      <vt:lpstr>LO2, content 2</vt:lpstr>
      <vt:lpstr>LO2, content 3</vt:lpstr>
      <vt:lpstr>LO2, content 4</vt:lpstr>
      <vt:lpstr>LO3, key terms </vt:lpstr>
      <vt:lpstr>LO3, content 1</vt:lpstr>
      <vt:lpstr>LO3, content 2</vt:lpstr>
      <vt:lpstr>LO3, content 3</vt:lpstr>
      <vt:lpstr>LO3, content 4</vt:lpstr>
      <vt:lpstr>LO3, content 5</vt:lpstr>
      <vt:lpstr>LO4, key terms </vt:lpstr>
      <vt:lpstr>LO4, content 1</vt:lpstr>
      <vt:lpstr>LO4, content 2</vt:lpstr>
      <vt:lpstr>LO5, key terms</vt:lpstr>
      <vt:lpstr>LO5, content 1</vt:lpstr>
      <vt:lpstr>LO5, content 2</vt:lpstr>
      <vt:lpstr>LO5, content 3</vt:lpstr>
      <vt:lpstr>LO5, content 4</vt:lpstr>
      <vt:lpstr>LO5, content 5</vt:lpstr>
      <vt:lpstr>LO6, key terms</vt:lpstr>
      <vt:lpstr>LO6, content 1</vt:lpstr>
      <vt:lpstr>LO6, content 2</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84</cp:revision>
  <dcterms:created xsi:type="dcterms:W3CDTF">2020-03-18T21:20:46Z</dcterms:created>
  <dcterms:modified xsi:type="dcterms:W3CDTF">2021-05-20T13:57:00Z</dcterms:modified>
</cp:coreProperties>
</file>