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  <p:sldId id="321" r:id="rId3"/>
    <p:sldId id="320" r:id="rId4"/>
    <p:sldId id="331" r:id="rId5"/>
    <p:sldId id="307" r:id="rId6"/>
    <p:sldId id="323" r:id="rId7"/>
    <p:sldId id="332" r:id="rId8"/>
    <p:sldId id="333" r:id="rId9"/>
    <p:sldId id="313" r:id="rId10"/>
    <p:sldId id="327" r:id="rId11"/>
    <p:sldId id="334" r:id="rId12"/>
    <p:sldId id="335" r:id="rId13"/>
    <p:sldId id="312" r:id="rId14"/>
    <p:sldId id="330" r:id="rId15"/>
    <p:sldId id="336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3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5C2F09-6D1A-4A21-97DF-F888DD13FD39}"/>
              </a:ext>
            </a:extLst>
          </p:cNvPr>
          <p:cNvSpPr txBox="1"/>
          <p:nvPr userDrawn="1"/>
        </p:nvSpPr>
        <p:spPr>
          <a:xfrm>
            <a:off x="1142997" y="539293"/>
            <a:ext cx="1816272" cy="1862048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BFBB-1425-4277-8500-4300AD017EDA}"/>
              </a:ext>
            </a:extLst>
          </p:cNvPr>
          <p:cNvSpPr txBox="1"/>
          <p:nvPr userDrawn="1"/>
        </p:nvSpPr>
        <p:spPr>
          <a:xfrm>
            <a:off x="1150229" y="2062986"/>
            <a:ext cx="8717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Reproductive System and Common Medications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1325043" y="4825851"/>
            <a:ext cx="1236907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8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E03F057-80E6-4933-B039-F692BF84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8452" y="6279454"/>
            <a:ext cx="1297633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B4DE4-EBEE-4044-9F6A-2507FF95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78763"/>
            <a:ext cx="7793182" cy="7848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393" y="780226"/>
            <a:ext cx="10234377" cy="53967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5F491-9531-4861-B658-DB5FE7E2FEAE}"/>
              </a:ext>
            </a:extLst>
          </p:cNvPr>
          <p:cNvSpPr/>
          <p:nvPr userDrawn="1"/>
        </p:nvSpPr>
        <p:spPr>
          <a:xfrm>
            <a:off x="11328400" y="0"/>
            <a:ext cx="863600" cy="1606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F0E1-C264-477A-8C68-5954EE75A404}"/>
              </a:ext>
            </a:extLst>
          </p:cNvPr>
          <p:cNvSpPr txBox="1"/>
          <p:nvPr userDrawn="1"/>
        </p:nvSpPr>
        <p:spPr>
          <a:xfrm>
            <a:off x="11506200" y="1752600"/>
            <a:ext cx="369332" cy="33210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Reproductive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System and Common Medications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A6800-7865-48FF-933D-2164FAE0ACC9}"/>
              </a:ext>
            </a:extLst>
          </p:cNvPr>
          <p:cNvSpPr txBox="1"/>
          <p:nvPr userDrawn="1"/>
        </p:nvSpPr>
        <p:spPr>
          <a:xfrm>
            <a:off x="11506197" y="101143"/>
            <a:ext cx="181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t>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5C658E-B179-4C5F-B3AF-13638309A3D4}"/>
              </a:ext>
            </a:extLst>
          </p:cNvPr>
          <p:cNvCxnSpPr>
            <a:cxnSpLocks/>
          </p:cNvCxnSpPr>
          <p:nvPr userDrawn="1"/>
        </p:nvCxnSpPr>
        <p:spPr>
          <a:xfrm flipH="1">
            <a:off x="745067" y="6629400"/>
            <a:ext cx="100076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C71CCBE0-D1B9-42FA-8DAC-87EEE4F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79454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C1E1F3-686D-4F52-826D-70A4F80E72A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33E0703D-A83A-40F4-A8D2-8D56B297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9454"/>
            <a:ext cx="4993783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0274B49-780C-479A-B0DB-0F3EABBF8D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1641" y="5924550"/>
            <a:ext cx="719715" cy="7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5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798611" y="2338649"/>
            <a:ext cx="2539591" cy="26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5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82F9F-E9DB-44F9-8F4D-A11E49818C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42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31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5FA33-1379-8745-85E3-F4B666D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18, LO1,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Material 18-1 The Reproductive System (Male and Female)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 descr="Figures illustrating the parts of the female and male reproductive systems">
            <a:extLst>
              <a:ext uri="{FF2B5EF4-FFF2-40B4-BE49-F238E27FC236}">
                <a16:creationId xmlns:a16="http://schemas.microsoft.com/office/drawing/2014/main" id="{AE62DE08-F5A3-C440-83B2-14D962824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31" y="1727200"/>
            <a:ext cx="97917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5FA33-1379-8745-85E3-F4B666D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reproductive system</a:t>
            </a:r>
          </a:p>
          <a:p>
            <a:endParaRPr lang="en-US" dirty="0"/>
          </a:p>
          <a:p>
            <a:r>
              <a:rPr lang="en-US" dirty="0"/>
              <a:t>Remember these points about the reproductive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Reproductive organs and hormones are different in males (testes, scrotum, testosterone) and females (ovaries, fallopian tubes, estrogen)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Reproductive system allows humans to reproduce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95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85FA33-1379-8745-85E3-F4B666D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reproductive system</a:t>
            </a:r>
          </a:p>
          <a:p>
            <a:endParaRPr lang="en-US" dirty="0"/>
          </a:p>
          <a:p>
            <a:r>
              <a:rPr lang="en-US" dirty="0"/>
              <a:t>Normal changes of aging include the following:</a:t>
            </a:r>
          </a:p>
          <a:p>
            <a:r>
              <a:rPr lang="en-US" b="1" dirty="0"/>
              <a:t>Male: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Decreased sperm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Enlarged prostate gland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Female: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Menstruation 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Decreased estrogen leads to a loss of calcium, causing brittle bones and, potentially, osteoporosis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Drier, thinner vaginal walls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97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male reproductive 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benign prostatic hyperplasia (BPH)</a:t>
            </a:r>
          </a:p>
          <a:p>
            <a:pPr lvl="1"/>
            <a:r>
              <a:rPr lang="en-US" dirty="0"/>
              <a:t>a disor­der that can occur in men as they age, in which the prostate becomes enlarged and causes prob­lems with urination. </a:t>
            </a:r>
          </a:p>
          <a:p>
            <a:r>
              <a:rPr lang="en-US" b="1" dirty="0"/>
              <a:t>erectile dysfunction (ED)</a:t>
            </a:r>
          </a:p>
          <a:p>
            <a:pPr lvl="1"/>
            <a:r>
              <a:rPr lang="en-US" dirty="0"/>
              <a:t>a condition in which a male cannot get or keep an erection long enough to engage in sexual intercourse.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90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male reproductive 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benign prostatic hyperplasia (BPH):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Alpha-blockers relax smooth muscle of the prostate and bladder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Finasteride stops the creation of a substance related to the development of BPH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Tadalafil (Cialis) relaxes the smooth muscle cells of prostrate and bladder, allowing blood to flow more easily through the tissues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171 (or handout) details other specific drugs</a:t>
            </a:r>
          </a:p>
          <a:p>
            <a:pPr marL="14288"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57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male reproductive 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erectile dysfunction (ED):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PDE5 inhibitors increase smooth muscle relaxation and improve blood flow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Must not be administered with nitrates (e.g., nitroglycerin)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cause headache, flushing, hypotension, dizziness, indigestion, back pain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171 (or handout) details specific drugs</a:t>
            </a:r>
          </a:p>
          <a:p>
            <a:pPr marL="14288"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11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63F6C-3E93-6544-9E07-A700FB25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male reproductive 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BPH and ED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Measure blood pressure as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Drugs used to treat these conditions can cause low blood pressure and dizziness. Observe residents carefully to avoid falls. Report low blood pressure/complaints of dizziness to the nurse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Residents with BPH may need to have blood drawn regularly to measure levels of prostate specific antigen (PSA). Rising levels may be associated with prostate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Administer </a:t>
            </a:r>
            <a:r>
              <a:rPr lang="en-US" dirty="0" err="1"/>
              <a:t>tamsulosin</a:t>
            </a:r>
            <a:r>
              <a:rPr lang="en-US" dirty="0"/>
              <a:t> (Flomax) about 30 minutes about resident has eaten a meal</a:t>
            </a:r>
          </a:p>
          <a:p>
            <a:pPr marL="14288"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84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female reproductive system</a:t>
            </a:r>
          </a:p>
          <a:p>
            <a:endParaRPr lang="en-US" dirty="0"/>
          </a:p>
          <a:p>
            <a:r>
              <a:rPr lang="en-US" dirty="0"/>
              <a:t>Define the following term: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vaginitis</a:t>
            </a:r>
          </a:p>
          <a:p>
            <a:pPr lvl="1"/>
            <a:r>
              <a:rPr lang="en-US" dirty="0"/>
              <a:t>an inflammation of the vagina that may be caused by bacteria, protozoa, or a fungus.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676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female reproductive system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treatments related to post-menopausal conditions: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Hormone replacement can reduce osteoporosis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Local estrogen therapy may be ordered by vaginal administration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171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652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female reproductive system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vaginitis: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Treatment depends on source of inflammation/infection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Oral/vaginal antibiotics for bacterial infections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Yeast (fungal) infection treatment includes oral or vaginal antifungal agents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171–172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41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AC16A-E726-F14E-83A4-781873B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of the female reproductive system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Care guidelines for post-menopausal conditions and vaginitis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Hormone replacement therapy is associated with some dangerous side effects. It increases risk of blood clots. Observe residents for signs/symptoms of blood clots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fungicides are available in different strengths and treatment lengths. Follow instructions on the 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Like antibiotics, fungicides should be taken for the full amount of time they are prescribed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330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sexually transmitted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sexually transmitted infection (STI)</a:t>
            </a:r>
          </a:p>
          <a:p>
            <a:pPr lvl="1"/>
            <a:r>
              <a:rPr lang="en-US" dirty="0"/>
              <a:t>an in­fection caused by sexual contact with infected people; signs and symptoms are not always apparent. </a:t>
            </a:r>
          </a:p>
          <a:p>
            <a:r>
              <a:rPr lang="en-US" b="1" dirty="0"/>
              <a:t>genital herpes</a:t>
            </a:r>
          </a:p>
          <a:p>
            <a:pPr lvl="1"/>
            <a:r>
              <a:rPr lang="en-US" dirty="0"/>
              <a:t>an incurable type of sexually transmitted infection that is caused by a virus; causes painful sores on the genitals. </a:t>
            </a:r>
          </a:p>
          <a:p>
            <a:r>
              <a:rPr lang="en-US" b="1" dirty="0"/>
              <a:t>genital HPV infection</a:t>
            </a:r>
          </a:p>
          <a:p>
            <a:pPr lvl="1"/>
            <a:r>
              <a:rPr lang="en-US" dirty="0"/>
              <a:t>a type of sexually trans­mitted infection caused by human papillomavi­rus; may cause genital warts and an abnormal pap test, and can lead to cervical cancer.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638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sexually transmitted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genital herpes: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Antiviral medications can prevent outbreaks, or can lesson duration/intensity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Side effects include nausea, vomiting, diarrhea, and headache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172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776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2D0EB45-6956-455A-9F9D-4DE23AE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934C93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934C93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63E6A3-D3AE-AF4A-BC9D-7C50E2BC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</a:t>
            </a:r>
            <a:r>
              <a:rPr lang="en-US"/>
              <a:t>content 2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713EA0-1506-43D6-8749-E39FF2E2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sexually transmitted infections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genital HPV infection: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Antiviral medications are not effective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 may be prescribed to treat the warts associated with HPV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172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418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8659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C76"/>
      </a:accent1>
      <a:accent2>
        <a:srgbClr val="B37924"/>
      </a:accent2>
      <a:accent3>
        <a:srgbClr val="E3567D"/>
      </a:accent3>
      <a:accent4>
        <a:srgbClr val="0091B9"/>
      </a:accent4>
      <a:accent5>
        <a:srgbClr val="D6BF00"/>
      </a:accent5>
      <a:accent6>
        <a:srgbClr val="934C93"/>
      </a:accent6>
      <a:hlink>
        <a:srgbClr val="0563C1"/>
      </a:hlink>
      <a:folHlink>
        <a:srgbClr val="954F72"/>
      </a:folHlink>
    </a:clrScheme>
    <a:fontScheme name="Susan Hedman - Hartman Publishing">
      <a:majorFont>
        <a:latin typeface="Scala Sans"/>
        <a:ea typeface=""/>
        <a:cs typeface=""/>
      </a:majorFont>
      <a:minorFont>
        <a:latin typeface="Scal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937</Words>
  <Application>Microsoft Macintosh PowerPoint</Application>
  <PresentationFormat>Widescreen</PresentationFormat>
  <Paragraphs>202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Scala Sans</vt:lpstr>
      <vt:lpstr>1_Office Theme</vt:lpstr>
      <vt:lpstr>PowerPoint Presentation</vt:lpstr>
      <vt:lpstr>Chapter 18, LO1, content 1</vt:lpstr>
      <vt:lpstr>LO1, content 2</vt:lpstr>
      <vt:lpstr>LO1, content 3</vt:lpstr>
      <vt:lpstr>LO2, key terms</vt:lpstr>
      <vt:lpstr>LO2, content 1</vt:lpstr>
      <vt:lpstr>LO2, content 2</vt:lpstr>
      <vt:lpstr>LO2, content 3</vt:lpstr>
      <vt:lpstr>LO3, key term</vt:lpstr>
      <vt:lpstr>LO3, content 1</vt:lpstr>
      <vt:lpstr>LO3, content 2</vt:lpstr>
      <vt:lpstr>LO3, content 3</vt:lpstr>
      <vt:lpstr>LO4, key terms</vt:lpstr>
      <vt:lpstr>LO4, content 1</vt:lpstr>
      <vt:lpstr>LO4, content 2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Storey</dc:creator>
  <cp:lastModifiedBy>Kristin Calderon</cp:lastModifiedBy>
  <cp:revision>56</cp:revision>
  <dcterms:created xsi:type="dcterms:W3CDTF">2020-03-18T21:18:02Z</dcterms:created>
  <dcterms:modified xsi:type="dcterms:W3CDTF">2021-05-20T14:04:06Z</dcterms:modified>
</cp:coreProperties>
</file>