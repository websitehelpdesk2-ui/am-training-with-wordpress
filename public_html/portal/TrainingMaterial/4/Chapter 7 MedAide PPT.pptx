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sldIdLst>
    <p:sldId id="256" r:id="rId2"/>
    <p:sldId id="258" r:id="rId3"/>
    <p:sldId id="269" r:id="rId4"/>
    <p:sldId id="259" r:id="rId5"/>
    <p:sldId id="261" r:id="rId6"/>
    <p:sldId id="270" r:id="rId7"/>
    <p:sldId id="271" r:id="rId8"/>
    <p:sldId id="272" r:id="rId9"/>
    <p:sldId id="262" r:id="rId10"/>
    <p:sldId id="263" r:id="rId11"/>
    <p:sldId id="273" r:id="rId12"/>
    <p:sldId id="264" r:id="rId13"/>
    <p:sldId id="265" r:id="rId14"/>
    <p:sldId id="274" r:id="rId15"/>
    <p:sldId id="275" r:id="rId16"/>
    <p:sldId id="267" r:id="rId17"/>
    <p:sldId id="276" r:id="rId18"/>
    <p:sldId id="277" r:id="rId19"/>
    <p:sldId id="268"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ED5"/>
          </a:solidFill>
        </a:fill>
      </a:tcStyle>
    </a:wholeTbl>
    <a:band2H>
      <a:tcTxStyle/>
      <a:tcStyle>
        <a:tcBdr/>
        <a:fill>
          <a:solidFill>
            <a:srgbClr val="E7EFEB"/>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4D0D6"/>
          </a:solidFill>
        </a:fill>
      </a:tcStyle>
    </a:wholeTbl>
    <a:band2H>
      <a:tcTxStyle/>
      <a:tcStyle>
        <a:tcBdr/>
        <a:fill>
          <a:solidFill>
            <a:srgbClr val="FAE9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CEDB"/>
          </a:solidFill>
        </a:fill>
      </a:tcStyle>
    </a:wholeTbl>
    <a:band2H>
      <a:tcTxStyle/>
      <a:tcStyle>
        <a:tcBdr/>
        <a:fill>
          <a:solidFill>
            <a:srgbClr val="EEE8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44"/>
    <p:restoredTop sz="94640"/>
  </p:normalViewPr>
  <p:slideViewPr>
    <p:cSldViewPr snapToGrid="0" snapToObjects="1">
      <p:cViewPr varScale="1">
        <p:scale>
          <a:sx n="102" d="100"/>
          <a:sy n="102" d="100"/>
        </p:scale>
        <p:origin x="592" y="184"/>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2" name="Shape 42"/>
          <p:cNvSpPr>
            <a:spLocks noGrp="1" noRot="1" noChangeAspect="1"/>
          </p:cNvSpPr>
          <p:nvPr>
            <p:ph type="sldImg"/>
          </p:nvPr>
        </p:nvSpPr>
        <p:spPr>
          <a:xfrm>
            <a:off x="1143000" y="685800"/>
            <a:ext cx="4572000" cy="3429000"/>
          </a:xfrm>
          <a:prstGeom prst="rect">
            <a:avLst/>
          </a:prstGeom>
        </p:spPr>
        <p:txBody>
          <a:bodyPr/>
          <a:lstStyle/>
          <a:p>
            <a:endParaRPr/>
          </a:p>
        </p:txBody>
      </p:sp>
      <p:sp>
        <p:nvSpPr>
          <p:cNvPr id="43" name="Shape 4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Scala Sans"/>
      </a:defRPr>
    </a:lvl1pPr>
    <a:lvl2pPr indent="228600" latinLnBrk="0">
      <a:defRPr sz="1200">
        <a:latin typeface="+mn-lt"/>
        <a:ea typeface="+mn-ea"/>
        <a:cs typeface="+mn-cs"/>
        <a:sym typeface="Scala Sans"/>
      </a:defRPr>
    </a:lvl2pPr>
    <a:lvl3pPr indent="457200" latinLnBrk="0">
      <a:defRPr sz="1200">
        <a:latin typeface="+mn-lt"/>
        <a:ea typeface="+mn-ea"/>
        <a:cs typeface="+mn-cs"/>
        <a:sym typeface="Scala Sans"/>
      </a:defRPr>
    </a:lvl3pPr>
    <a:lvl4pPr indent="685800" latinLnBrk="0">
      <a:defRPr sz="1200">
        <a:latin typeface="+mn-lt"/>
        <a:ea typeface="+mn-ea"/>
        <a:cs typeface="+mn-cs"/>
        <a:sym typeface="Scala Sans"/>
      </a:defRPr>
    </a:lvl4pPr>
    <a:lvl5pPr indent="914400" latinLnBrk="0">
      <a:defRPr sz="1200">
        <a:latin typeface="+mn-lt"/>
        <a:ea typeface="+mn-ea"/>
        <a:cs typeface="+mn-cs"/>
        <a:sym typeface="Scala Sans"/>
      </a:defRPr>
    </a:lvl5pPr>
    <a:lvl6pPr indent="1143000" latinLnBrk="0">
      <a:defRPr sz="1200">
        <a:latin typeface="+mn-lt"/>
        <a:ea typeface="+mn-ea"/>
        <a:cs typeface="+mn-cs"/>
        <a:sym typeface="Scala Sans"/>
      </a:defRPr>
    </a:lvl6pPr>
    <a:lvl7pPr indent="1371600" latinLnBrk="0">
      <a:defRPr sz="1200">
        <a:latin typeface="+mn-lt"/>
        <a:ea typeface="+mn-ea"/>
        <a:cs typeface="+mn-cs"/>
        <a:sym typeface="Scala Sans"/>
      </a:defRPr>
    </a:lvl7pPr>
    <a:lvl8pPr indent="1600200" latinLnBrk="0">
      <a:defRPr sz="1200">
        <a:latin typeface="+mn-lt"/>
        <a:ea typeface="+mn-ea"/>
        <a:cs typeface="+mn-cs"/>
        <a:sym typeface="Scala Sans"/>
      </a:defRPr>
    </a:lvl8pPr>
    <a:lvl9pPr indent="1828800" latinLnBrk="0">
      <a:defRPr sz="1200">
        <a:latin typeface="+mn-lt"/>
        <a:ea typeface="+mn-ea"/>
        <a:cs typeface="+mn-cs"/>
        <a:sym typeface="Scala San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1_Title and Content">
    <p:bg>
      <p:bgPr>
        <a:solidFill>
          <a:srgbClr val="FFFFFF"/>
        </a:solidFill>
        <a:effectLst/>
      </p:bgPr>
    </p:bg>
    <p:spTree>
      <p:nvGrpSpPr>
        <p:cNvPr id="1" name=""/>
        <p:cNvGrpSpPr/>
        <p:nvPr/>
      </p:nvGrpSpPr>
      <p:grpSpPr>
        <a:xfrm>
          <a:off x="0" y="0"/>
          <a:ext cx="0" cy="0"/>
          <a:chOff x="0" y="0"/>
          <a:chExt cx="0" cy="0"/>
        </a:xfrm>
      </p:grpSpPr>
      <p:sp>
        <p:nvSpPr>
          <p:cNvPr id="22" name="Title Text"/>
          <p:cNvSpPr txBox="1">
            <a:spLocks noGrp="1"/>
          </p:cNvSpPr>
          <p:nvPr>
            <p:ph type="title"/>
          </p:nvPr>
        </p:nvSpPr>
        <p:spPr>
          <a:xfrm>
            <a:off x="0" y="-1006473"/>
            <a:ext cx="7031182" cy="812510"/>
          </a:xfrm>
          <a:prstGeom prst="rect">
            <a:avLst/>
          </a:prstGeom>
        </p:spPr>
        <p:txBody>
          <a:bodyPr/>
          <a:lstStyle>
            <a:lvl1pPr>
              <a:defRPr b="0"/>
            </a:lvl1pPr>
          </a:lstStyle>
          <a:p>
            <a:r>
              <a:t>Title Text</a:t>
            </a:r>
          </a:p>
        </p:txBody>
      </p:sp>
      <p:sp>
        <p:nvSpPr>
          <p:cNvPr id="23" name="Body Level One…"/>
          <p:cNvSpPr txBox="1">
            <a:spLocks noGrp="1"/>
          </p:cNvSpPr>
          <p:nvPr>
            <p:ph type="body" idx="1"/>
          </p:nvPr>
        </p:nvSpPr>
        <p:spPr>
          <a:xfrm>
            <a:off x="635392" y="780226"/>
            <a:ext cx="10234378" cy="5396739"/>
          </a:xfrm>
          <a:prstGeom prst="rect">
            <a:avLst/>
          </a:prstGeom>
        </p:spPr>
        <p:txBody>
          <a:bodyPr/>
          <a:lstStyle>
            <a:lvl1pPr marL="0" indent="0">
              <a:spcBef>
                <a:spcPts val="600"/>
              </a:spcBef>
              <a:buSzTx/>
              <a:buFontTx/>
              <a:buNone/>
              <a:defRPr sz="2000"/>
            </a:lvl1pPr>
            <a:lvl2pPr marL="0" indent="457200">
              <a:spcBef>
                <a:spcPts val="600"/>
              </a:spcBef>
              <a:buSzTx/>
              <a:buFontTx/>
              <a:buNone/>
              <a:defRPr sz="2000"/>
            </a:lvl2pPr>
            <a:lvl3pPr marL="0" indent="914400">
              <a:spcBef>
                <a:spcPts val="600"/>
              </a:spcBef>
              <a:buSzTx/>
              <a:buFontTx/>
              <a:buNone/>
              <a:defRPr sz="2000"/>
            </a:lvl3pPr>
            <a:lvl4pPr marL="0" indent="1371600">
              <a:spcBef>
                <a:spcPts val="600"/>
              </a:spcBef>
              <a:buSzTx/>
              <a:buFontTx/>
              <a:buNone/>
              <a:defRPr sz="2000"/>
            </a:lvl4pPr>
            <a:lvl5pPr marL="0" indent="1828800">
              <a:spcBef>
                <a:spcPts val="600"/>
              </a:spcBef>
              <a:buSzTx/>
              <a:buFontTx/>
              <a:buNone/>
              <a:defRPr sz="200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4" name="Rectangle 5"/>
          <p:cNvSpPr/>
          <p:nvPr/>
        </p:nvSpPr>
        <p:spPr>
          <a:xfrm>
            <a:off x="11328400" y="0"/>
            <a:ext cx="863600" cy="1606550"/>
          </a:xfrm>
          <a:prstGeom prst="rect">
            <a:avLst/>
          </a:prstGeom>
          <a:solidFill>
            <a:schemeClr val="accent1"/>
          </a:solidFill>
          <a:ln w="12700">
            <a:miter lim="400000"/>
          </a:ln>
        </p:spPr>
        <p:txBody>
          <a:bodyPr lIns="45719" rIns="45719" anchor="ctr"/>
          <a:lstStyle/>
          <a:p>
            <a:pPr algn="ctr" defTabSz="457200">
              <a:defRPr>
                <a:solidFill>
                  <a:srgbClr val="FFFFFF"/>
                </a:solidFill>
              </a:defRPr>
            </a:pPr>
            <a:endParaRPr/>
          </a:p>
        </p:txBody>
      </p:sp>
      <p:sp>
        <p:nvSpPr>
          <p:cNvPr id="25" name="TextBox 6"/>
          <p:cNvSpPr txBox="1"/>
          <p:nvPr/>
        </p:nvSpPr>
        <p:spPr>
          <a:xfrm rot="16200000">
            <a:off x="10114914" y="3274625"/>
            <a:ext cx="3229611"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r" defTabSz="457200">
              <a:defRPr sz="1200"/>
            </a:lvl1pPr>
          </a:lstStyle>
          <a:p>
            <a:r>
              <a:rPr dirty="0"/>
              <a:t>Medication</a:t>
            </a:r>
            <a:r>
              <a:rPr lang="en-US" dirty="0"/>
              <a:t> Safety</a:t>
            </a:r>
            <a:endParaRPr dirty="0"/>
          </a:p>
        </p:txBody>
      </p:sp>
      <p:sp>
        <p:nvSpPr>
          <p:cNvPr id="26" name="TextBox 8"/>
          <p:cNvSpPr txBox="1"/>
          <p:nvPr/>
        </p:nvSpPr>
        <p:spPr>
          <a:xfrm>
            <a:off x="11551916" y="101142"/>
            <a:ext cx="1724833" cy="701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4000">
                <a:solidFill>
                  <a:srgbClr val="FFFFFF"/>
                </a:solidFill>
              </a:defRPr>
            </a:lvl1pPr>
          </a:lstStyle>
          <a:p>
            <a:r>
              <a:rPr lang="en-US" dirty="0"/>
              <a:t>7</a:t>
            </a:r>
            <a:endParaRPr dirty="0"/>
          </a:p>
        </p:txBody>
      </p:sp>
      <p:sp>
        <p:nvSpPr>
          <p:cNvPr id="27" name="Straight Connector 12"/>
          <p:cNvSpPr/>
          <p:nvPr/>
        </p:nvSpPr>
        <p:spPr>
          <a:xfrm flipH="1" flipV="1">
            <a:off x="745066" y="6629399"/>
            <a:ext cx="10007602" cy="1"/>
          </a:xfrm>
          <a:prstGeom prst="line">
            <a:avLst/>
          </a:prstGeom>
          <a:ln w="12700">
            <a:solidFill>
              <a:schemeClr val="accent1"/>
            </a:solidFill>
            <a:miter/>
          </a:ln>
        </p:spPr>
        <p:txBody>
          <a:bodyPr lIns="45719" rIns="45719"/>
          <a:lstStyle/>
          <a:p>
            <a:endParaRPr/>
          </a:p>
        </p:txBody>
      </p:sp>
      <p:pic>
        <p:nvPicPr>
          <p:cNvPr id="28" name="Graphic 62" descr="Graphic 62"/>
          <p:cNvPicPr>
            <a:picLocks noChangeAspect="1"/>
          </p:cNvPicPr>
          <p:nvPr/>
        </p:nvPicPr>
        <p:blipFill>
          <a:blip r:embed="rId2">
            <a:extLst/>
          </a:blip>
          <a:stretch>
            <a:fillRect/>
          </a:stretch>
        </p:blipFill>
        <p:spPr>
          <a:xfrm>
            <a:off x="11041640" y="5924550"/>
            <a:ext cx="719716" cy="744742"/>
          </a:xfrm>
          <a:prstGeom prst="rect">
            <a:avLst/>
          </a:prstGeom>
          <a:ln w="12700">
            <a:miter lim="400000"/>
          </a:ln>
        </p:spPr>
      </p:pic>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1_Title Slide">
    <p:spTree>
      <p:nvGrpSpPr>
        <p:cNvPr id="1" name=""/>
        <p:cNvGrpSpPr/>
        <p:nvPr/>
      </p:nvGrpSpPr>
      <p:grpSpPr>
        <a:xfrm>
          <a:off x="0" y="0"/>
          <a:ext cx="0" cy="0"/>
          <a:chOff x="0" y="0"/>
          <a:chExt cx="0" cy="0"/>
        </a:xfrm>
      </p:grpSpPr>
      <p:pic>
        <p:nvPicPr>
          <p:cNvPr id="35" name="Picture 8" descr="Picture 8"/>
          <p:cNvPicPr>
            <a:picLocks noChangeAspect="1"/>
          </p:cNvPicPr>
          <p:nvPr/>
        </p:nvPicPr>
        <p:blipFill>
          <a:blip r:embed="rId2">
            <a:extLst/>
          </a:blip>
          <a:stretch>
            <a:fillRect/>
          </a:stretch>
        </p:blipFill>
        <p:spPr>
          <a:xfrm>
            <a:off x="4798610" y="2338648"/>
            <a:ext cx="2539592" cy="2633615"/>
          </a:xfrm>
          <a:prstGeom prst="rect">
            <a:avLst/>
          </a:prstGeom>
          <a:ln w="12700">
            <a:miter lim="400000"/>
          </a:ln>
        </p:spPr>
      </p:pic>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extBox 6"/>
          <p:cNvSpPr txBox="1"/>
          <p:nvPr/>
        </p:nvSpPr>
        <p:spPr>
          <a:xfrm>
            <a:off x="1142996" y="539293"/>
            <a:ext cx="1816274" cy="1844041"/>
          </a:xfrm>
          <a:prstGeom prst="rect">
            <a:avLst/>
          </a:prstGeom>
          <a:solidFill>
            <a:schemeClr val="accent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11500">
                <a:solidFill>
                  <a:srgbClr val="FFFFFF"/>
                </a:solidFill>
              </a:defRPr>
            </a:lvl1pPr>
          </a:lstStyle>
          <a:p>
            <a:r>
              <a:rPr lang="en-US" dirty="0"/>
              <a:t>7</a:t>
            </a:r>
            <a:endParaRPr dirty="0"/>
          </a:p>
        </p:txBody>
      </p:sp>
      <p:sp>
        <p:nvSpPr>
          <p:cNvPr id="3" name="TextBox 7"/>
          <p:cNvSpPr txBox="1"/>
          <p:nvPr/>
        </p:nvSpPr>
        <p:spPr>
          <a:xfrm>
            <a:off x="1195949" y="2062986"/>
            <a:ext cx="8625635" cy="7078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4000" b="1">
                <a:solidFill>
                  <a:srgbClr val="FFFFFF"/>
                </a:solidFill>
              </a:defRPr>
            </a:lvl1pPr>
          </a:lstStyle>
          <a:p>
            <a:r>
              <a:rPr lang="en-US" dirty="0"/>
              <a:t>Medication Safety</a:t>
            </a:r>
            <a:endParaRPr dirty="0"/>
          </a:p>
        </p:txBody>
      </p:sp>
      <p:pic>
        <p:nvPicPr>
          <p:cNvPr id="4" name="Picture 8" descr="Picture 8"/>
          <p:cNvPicPr>
            <a:picLocks noChangeAspect="1"/>
          </p:cNvPicPr>
          <p:nvPr/>
        </p:nvPicPr>
        <p:blipFill>
          <a:blip r:embed="rId5">
            <a:extLst/>
          </a:blip>
          <a:stretch>
            <a:fillRect/>
          </a:stretch>
        </p:blipFill>
        <p:spPr>
          <a:xfrm>
            <a:off x="1325042" y="4825851"/>
            <a:ext cx="1236908" cy="1282701"/>
          </a:xfrm>
          <a:prstGeom prst="rect">
            <a:avLst/>
          </a:prstGeom>
          <a:ln w="12700">
            <a:miter lim="400000"/>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n-lt"/>
          <a:ea typeface="+mn-ea"/>
          <a:cs typeface="+mn-cs"/>
          <a:sym typeface="Scala Sans"/>
        </a:defRPr>
      </a:lvl1pPr>
      <a:lvl2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n-lt"/>
          <a:ea typeface="+mn-ea"/>
          <a:cs typeface="+mn-cs"/>
          <a:sym typeface="Scala Sans"/>
        </a:defRPr>
      </a:lvl2pPr>
      <a:lvl3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n-lt"/>
          <a:ea typeface="+mn-ea"/>
          <a:cs typeface="+mn-cs"/>
          <a:sym typeface="Scala Sans"/>
        </a:defRPr>
      </a:lvl3pPr>
      <a:lvl4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n-lt"/>
          <a:ea typeface="+mn-ea"/>
          <a:cs typeface="+mn-cs"/>
          <a:sym typeface="Scala Sans"/>
        </a:defRPr>
      </a:lvl4pPr>
      <a:lvl5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n-lt"/>
          <a:ea typeface="+mn-ea"/>
          <a:cs typeface="+mn-cs"/>
          <a:sym typeface="Scala Sans"/>
        </a:defRPr>
      </a:lvl5pPr>
      <a:lvl6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n-lt"/>
          <a:ea typeface="+mn-ea"/>
          <a:cs typeface="+mn-cs"/>
          <a:sym typeface="Scala Sans"/>
        </a:defRPr>
      </a:lvl6pPr>
      <a:lvl7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n-lt"/>
          <a:ea typeface="+mn-ea"/>
          <a:cs typeface="+mn-cs"/>
          <a:sym typeface="Scala Sans"/>
        </a:defRPr>
      </a:lvl7pPr>
      <a:lvl8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n-lt"/>
          <a:ea typeface="+mn-ea"/>
          <a:cs typeface="+mn-cs"/>
          <a:sym typeface="Scala Sans"/>
        </a:defRPr>
      </a:lvl8pPr>
      <a:lvl9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n-lt"/>
          <a:ea typeface="+mn-ea"/>
          <a:cs typeface="+mn-cs"/>
          <a:sym typeface="Scala Sans"/>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cala Sans"/>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cala Sans"/>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cala Sans"/>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cala Sans"/>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cala Sans"/>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cala Sans"/>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cala Sans"/>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cala Sans"/>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cala Sans"/>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cala Sans"/>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cala Sans"/>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cala Sans"/>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cala Sans"/>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cala Sans"/>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cala Sans"/>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cala Sans"/>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cala Sans"/>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cala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3"/>
          <p:cNvSpPr txBox="1">
            <a:spLocks noGrp="1"/>
          </p:cNvSpPr>
          <p:nvPr>
            <p:ph type="title"/>
          </p:nvPr>
        </p:nvSpPr>
        <p:spPr>
          <a:xfrm>
            <a:off x="0" y="-1006473"/>
            <a:ext cx="7031181" cy="812510"/>
          </a:xfrm>
          <a:prstGeom prst="rect">
            <a:avLst/>
          </a:prstGeom>
        </p:spPr>
        <p:txBody>
          <a:bodyPr/>
          <a:lstStyle/>
          <a:p>
            <a:r>
              <a:t>LO1, content 1</a:t>
            </a:r>
          </a:p>
        </p:txBody>
      </p:sp>
      <p:sp>
        <p:nvSpPr>
          <p:cNvPr id="52" name="Content Placeholder 1"/>
          <p:cNvSpPr txBox="1">
            <a:spLocks noGrp="1"/>
          </p:cNvSpPr>
          <p:nvPr>
            <p:ph type="body" idx="1"/>
          </p:nvPr>
        </p:nvSpPr>
        <p:spPr>
          <a:xfrm>
            <a:off x="635393" y="780226"/>
            <a:ext cx="10234377" cy="5396739"/>
          </a:xfrm>
          <a:prstGeom prst="rect">
            <a:avLst/>
          </a:prstGeom>
        </p:spPr>
        <p:txBody>
          <a:bodyPr/>
          <a:lstStyle/>
          <a:p>
            <a:r>
              <a:rPr dirty="0"/>
              <a:t>Key Material 7-1: The </a:t>
            </a:r>
            <a:r>
              <a:rPr lang="en-US" dirty="0"/>
              <a:t>”Rights” of Medication Administration</a:t>
            </a:r>
          </a:p>
          <a:p>
            <a:endParaRPr lang="en-US" dirty="0"/>
          </a:p>
          <a:p>
            <a:r>
              <a:rPr lang="en-US" dirty="0"/>
              <a:t>1. </a:t>
            </a:r>
            <a:r>
              <a:rPr lang="en-US" b="1" dirty="0"/>
              <a:t>The right resident</a:t>
            </a:r>
            <a:r>
              <a:rPr lang="en-US" dirty="0"/>
              <a:t>: Check the resident’s first and last names and date of birth against the resident’s MAR and the medication label</a:t>
            </a:r>
          </a:p>
          <a:p>
            <a:r>
              <a:rPr lang="en-US" dirty="0"/>
              <a:t> </a:t>
            </a:r>
          </a:p>
          <a:p>
            <a:r>
              <a:rPr lang="en-US" dirty="0"/>
              <a:t>2. </a:t>
            </a:r>
            <a:r>
              <a:rPr lang="en-US" b="1" dirty="0"/>
              <a:t>The right medication</a:t>
            </a:r>
            <a:r>
              <a:rPr lang="en-US" dirty="0"/>
              <a:t>: Check the name of the medication against the MAR when the medication is taken out of storage, when the dose is removed from the container, and when the medication is returned to storage</a:t>
            </a:r>
          </a:p>
          <a:p>
            <a:r>
              <a:rPr lang="en-US" dirty="0"/>
              <a:t> </a:t>
            </a:r>
          </a:p>
          <a:p>
            <a:r>
              <a:rPr lang="en-US" dirty="0"/>
              <a:t>3. </a:t>
            </a:r>
            <a:r>
              <a:rPr lang="en-US" b="1" dirty="0"/>
              <a:t>The right dose</a:t>
            </a:r>
            <a:r>
              <a:rPr lang="en-US" dirty="0"/>
              <a:t>: Check that the dose to be administered matches the dose ordered, as shown on the resident’s MAR. Check that the strength of the drug matches the MAR (e.g., 325 mg acetaminophen if ordered, rather than 500 mg)</a:t>
            </a:r>
          </a:p>
          <a:p>
            <a:r>
              <a:rPr lang="en-US" dirty="0"/>
              <a:t> </a:t>
            </a:r>
            <a:endParaRPr dirty="0"/>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3"/>
          <p:cNvSpPr txBox="1">
            <a:spLocks noGrp="1"/>
          </p:cNvSpPr>
          <p:nvPr>
            <p:ph type="title"/>
          </p:nvPr>
        </p:nvSpPr>
        <p:spPr>
          <a:xfrm>
            <a:off x="0" y="-1006473"/>
            <a:ext cx="7031181" cy="812510"/>
          </a:xfrm>
          <a:prstGeom prst="rect">
            <a:avLst/>
          </a:prstGeom>
        </p:spPr>
        <p:txBody>
          <a:bodyPr/>
          <a:lstStyle/>
          <a:p>
            <a:r>
              <a:rPr dirty="0"/>
              <a:t>LO1, content </a:t>
            </a:r>
            <a:r>
              <a:rPr lang="en-US" dirty="0"/>
              <a:t>2</a:t>
            </a:r>
            <a:endParaRPr dirty="0"/>
          </a:p>
        </p:txBody>
      </p:sp>
      <p:sp>
        <p:nvSpPr>
          <p:cNvPr id="52" name="Content Placeholder 1"/>
          <p:cNvSpPr txBox="1">
            <a:spLocks noGrp="1"/>
          </p:cNvSpPr>
          <p:nvPr>
            <p:ph type="body" idx="1"/>
          </p:nvPr>
        </p:nvSpPr>
        <p:spPr>
          <a:xfrm>
            <a:off x="635393" y="780226"/>
            <a:ext cx="10234377" cy="5396739"/>
          </a:xfrm>
          <a:prstGeom prst="rect">
            <a:avLst/>
          </a:prstGeom>
        </p:spPr>
        <p:txBody>
          <a:bodyPr/>
          <a:lstStyle/>
          <a:p>
            <a:r>
              <a:rPr dirty="0"/>
              <a:t>Key Material 7-1: The </a:t>
            </a:r>
            <a:r>
              <a:rPr lang="en-US" dirty="0"/>
              <a:t>”Rights” of Medication Administration (cont’d)</a:t>
            </a:r>
          </a:p>
          <a:p>
            <a:endParaRPr lang="en-US" dirty="0"/>
          </a:p>
          <a:p>
            <a:endParaRPr lang="en-US" dirty="0"/>
          </a:p>
          <a:p>
            <a:r>
              <a:rPr lang="en-US" dirty="0"/>
              <a:t>4. </a:t>
            </a:r>
            <a:r>
              <a:rPr lang="en-US" b="1" dirty="0"/>
              <a:t>The right route</a:t>
            </a:r>
            <a:r>
              <a:rPr lang="en-US" dirty="0"/>
              <a:t>: Check that the route of administration listed on the MAR matches the route listed on the medication’s label</a:t>
            </a:r>
          </a:p>
          <a:p>
            <a:r>
              <a:rPr lang="en-US" dirty="0"/>
              <a:t> </a:t>
            </a:r>
          </a:p>
          <a:p>
            <a:r>
              <a:rPr lang="en-US" dirty="0"/>
              <a:t>5. </a:t>
            </a:r>
            <a:r>
              <a:rPr lang="en-US" b="1" dirty="0"/>
              <a:t>The right time</a:t>
            </a:r>
            <a:r>
              <a:rPr lang="en-US" dirty="0"/>
              <a:t>: Check that the time of administration is within 30–60 minutes of the time listed on the MAR</a:t>
            </a:r>
          </a:p>
          <a:p>
            <a:r>
              <a:rPr lang="en-US" dirty="0"/>
              <a:t> </a:t>
            </a:r>
          </a:p>
          <a:p>
            <a:r>
              <a:rPr lang="en-US" dirty="0"/>
              <a:t>6. </a:t>
            </a:r>
            <a:r>
              <a:rPr lang="en-US" b="1" dirty="0"/>
              <a:t>The right documentation</a:t>
            </a:r>
            <a:r>
              <a:rPr lang="en-US" dirty="0"/>
              <a:t>: Check that all required documentation is completed each time a medication is administered. Understand the documentation required for each drug administered (vital signs, reason for PRN meds, etc.)</a:t>
            </a:r>
          </a:p>
          <a:p>
            <a:r>
              <a:rPr lang="en-US" dirty="0"/>
              <a:t> </a:t>
            </a:r>
            <a:endParaRPr dirty="0"/>
          </a:p>
        </p:txBody>
      </p:sp>
    </p:spTree>
    <p:extLst>
      <p:ext uri="{BB962C8B-B14F-4D97-AF65-F5344CB8AC3E}">
        <p14:creationId xmlns:p14="http://schemas.microsoft.com/office/powerpoint/2010/main" val="287745979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itle 3"/>
          <p:cNvSpPr txBox="1">
            <a:spLocks noGrp="1"/>
          </p:cNvSpPr>
          <p:nvPr>
            <p:ph type="title"/>
          </p:nvPr>
        </p:nvSpPr>
        <p:spPr>
          <a:xfrm>
            <a:off x="0" y="-1006473"/>
            <a:ext cx="7031181" cy="812510"/>
          </a:xfrm>
          <a:prstGeom prst="rect">
            <a:avLst/>
          </a:prstGeom>
        </p:spPr>
        <p:txBody>
          <a:bodyPr/>
          <a:lstStyle/>
          <a:p>
            <a:r>
              <a:rPr dirty="0"/>
              <a:t>LO1, content </a:t>
            </a:r>
            <a:r>
              <a:rPr lang="en-US" dirty="0"/>
              <a:t>3</a:t>
            </a:r>
            <a:endParaRPr dirty="0"/>
          </a:p>
        </p:txBody>
      </p:sp>
      <p:sp>
        <p:nvSpPr>
          <p:cNvPr id="57"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a:defRPr>
                <a:solidFill>
                  <a:srgbClr val="FF0000"/>
                </a:solidFill>
              </a:defRPr>
            </a:pPr>
            <a:r>
              <a:rPr dirty="0"/>
              <a:t>Explain the “rights” of medication administration</a:t>
            </a:r>
          </a:p>
          <a:p>
            <a:endParaRPr dirty="0"/>
          </a:p>
          <a:p>
            <a:r>
              <a:rPr lang="en-US" dirty="0"/>
              <a:t>Critical Thinking: Group Activity</a:t>
            </a:r>
          </a:p>
          <a:p>
            <a:endParaRPr lang="en-US" dirty="0"/>
          </a:p>
          <a:p>
            <a:r>
              <a:rPr lang="en-US" dirty="0"/>
              <a:t>With your group, brainstorm examples of errors that could occur if the ”right” you are assigned is not checked properly. Include as many details as you can.</a:t>
            </a:r>
          </a:p>
          <a:p>
            <a:endParaRPr lang="en-US" dirty="0"/>
          </a:p>
          <a:p>
            <a:r>
              <a:rPr lang="en-US" dirty="0"/>
              <a:t>What could happen as a result?</a:t>
            </a:r>
          </a:p>
          <a:p>
            <a:endParaRPr lang="en-US" dirty="0"/>
          </a:p>
          <a:p>
            <a:r>
              <a:rPr lang="en-US" dirty="0"/>
              <a:t>How could this type of error be prevented?</a:t>
            </a:r>
            <a:endParaRPr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itle 3"/>
          <p:cNvSpPr txBox="1">
            <a:spLocks noGrp="1"/>
          </p:cNvSpPr>
          <p:nvPr>
            <p:ph type="title"/>
          </p:nvPr>
        </p:nvSpPr>
        <p:spPr>
          <a:xfrm>
            <a:off x="0" y="-1006473"/>
            <a:ext cx="7031181" cy="812510"/>
          </a:xfrm>
          <a:prstGeom prst="rect">
            <a:avLst/>
          </a:prstGeom>
        </p:spPr>
        <p:txBody>
          <a:bodyPr/>
          <a:lstStyle/>
          <a:p>
            <a:r>
              <a:t>LO2, content 1</a:t>
            </a:r>
          </a:p>
        </p:txBody>
      </p:sp>
      <p:sp>
        <p:nvSpPr>
          <p:cNvPr id="65"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2"/>
              <a:defRPr>
                <a:solidFill>
                  <a:srgbClr val="FF0000"/>
                </a:solidFill>
              </a:defRPr>
            </a:pPr>
            <a:r>
              <a:rPr dirty="0"/>
              <a:t>Identify information needed about the resident and the medication prior to administration</a:t>
            </a:r>
          </a:p>
          <a:p>
            <a:endParaRPr dirty="0"/>
          </a:p>
          <a:p>
            <a:r>
              <a:rPr lang="en-US" dirty="0"/>
              <a:t>The following information about the resident must be known before a medication is administered:</a:t>
            </a:r>
          </a:p>
          <a:p>
            <a:pPr marL="342900" indent="-342900">
              <a:buFont typeface="Arial" panose="020B0604020202020204" pitchFamily="34" charset="0"/>
              <a:buChar char="•"/>
            </a:pPr>
            <a:r>
              <a:rPr lang="en-US" dirty="0"/>
              <a:t>Name/date of birth (establish identity)</a:t>
            </a:r>
          </a:p>
          <a:p>
            <a:pPr marL="342900" indent="-342900">
              <a:buFont typeface="Arial" panose="020B0604020202020204" pitchFamily="34" charset="0"/>
              <a:buChar char="•"/>
            </a:pPr>
            <a:r>
              <a:rPr lang="en-US" dirty="0"/>
              <a:t>Any known allergies (report to nurse if allergy is not documented on the MAR)</a:t>
            </a:r>
          </a:p>
          <a:p>
            <a:pPr marL="342900" indent="-342900">
              <a:buFont typeface="Arial" panose="020B0604020202020204" pitchFamily="34" charset="0"/>
              <a:buChar char="•"/>
            </a:pPr>
            <a:r>
              <a:rPr lang="en-US" dirty="0"/>
              <a:t>Whether the resident is experiencing any new symptoms/changing condition (report to nurse)</a:t>
            </a:r>
          </a:p>
          <a:p>
            <a:pPr marL="342900" indent="-342900">
              <a:buFont typeface="Arial" panose="020B0604020202020204" pitchFamily="34" charset="0"/>
              <a:buChar char="•"/>
            </a:pPr>
            <a:r>
              <a:rPr lang="en-US" dirty="0"/>
              <a:t>Vital signs as indicated on MAR for certain medications</a:t>
            </a:r>
          </a:p>
          <a:p>
            <a:pPr marL="342900" indent="-342900">
              <a:buFont typeface="Arial" panose="020B0604020202020204" pitchFamily="34" charset="0"/>
              <a:buChar char="•"/>
            </a:pPr>
            <a:r>
              <a:rPr lang="en-US" dirty="0"/>
              <a:t>Depending on instructions for administration, MA might need to know when the resident last ate, or whether certain foods or beverages were consumed </a:t>
            </a:r>
            <a:endParaRPr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itle 3"/>
          <p:cNvSpPr txBox="1">
            <a:spLocks noGrp="1"/>
          </p:cNvSpPr>
          <p:nvPr>
            <p:ph type="title"/>
          </p:nvPr>
        </p:nvSpPr>
        <p:spPr>
          <a:xfrm>
            <a:off x="0" y="-1006473"/>
            <a:ext cx="7031181" cy="812510"/>
          </a:xfrm>
          <a:prstGeom prst="rect">
            <a:avLst/>
          </a:prstGeom>
        </p:spPr>
        <p:txBody>
          <a:bodyPr/>
          <a:lstStyle/>
          <a:p>
            <a:r>
              <a:rPr dirty="0"/>
              <a:t>LO2, content </a:t>
            </a:r>
            <a:r>
              <a:rPr lang="en-US" dirty="0"/>
              <a:t>2</a:t>
            </a:r>
            <a:endParaRPr dirty="0"/>
          </a:p>
        </p:txBody>
      </p:sp>
      <p:sp>
        <p:nvSpPr>
          <p:cNvPr id="65"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2"/>
              <a:defRPr>
                <a:solidFill>
                  <a:srgbClr val="FF0000"/>
                </a:solidFill>
              </a:defRPr>
            </a:pPr>
            <a:r>
              <a:rPr dirty="0"/>
              <a:t>Identify information needed about the resident and the medication prior to administration</a:t>
            </a:r>
          </a:p>
          <a:p>
            <a:endParaRPr dirty="0"/>
          </a:p>
          <a:p>
            <a:r>
              <a:rPr lang="en-US" dirty="0"/>
              <a:t>The following information about the medication must be known before it is administered:</a:t>
            </a:r>
          </a:p>
          <a:p>
            <a:pPr marL="342900" indent="-342900">
              <a:buFont typeface="Arial" panose="020B0604020202020204" pitchFamily="34" charset="0"/>
              <a:buChar char="•"/>
            </a:pPr>
            <a:r>
              <a:rPr lang="en-US" dirty="0"/>
              <a:t>Generic and (as applicable) brand name of the drug</a:t>
            </a:r>
          </a:p>
          <a:p>
            <a:pPr marL="342900" indent="-342900">
              <a:buFont typeface="Arial" panose="020B0604020202020204" pitchFamily="34" charset="0"/>
              <a:buChar char="•"/>
            </a:pPr>
            <a:r>
              <a:rPr lang="en-US" dirty="0"/>
              <a:t>Reason the medication was ordered (indication)</a:t>
            </a:r>
          </a:p>
          <a:p>
            <a:pPr marL="342900" indent="-342900">
              <a:buFont typeface="Arial" panose="020B0604020202020204" pitchFamily="34" charset="0"/>
              <a:buChar char="•"/>
            </a:pPr>
            <a:r>
              <a:rPr lang="en-US" dirty="0"/>
              <a:t>Effect of the drug on the body</a:t>
            </a:r>
          </a:p>
          <a:p>
            <a:pPr marL="342900" indent="-342900">
              <a:buFont typeface="Arial" panose="020B0604020202020204" pitchFamily="34" charset="0"/>
              <a:buChar char="•"/>
            </a:pPr>
            <a:r>
              <a:rPr lang="en-US" dirty="0"/>
              <a:t>Length of time for the drug to take effect</a:t>
            </a:r>
          </a:p>
          <a:p>
            <a:pPr marL="342900" indent="-342900">
              <a:buFont typeface="Arial" panose="020B0604020202020204" pitchFamily="34" charset="0"/>
              <a:buChar char="•"/>
            </a:pPr>
            <a:r>
              <a:rPr lang="en-US" dirty="0"/>
              <a:t>Common side effects</a:t>
            </a:r>
          </a:p>
          <a:p>
            <a:pPr marL="342900" indent="-342900">
              <a:buFont typeface="Arial" panose="020B0604020202020204" pitchFamily="34" charset="0"/>
              <a:buChar char="•"/>
            </a:pPr>
            <a:r>
              <a:rPr lang="en-US" dirty="0"/>
              <a:t>Known adverse effects possible (e.g., excessive bleeding with blood thinners)</a:t>
            </a:r>
          </a:p>
          <a:p>
            <a:pPr marL="342900" indent="-342900">
              <a:buFont typeface="Arial" panose="020B0604020202020204" pitchFamily="34" charset="0"/>
              <a:buChar char="•"/>
            </a:pPr>
            <a:r>
              <a:rPr lang="en-US" dirty="0"/>
              <a:t>Interactions (with medical conditions, foods, or other drugs)</a:t>
            </a:r>
          </a:p>
          <a:p>
            <a:pPr marL="342900" indent="-342900">
              <a:buFont typeface="Arial" panose="020B0604020202020204" pitchFamily="34" charset="0"/>
              <a:buChar char="•"/>
            </a:pPr>
            <a:r>
              <a:rPr lang="en-US" dirty="0"/>
              <a:t>Special instructions (timing, with food/empty stomach, etc.)</a:t>
            </a:r>
          </a:p>
        </p:txBody>
      </p:sp>
    </p:spTree>
    <p:extLst>
      <p:ext uri="{BB962C8B-B14F-4D97-AF65-F5344CB8AC3E}">
        <p14:creationId xmlns:p14="http://schemas.microsoft.com/office/powerpoint/2010/main" val="306552346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itle 3"/>
          <p:cNvSpPr txBox="1">
            <a:spLocks noGrp="1"/>
          </p:cNvSpPr>
          <p:nvPr>
            <p:ph type="title"/>
          </p:nvPr>
        </p:nvSpPr>
        <p:spPr>
          <a:xfrm>
            <a:off x="0" y="-1006473"/>
            <a:ext cx="7031181" cy="812510"/>
          </a:xfrm>
          <a:prstGeom prst="rect">
            <a:avLst/>
          </a:prstGeom>
        </p:spPr>
        <p:txBody>
          <a:bodyPr/>
          <a:lstStyle/>
          <a:p>
            <a:r>
              <a:rPr dirty="0"/>
              <a:t>LO2, content </a:t>
            </a:r>
            <a:r>
              <a:rPr lang="en-US" dirty="0"/>
              <a:t>3</a:t>
            </a:r>
            <a:endParaRPr dirty="0"/>
          </a:p>
        </p:txBody>
      </p:sp>
      <p:sp>
        <p:nvSpPr>
          <p:cNvPr id="65"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2"/>
              <a:defRPr>
                <a:solidFill>
                  <a:srgbClr val="FF0000"/>
                </a:solidFill>
              </a:defRPr>
            </a:pPr>
            <a:r>
              <a:rPr dirty="0"/>
              <a:t>Identify information needed about the resident and the medication prior to administration</a:t>
            </a:r>
          </a:p>
          <a:p>
            <a:endParaRPr dirty="0"/>
          </a:p>
          <a:p>
            <a:r>
              <a:rPr lang="en-US" dirty="0"/>
              <a:t>The following are possible sources of drug information:</a:t>
            </a:r>
          </a:p>
          <a:p>
            <a:pPr marL="342900" indent="-342900">
              <a:buFont typeface="Arial" panose="020B0604020202020204" pitchFamily="34" charset="0"/>
              <a:buChar char="•"/>
            </a:pPr>
            <a:r>
              <a:rPr lang="en-US" dirty="0"/>
              <a:t>Drug reference manuals</a:t>
            </a:r>
          </a:p>
          <a:p>
            <a:pPr marL="342900" indent="-342900">
              <a:buFont typeface="Arial" panose="020B0604020202020204" pitchFamily="34" charset="0"/>
              <a:buChar char="•"/>
            </a:pPr>
            <a:r>
              <a:rPr lang="en-US" dirty="0"/>
              <a:t>Medication package inserts</a:t>
            </a:r>
          </a:p>
          <a:p>
            <a:pPr marL="342900" indent="-342900">
              <a:buFont typeface="Arial" panose="020B0604020202020204" pitchFamily="34" charset="0"/>
              <a:buChar char="•"/>
            </a:pPr>
            <a:r>
              <a:rPr lang="en-US" dirty="0"/>
              <a:t>Some </a:t>
            </a:r>
            <a:r>
              <a:rPr lang="en-US" dirty="0" err="1"/>
              <a:t>eMAR</a:t>
            </a:r>
            <a:r>
              <a:rPr lang="en-US" dirty="0"/>
              <a:t> systems</a:t>
            </a:r>
          </a:p>
          <a:p>
            <a:pPr marL="342900" indent="-342900">
              <a:buFont typeface="Arial" panose="020B0604020202020204" pitchFamily="34" charset="0"/>
              <a:buChar char="•"/>
            </a:pPr>
            <a:r>
              <a:rPr lang="en-US" dirty="0"/>
              <a:t>Drug reference databases/websites</a:t>
            </a:r>
          </a:p>
          <a:p>
            <a:endParaRPr lang="en-US" dirty="0"/>
          </a:p>
        </p:txBody>
      </p:sp>
    </p:spTree>
    <p:extLst>
      <p:ext uri="{BB962C8B-B14F-4D97-AF65-F5344CB8AC3E}">
        <p14:creationId xmlns:p14="http://schemas.microsoft.com/office/powerpoint/2010/main" val="87759899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itle 3"/>
          <p:cNvSpPr txBox="1">
            <a:spLocks noGrp="1"/>
          </p:cNvSpPr>
          <p:nvPr>
            <p:ph type="title"/>
          </p:nvPr>
        </p:nvSpPr>
        <p:spPr>
          <a:xfrm>
            <a:off x="0" y="-1006473"/>
            <a:ext cx="7031181" cy="812510"/>
          </a:xfrm>
          <a:prstGeom prst="rect">
            <a:avLst/>
          </a:prstGeom>
        </p:spPr>
        <p:txBody>
          <a:bodyPr/>
          <a:lstStyle/>
          <a:p>
            <a:r>
              <a:rPr dirty="0"/>
              <a:t>LO2, content </a:t>
            </a:r>
            <a:r>
              <a:rPr lang="en-US" dirty="0"/>
              <a:t>4</a:t>
            </a:r>
            <a:endParaRPr dirty="0"/>
          </a:p>
        </p:txBody>
      </p:sp>
      <p:sp>
        <p:nvSpPr>
          <p:cNvPr id="65"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2"/>
              <a:defRPr>
                <a:solidFill>
                  <a:srgbClr val="FF0000"/>
                </a:solidFill>
              </a:defRPr>
            </a:pPr>
            <a:r>
              <a:rPr dirty="0"/>
              <a:t>Identify information needed about the resident and the medication prior to administration</a:t>
            </a:r>
          </a:p>
          <a:p>
            <a:endParaRPr dirty="0"/>
          </a:p>
          <a:p>
            <a:r>
              <a:rPr lang="en-US" dirty="0"/>
              <a:t>Critical Thinking: Research Activity</a:t>
            </a:r>
          </a:p>
          <a:p>
            <a:endParaRPr lang="en-US" dirty="0"/>
          </a:p>
          <a:p>
            <a:r>
              <a:rPr lang="en-US" dirty="0"/>
              <a:t>Imagine you have been assigned a new resident and must get to know this resident’s medications. </a:t>
            </a:r>
          </a:p>
          <a:p>
            <a:endParaRPr lang="en-US" dirty="0"/>
          </a:p>
          <a:p>
            <a:r>
              <a:rPr lang="en-US" dirty="0"/>
              <a:t>Look at page 50 of the textbook and answer the questions in the bulleted list for each drug listed below: </a:t>
            </a:r>
          </a:p>
          <a:p>
            <a:pPr marL="342900" indent="-342900">
              <a:buFont typeface="Arial" panose="020B0604020202020204" pitchFamily="34" charset="0"/>
              <a:buChar char="•"/>
            </a:pPr>
            <a:r>
              <a:rPr lang="en-US" dirty="0"/>
              <a:t>Lisinopril, 20 mg daily</a:t>
            </a:r>
          </a:p>
          <a:p>
            <a:pPr marL="342900" indent="-342900">
              <a:buFont typeface="Arial" panose="020B0604020202020204" pitchFamily="34" charset="0"/>
              <a:buChar char="•"/>
            </a:pPr>
            <a:r>
              <a:rPr lang="en-US" dirty="0"/>
              <a:t>Warfarin, 5 mg daily</a:t>
            </a:r>
          </a:p>
          <a:p>
            <a:pPr marL="342900" indent="-342900">
              <a:buFont typeface="Arial" panose="020B0604020202020204" pitchFamily="34" charset="0"/>
              <a:buChar char="•"/>
            </a:pPr>
            <a:r>
              <a:rPr lang="en-US" dirty="0"/>
              <a:t>Ibuprofen, 400 mg every 4 hours PRN for arthritis pain </a:t>
            </a:r>
          </a:p>
          <a:p>
            <a:endParaRPr lang="en-US" dirty="0"/>
          </a:p>
          <a:p>
            <a:r>
              <a:rPr lang="en-US" dirty="0"/>
              <a:t>Are there any questions you would have for the nurse based on your research?</a:t>
            </a:r>
          </a:p>
        </p:txBody>
      </p:sp>
    </p:spTree>
    <p:extLst>
      <p:ext uri="{BB962C8B-B14F-4D97-AF65-F5344CB8AC3E}">
        <p14:creationId xmlns:p14="http://schemas.microsoft.com/office/powerpoint/2010/main" val="58772643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itle 3"/>
          <p:cNvSpPr txBox="1">
            <a:spLocks noGrp="1"/>
          </p:cNvSpPr>
          <p:nvPr>
            <p:ph type="title"/>
          </p:nvPr>
        </p:nvSpPr>
        <p:spPr>
          <a:xfrm>
            <a:off x="0" y="-1006473"/>
            <a:ext cx="7031181" cy="812510"/>
          </a:xfrm>
          <a:prstGeom prst="rect">
            <a:avLst/>
          </a:prstGeom>
        </p:spPr>
        <p:txBody>
          <a:bodyPr/>
          <a:lstStyle/>
          <a:p>
            <a:r>
              <a:t>LO3, key terms 1</a:t>
            </a:r>
          </a:p>
        </p:txBody>
      </p:sp>
      <p:sp>
        <p:nvSpPr>
          <p:cNvPr id="69"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3"/>
              <a:defRPr>
                <a:solidFill>
                  <a:srgbClr val="FF0000"/>
                </a:solidFill>
              </a:defRPr>
            </a:pPr>
            <a:r>
              <a:rPr dirty="0"/>
              <a:t>Explain medication contraindications</a:t>
            </a:r>
          </a:p>
          <a:p>
            <a:endParaRPr dirty="0"/>
          </a:p>
          <a:p>
            <a:r>
              <a:rPr dirty="0"/>
              <a:t>Define the following term:</a:t>
            </a:r>
            <a:br>
              <a:rPr dirty="0"/>
            </a:br>
            <a:endParaRPr dirty="0"/>
          </a:p>
          <a:p>
            <a:pPr>
              <a:defRPr b="1"/>
            </a:pPr>
            <a:r>
              <a:rPr lang="en-US" dirty="0"/>
              <a:t>contraindication</a:t>
            </a:r>
            <a:endParaRPr dirty="0"/>
          </a:p>
          <a:p>
            <a:pPr lvl="1"/>
            <a:r>
              <a:rPr lang="en-US" dirty="0"/>
              <a:t>reason a medication should not be taken, or should be taken with caution. </a:t>
            </a:r>
            <a:endParaRPr dirty="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itle 3"/>
          <p:cNvSpPr txBox="1">
            <a:spLocks noGrp="1"/>
          </p:cNvSpPr>
          <p:nvPr>
            <p:ph type="title"/>
          </p:nvPr>
        </p:nvSpPr>
        <p:spPr>
          <a:xfrm>
            <a:off x="0" y="-1006473"/>
            <a:ext cx="7031181" cy="812510"/>
          </a:xfrm>
          <a:prstGeom prst="rect">
            <a:avLst/>
          </a:prstGeom>
        </p:spPr>
        <p:txBody>
          <a:bodyPr/>
          <a:lstStyle/>
          <a:p>
            <a:r>
              <a:t>LO3, content 1</a:t>
            </a:r>
          </a:p>
        </p:txBody>
      </p:sp>
      <p:sp>
        <p:nvSpPr>
          <p:cNvPr id="73"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3"/>
              <a:defRPr>
                <a:solidFill>
                  <a:srgbClr val="FF0000"/>
                </a:solidFill>
              </a:defRPr>
            </a:pPr>
            <a:r>
              <a:rPr dirty="0"/>
              <a:t>Explain medication contraindications</a:t>
            </a:r>
          </a:p>
          <a:p>
            <a:endParaRPr dirty="0"/>
          </a:p>
          <a:p>
            <a:r>
              <a:rPr lang="en-US" dirty="0"/>
              <a:t>Remember these points about indications and contraindications:</a:t>
            </a:r>
          </a:p>
          <a:p>
            <a:pPr marL="342900" indent="-342900">
              <a:buFont typeface="Arial" panose="020B0604020202020204" pitchFamily="34" charset="0"/>
              <a:buChar char="•"/>
            </a:pPr>
            <a:r>
              <a:rPr lang="en-US" dirty="0"/>
              <a:t>Indications are the reasons a medication may be taken</a:t>
            </a:r>
          </a:p>
          <a:p>
            <a:pPr marL="342900" indent="-342900">
              <a:buFont typeface="Arial" panose="020B0604020202020204" pitchFamily="34" charset="0"/>
              <a:buChar char="•"/>
            </a:pPr>
            <a:r>
              <a:rPr lang="en-US" dirty="0"/>
              <a:t>Contraindications are reasons a medication either should not be taken at all or should be taken with caution</a:t>
            </a:r>
          </a:p>
          <a:p>
            <a:pPr marL="342900" indent="-342900">
              <a:buFont typeface="Arial" panose="020B0604020202020204" pitchFamily="34" charset="0"/>
              <a:buChar char="•"/>
            </a:pPr>
            <a:r>
              <a:rPr lang="en-US" dirty="0"/>
              <a:t>Contraindications may relate to </a:t>
            </a:r>
          </a:p>
          <a:p>
            <a:pPr marL="514350" lvl="5" indent="292100">
              <a:buFont typeface="Arial" panose="020B0604020202020204" pitchFamily="34" charset="0"/>
              <a:buChar char="•"/>
            </a:pPr>
            <a:r>
              <a:rPr lang="en-US" sz="2000" dirty="0"/>
              <a:t>Resident conditions or situations</a:t>
            </a:r>
          </a:p>
          <a:p>
            <a:pPr marL="514350" lvl="5" indent="292100">
              <a:buFont typeface="Arial" panose="020B0604020202020204" pitchFamily="34" charset="0"/>
              <a:buChar char="•"/>
            </a:pPr>
            <a:r>
              <a:rPr lang="en-US" sz="2000" dirty="0"/>
              <a:t>Other medications a resident is taking</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itle 3"/>
          <p:cNvSpPr txBox="1">
            <a:spLocks noGrp="1"/>
          </p:cNvSpPr>
          <p:nvPr>
            <p:ph type="title"/>
          </p:nvPr>
        </p:nvSpPr>
        <p:spPr>
          <a:xfrm>
            <a:off x="0" y="-1006473"/>
            <a:ext cx="7031181" cy="812510"/>
          </a:xfrm>
          <a:prstGeom prst="rect">
            <a:avLst/>
          </a:prstGeom>
        </p:spPr>
        <p:txBody>
          <a:bodyPr/>
          <a:lstStyle/>
          <a:p>
            <a:r>
              <a:rPr dirty="0"/>
              <a:t>LO3, content </a:t>
            </a:r>
            <a:r>
              <a:rPr lang="en-US" dirty="0"/>
              <a:t>2</a:t>
            </a:r>
            <a:endParaRPr dirty="0"/>
          </a:p>
        </p:txBody>
      </p:sp>
      <p:sp>
        <p:nvSpPr>
          <p:cNvPr id="73"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3"/>
              <a:defRPr>
                <a:solidFill>
                  <a:srgbClr val="FF0000"/>
                </a:solidFill>
              </a:defRPr>
            </a:pPr>
            <a:r>
              <a:rPr dirty="0"/>
              <a:t>Explain medication contraindications</a:t>
            </a:r>
          </a:p>
          <a:p>
            <a:endParaRPr dirty="0"/>
          </a:p>
          <a:p>
            <a:r>
              <a:rPr lang="en-US" dirty="0"/>
              <a:t>REMEMBER:</a:t>
            </a:r>
          </a:p>
          <a:p>
            <a:endParaRPr lang="en-US" sz="2000" dirty="0"/>
          </a:p>
          <a:p>
            <a:r>
              <a:rPr lang="en-US" dirty="0"/>
              <a:t>MAs do not determine whether a resident’s medications are contraindicated for them. Understanding contraindications can help MAs know when to bring concerns to the nurse</a:t>
            </a:r>
            <a:endParaRPr lang="en-US" sz="2000" dirty="0"/>
          </a:p>
        </p:txBody>
      </p:sp>
    </p:spTree>
    <p:extLst>
      <p:ext uri="{BB962C8B-B14F-4D97-AF65-F5344CB8AC3E}">
        <p14:creationId xmlns:p14="http://schemas.microsoft.com/office/powerpoint/2010/main" val="139451228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Title 3"/>
          <p:cNvSpPr txBox="1">
            <a:spLocks noGrp="1"/>
          </p:cNvSpPr>
          <p:nvPr>
            <p:ph type="title"/>
          </p:nvPr>
        </p:nvSpPr>
        <p:spPr>
          <a:xfrm>
            <a:off x="0" y="-1006473"/>
            <a:ext cx="7031181" cy="812510"/>
          </a:xfrm>
          <a:prstGeom prst="rect">
            <a:avLst/>
          </a:prstGeom>
        </p:spPr>
        <p:txBody>
          <a:bodyPr/>
          <a:lstStyle/>
          <a:p>
            <a:r>
              <a:t>LO4, key terms 1</a:t>
            </a:r>
          </a:p>
        </p:txBody>
      </p:sp>
      <p:sp>
        <p:nvSpPr>
          <p:cNvPr id="77"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4"/>
              <a:defRPr>
                <a:solidFill>
                  <a:srgbClr val="FF0000"/>
                </a:solidFill>
              </a:defRPr>
            </a:pPr>
            <a:r>
              <a:rPr dirty="0"/>
              <a:t>Discuss safe medication storage</a:t>
            </a:r>
          </a:p>
          <a:p>
            <a:endParaRPr dirty="0"/>
          </a:p>
          <a:p>
            <a:r>
              <a:rPr dirty="0"/>
              <a:t>Define the following terms: </a:t>
            </a:r>
          </a:p>
          <a:p>
            <a:endParaRPr dirty="0"/>
          </a:p>
          <a:p>
            <a:pPr>
              <a:defRPr b="1"/>
            </a:pPr>
            <a:r>
              <a:rPr lang="en-US" dirty="0"/>
              <a:t>stock medication</a:t>
            </a:r>
            <a:endParaRPr dirty="0"/>
          </a:p>
          <a:p>
            <a:pPr marL="411163" lvl="1" indent="0"/>
            <a:r>
              <a:rPr lang="en-US" dirty="0"/>
              <a:t>over-the-counter medication kept in a facility for PRN use; some states allow facilities to also have a stock of certain prescription medications to be administered by a doctor’s order in emergency situations.</a:t>
            </a:r>
            <a:endParaRPr dirty="0"/>
          </a:p>
          <a:p>
            <a:pPr>
              <a:defRPr b="1"/>
            </a:pPr>
            <a:r>
              <a:rPr lang="en-US" dirty="0"/>
              <a:t>pass</a:t>
            </a:r>
            <a:endParaRPr dirty="0"/>
          </a:p>
          <a:p>
            <a:pPr marL="461963" lvl="1" indent="0"/>
            <a:r>
              <a:rPr lang="en-US" dirty="0"/>
              <a:t>in medication administration, the period during which medications are delivered and administered to residents.</a:t>
            </a:r>
            <a:endParaRPr dirty="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3"/>
          <p:cNvSpPr txBox="1">
            <a:spLocks noGrp="1"/>
          </p:cNvSpPr>
          <p:nvPr>
            <p:ph type="title"/>
          </p:nvPr>
        </p:nvSpPr>
        <p:spPr>
          <a:xfrm>
            <a:off x="0" y="-1006473"/>
            <a:ext cx="7031181" cy="812510"/>
          </a:xfrm>
          <a:prstGeom prst="rect">
            <a:avLst/>
          </a:prstGeom>
        </p:spPr>
        <p:txBody>
          <a:bodyPr/>
          <a:lstStyle/>
          <a:p>
            <a:r>
              <a:t>LO4, content 1</a:t>
            </a:r>
          </a:p>
        </p:txBody>
      </p:sp>
      <p:sp>
        <p:nvSpPr>
          <p:cNvPr id="81"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4"/>
              <a:defRPr>
                <a:solidFill>
                  <a:srgbClr val="FF0000"/>
                </a:solidFill>
              </a:defRPr>
            </a:pPr>
            <a:r>
              <a:rPr dirty="0"/>
              <a:t>Discuss safe medication storage</a:t>
            </a:r>
          </a:p>
          <a:p>
            <a:endParaRPr dirty="0"/>
          </a:p>
          <a:p>
            <a:r>
              <a:rPr lang="en-US" dirty="0"/>
              <a:t>Understand these points about medication storage:</a:t>
            </a:r>
          </a:p>
          <a:p>
            <a:pPr marL="342900" indent="-342900">
              <a:buFont typeface="Arial" panose="020B0604020202020204" pitchFamily="34" charset="0"/>
              <a:buChar char="•"/>
            </a:pPr>
            <a:r>
              <a:rPr lang="en-US" dirty="0"/>
              <a:t>Most facilities have a dedicated medication room</a:t>
            </a:r>
          </a:p>
          <a:p>
            <a:pPr marL="342900" indent="-342900">
              <a:buFont typeface="Arial" panose="020B0604020202020204" pitchFamily="34" charset="0"/>
              <a:buChar char="•"/>
            </a:pPr>
            <a:r>
              <a:rPr lang="en-US" dirty="0"/>
              <a:t>Medication rooms and carts must be kept locked when not in use (controlled substances are double-locked)</a:t>
            </a:r>
          </a:p>
          <a:p>
            <a:pPr marL="342900" indent="-342900">
              <a:buFont typeface="Arial" panose="020B0604020202020204" pitchFamily="34" charset="0"/>
              <a:buChar char="•"/>
            </a:pPr>
            <a:r>
              <a:rPr lang="en-US" dirty="0"/>
              <a:t>Separate storage areas are used for</a:t>
            </a:r>
          </a:p>
          <a:p>
            <a:pPr marL="857250" lvl="5" indent="-274638">
              <a:buFont typeface="Arial" panose="020B0604020202020204" pitchFamily="34" charset="0"/>
              <a:buChar char="•"/>
            </a:pPr>
            <a:r>
              <a:rPr lang="en-US" sz="2000" dirty="0"/>
              <a:t>Topical medications</a:t>
            </a:r>
          </a:p>
          <a:p>
            <a:pPr marL="857250" lvl="5" indent="-274638">
              <a:buFont typeface="Arial" panose="020B0604020202020204" pitchFamily="34" charset="0"/>
              <a:buChar char="•"/>
            </a:pPr>
            <a:r>
              <a:rPr lang="en-US" sz="2000" dirty="0"/>
              <a:t>Oral medications</a:t>
            </a:r>
          </a:p>
          <a:p>
            <a:pPr marL="857250" lvl="5" indent="-274638">
              <a:buFont typeface="Arial" panose="020B0604020202020204" pitchFamily="34" charset="0"/>
              <a:buChar char="•"/>
            </a:pPr>
            <a:r>
              <a:rPr lang="en-US" sz="2000" dirty="0"/>
              <a:t>Stock medications</a:t>
            </a:r>
          </a:p>
          <a:p>
            <a:pPr marL="342900" lvl="3" indent="-342900">
              <a:buFont typeface="Arial" panose="020B0604020202020204" pitchFamily="34" charset="0"/>
              <a:buChar char="•"/>
            </a:pPr>
            <a:r>
              <a:rPr lang="en-US" dirty="0"/>
              <a:t>Storing medications separately by route of administration can reduce medication errors and improve safety </a:t>
            </a:r>
            <a:endParaRPr dirty="0"/>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3"/>
          <p:cNvSpPr txBox="1">
            <a:spLocks noGrp="1"/>
          </p:cNvSpPr>
          <p:nvPr>
            <p:ph type="title"/>
          </p:nvPr>
        </p:nvSpPr>
        <p:spPr>
          <a:xfrm>
            <a:off x="0" y="-1006473"/>
            <a:ext cx="7031181" cy="812510"/>
          </a:xfrm>
          <a:prstGeom prst="rect">
            <a:avLst/>
          </a:prstGeom>
        </p:spPr>
        <p:txBody>
          <a:bodyPr/>
          <a:lstStyle/>
          <a:p>
            <a:r>
              <a:rPr dirty="0"/>
              <a:t>LO4, content </a:t>
            </a:r>
            <a:r>
              <a:rPr lang="en-US" dirty="0"/>
              <a:t>2</a:t>
            </a:r>
            <a:endParaRPr dirty="0"/>
          </a:p>
        </p:txBody>
      </p:sp>
      <p:sp>
        <p:nvSpPr>
          <p:cNvPr id="81"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4"/>
              <a:defRPr>
                <a:solidFill>
                  <a:srgbClr val="FF0000"/>
                </a:solidFill>
              </a:defRPr>
            </a:pPr>
            <a:r>
              <a:rPr dirty="0"/>
              <a:t>Discuss safe medication storage</a:t>
            </a:r>
          </a:p>
          <a:p>
            <a:endParaRPr dirty="0"/>
          </a:p>
          <a:p>
            <a:r>
              <a:rPr lang="en-US" dirty="0"/>
              <a:t>Improper storage can reduce the effectiveness of medications. Note the conditions in which medications should be stored:</a:t>
            </a:r>
          </a:p>
          <a:p>
            <a:pPr marL="342900" indent="-342900">
              <a:buFont typeface="Arial" panose="020B0604020202020204" pitchFamily="34" charset="0"/>
              <a:buChar char="•"/>
            </a:pPr>
            <a:r>
              <a:rPr lang="en-US" dirty="0"/>
              <a:t>Dry area</a:t>
            </a:r>
          </a:p>
          <a:p>
            <a:pPr marL="342900" indent="-342900">
              <a:buFont typeface="Arial" panose="020B0604020202020204" pitchFamily="34" charset="0"/>
              <a:buChar char="•"/>
            </a:pPr>
            <a:r>
              <a:rPr lang="en-US" dirty="0"/>
              <a:t>Away from sunlight/sources of heat</a:t>
            </a:r>
          </a:p>
          <a:p>
            <a:pPr marL="342900" indent="-342900">
              <a:buFont typeface="Arial" panose="020B0604020202020204" pitchFamily="34" charset="0"/>
              <a:buChar char="•"/>
            </a:pPr>
            <a:r>
              <a:rPr lang="en-US" dirty="0"/>
              <a:t>Room temperature (68–77 degrees F) unless instructions say otherwise</a:t>
            </a:r>
          </a:p>
          <a:p>
            <a:pPr marL="342900" indent="-342900">
              <a:buFont typeface="Arial" panose="020B0604020202020204" pitchFamily="34" charset="0"/>
              <a:buChar char="•"/>
            </a:pPr>
            <a:r>
              <a:rPr lang="en-US" dirty="0"/>
              <a:t>Refrigerated or frozen if indicated</a:t>
            </a:r>
          </a:p>
          <a:p>
            <a:pPr marL="857250" lvl="5" indent="-342900">
              <a:buFont typeface="Arial" panose="020B0604020202020204" pitchFamily="34" charset="0"/>
              <a:buChar char="•"/>
            </a:pPr>
            <a:r>
              <a:rPr lang="en-US" sz="2000" dirty="0"/>
              <a:t>Medications should be kept separate from foods/beverages</a:t>
            </a:r>
          </a:p>
          <a:p>
            <a:pPr marL="857250" lvl="5" indent="-342900">
              <a:buFont typeface="Arial" panose="020B0604020202020204" pitchFamily="34" charset="0"/>
              <a:buChar char="•"/>
            </a:pPr>
            <a:r>
              <a:rPr lang="en-US" sz="2000" dirty="0"/>
              <a:t>Medications in a refrigerator or freezer should be in a locking container</a:t>
            </a:r>
            <a:endParaRPr sz="2000" dirty="0"/>
          </a:p>
        </p:txBody>
      </p:sp>
    </p:spTree>
    <p:extLst>
      <p:ext uri="{BB962C8B-B14F-4D97-AF65-F5344CB8AC3E}">
        <p14:creationId xmlns:p14="http://schemas.microsoft.com/office/powerpoint/2010/main" val="117330043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3"/>
          <p:cNvSpPr txBox="1">
            <a:spLocks noGrp="1"/>
          </p:cNvSpPr>
          <p:nvPr>
            <p:ph type="title"/>
          </p:nvPr>
        </p:nvSpPr>
        <p:spPr>
          <a:xfrm>
            <a:off x="0" y="-1006473"/>
            <a:ext cx="7031181" cy="812510"/>
          </a:xfrm>
          <a:prstGeom prst="rect">
            <a:avLst/>
          </a:prstGeom>
        </p:spPr>
        <p:txBody>
          <a:bodyPr/>
          <a:lstStyle/>
          <a:p>
            <a:r>
              <a:rPr dirty="0"/>
              <a:t>LO4, content </a:t>
            </a:r>
            <a:r>
              <a:rPr lang="en-US" dirty="0"/>
              <a:t>3</a:t>
            </a:r>
            <a:endParaRPr dirty="0"/>
          </a:p>
        </p:txBody>
      </p:sp>
      <p:sp>
        <p:nvSpPr>
          <p:cNvPr id="81"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4"/>
              <a:defRPr>
                <a:solidFill>
                  <a:srgbClr val="FF0000"/>
                </a:solidFill>
              </a:defRPr>
            </a:pPr>
            <a:r>
              <a:rPr dirty="0"/>
              <a:t>Discuss safe medication storage</a:t>
            </a:r>
          </a:p>
          <a:p>
            <a:endParaRPr dirty="0"/>
          </a:p>
          <a:p>
            <a:r>
              <a:rPr lang="en-US" dirty="0"/>
              <a:t>Medication rooms and carts must be locked any time they are not in use:</a:t>
            </a:r>
          </a:p>
          <a:p>
            <a:pPr marL="342900" indent="-342900">
              <a:buFont typeface="Arial" panose="020B0604020202020204" pitchFamily="34" charset="0"/>
              <a:buChar char="•"/>
            </a:pPr>
            <a:r>
              <a:rPr lang="en-US" dirty="0"/>
              <a:t>Prevents confused/cognitively impaired residents from accessing medications</a:t>
            </a:r>
          </a:p>
          <a:p>
            <a:pPr marL="342900" indent="-342900">
              <a:buFont typeface="Arial" panose="020B0604020202020204" pitchFamily="34" charset="0"/>
              <a:buChar char="•"/>
            </a:pPr>
            <a:r>
              <a:rPr lang="en-US" dirty="0"/>
              <a:t>Prevents medication theft</a:t>
            </a:r>
          </a:p>
          <a:p>
            <a:pPr marL="342900" indent="-342900">
              <a:buFont typeface="Arial" panose="020B0604020202020204" pitchFamily="34" charset="0"/>
              <a:buChar char="•"/>
            </a:pPr>
            <a:r>
              <a:rPr lang="en-US" dirty="0"/>
              <a:t>Ensures that access to medications is limited to those trained to administer them properly</a:t>
            </a:r>
          </a:p>
        </p:txBody>
      </p:sp>
    </p:spTree>
    <p:extLst>
      <p:ext uri="{BB962C8B-B14F-4D97-AF65-F5344CB8AC3E}">
        <p14:creationId xmlns:p14="http://schemas.microsoft.com/office/powerpoint/2010/main" val="71054903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itle 3"/>
          <p:cNvSpPr txBox="1">
            <a:spLocks noGrp="1"/>
          </p:cNvSpPr>
          <p:nvPr>
            <p:ph type="title"/>
          </p:nvPr>
        </p:nvSpPr>
        <p:spPr>
          <a:xfrm>
            <a:off x="0" y="-1006473"/>
            <a:ext cx="7031181" cy="812510"/>
          </a:xfrm>
          <a:prstGeom prst="rect">
            <a:avLst/>
          </a:prstGeom>
        </p:spPr>
        <p:txBody>
          <a:bodyPr/>
          <a:lstStyle/>
          <a:p>
            <a:r>
              <a:t>LO5, content 1</a:t>
            </a:r>
          </a:p>
        </p:txBody>
      </p:sp>
      <p:sp>
        <p:nvSpPr>
          <p:cNvPr id="89"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5"/>
              <a:defRPr>
                <a:solidFill>
                  <a:srgbClr val="FF0000"/>
                </a:solidFill>
              </a:defRPr>
            </a:pPr>
            <a:r>
              <a:rPr dirty="0"/>
              <a:t>Describe safe medication disposal</a:t>
            </a:r>
          </a:p>
          <a:p>
            <a:endParaRPr dirty="0"/>
          </a:p>
          <a:p>
            <a:r>
              <a:rPr lang="en-US" dirty="0"/>
              <a:t>Medications may need to be destroyed or discarded in the following situations:</a:t>
            </a:r>
          </a:p>
          <a:p>
            <a:pPr marL="342900" indent="-342900">
              <a:buFont typeface="Arial" panose="020B0604020202020204" pitchFamily="34" charset="0"/>
              <a:buChar char="•"/>
            </a:pPr>
            <a:r>
              <a:rPr lang="en-US" dirty="0"/>
              <a:t>Medication is expired</a:t>
            </a:r>
          </a:p>
          <a:p>
            <a:pPr marL="342900" indent="-342900">
              <a:buFont typeface="Arial" panose="020B0604020202020204" pitchFamily="34" charset="0"/>
              <a:buChar char="•"/>
            </a:pPr>
            <a:r>
              <a:rPr lang="en-US" dirty="0"/>
              <a:t>Medication is contaminated or damaged</a:t>
            </a:r>
          </a:p>
          <a:p>
            <a:pPr marL="342900" indent="-342900">
              <a:buFont typeface="Arial" panose="020B0604020202020204" pitchFamily="34" charset="0"/>
              <a:buChar char="•"/>
            </a:pPr>
            <a:r>
              <a:rPr lang="en-US" dirty="0"/>
              <a:t>Resident develops an allergic or other adverse reaction</a:t>
            </a:r>
          </a:p>
          <a:p>
            <a:pPr marL="342900" indent="-342900">
              <a:buFont typeface="Arial" panose="020B0604020202020204" pitchFamily="34" charset="0"/>
              <a:buChar char="•"/>
            </a:pPr>
            <a:r>
              <a:rPr lang="en-US" dirty="0"/>
              <a:t>Resident’s treatment plan is changed</a:t>
            </a:r>
          </a:p>
          <a:p>
            <a:pPr marL="342900" indent="-342900">
              <a:buFont typeface="Arial" panose="020B0604020202020204" pitchFamily="34" charset="0"/>
              <a:buChar char="•"/>
            </a:pPr>
            <a:r>
              <a:rPr lang="en-US" dirty="0"/>
              <a:t>Resident refuses a medication that has already been removed from its packaging</a:t>
            </a:r>
          </a:p>
          <a:p>
            <a:pPr marL="342900" indent="-342900">
              <a:buFont typeface="Arial" panose="020B0604020202020204" pitchFamily="34" charset="0"/>
              <a:buChar char="•"/>
            </a:pPr>
            <a:r>
              <a:rPr lang="en-US" dirty="0"/>
              <a:t>Medication removed from packaging but must be held due to resident condition</a:t>
            </a:r>
          </a:p>
          <a:p>
            <a:pPr marL="342900" indent="-342900">
              <a:buFont typeface="Arial" panose="020B0604020202020204" pitchFamily="34" charset="0"/>
              <a:buChar char="•"/>
            </a:pPr>
            <a:r>
              <a:rPr lang="en-US" dirty="0"/>
              <a:t>Resident leaves a facility and return is uncertain/resident will not return</a:t>
            </a:r>
          </a:p>
          <a:p>
            <a:pPr marL="342900" indent="-342900">
              <a:buFont typeface="Arial" panose="020B0604020202020204" pitchFamily="34" charset="0"/>
              <a:buChar char="•"/>
            </a:pPr>
            <a:r>
              <a:rPr lang="en-US" dirty="0"/>
              <a:t>Resident dies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itle 3"/>
          <p:cNvSpPr txBox="1">
            <a:spLocks noGrp="1"/>
          </p:cNvSpPr>
          <p:nvPr>
            <p:ph type="title"/>
          </p:nvPr>
        </p:nvSpPr>
        <p:spPr>
          <a:xfrm>
            <a:off x="0" y="-1006473"/>
            <a:ext cx="7031181" cy="812510"/>
          </a:xfrm>
          <a:prstGeom prst="rect">
            <a:avLst/>
          </a:prstGeom>
        </p:spPr>
        <p:txBody>
          <a:bodyPr/>
          <a:lstStyle/>
          <a:p>
            <a:r>
              <a:rPr dirty="0"/>
              <a:t>LO5, content </a:t>
            </a:r>
            <a:r>
              <a:rPr lang="en-US" dirty="0"/>
              <a:t>2</a:t>
            </a:r>
            <a:endParaRPr dirty="0"/>
          </a:p>
        </p:txBody>
      </p:sp>
      <p:sp>
        <p:nvSpPr>
          <p:cNvPr id="89"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5"/>
              <a:defRPr>
                <a:solidFill>
                  <a:srgbClr val="FF0000"/>
                </a:solidFill>
              </a:defRPr>
            </a:pPr>
            <a:r>
              <a:rPr dirty="0"/>
              <a:t>Describe safe medication disposal</a:t>
            </a:r>
          </a:p>
          <a:p>
            <a:endParaRPr dirty="0"/>
          </a:p>
          <a:p>
            <a:r>
              <a:rPr lang="en-US" dirty="0"/>
              <a:t>REMEMBER:</a:t>
            </a:r>
          </a:p>
          <a:p>
            <a:endParaRPr lang="en-US" dirty="0"/>
          </a:p>
          <a:p>
            <a:r>
              <a:rPr lang="en-US" dirty="0"/>
              <a:t>States and facilities have different rules about medication disposal. Always follow laws and policies that apply where you work</a:t>
            </a:r>
          </a:p>
        </p:txBody>
      </p:sp>
    </p:spTree>
    <p:extLst>
      <p:ext uri="{BB962C8B-B14F-4D97-AF65-F5344CB8AC3E}">
        <p14:creationId xmlns:p14="http://schemas.microsoft.com/office/powerpoint/2010/main" val="7579472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itle 3"/>
          <p:cNvSpPr txBox="1">
            <a:spLocks noGrp="1"/>
          </p:cNvSpPr>
          <p:nvPr>
            <p:ph type="title"/>
          </p:nvPr>
        </p:nvSpPr>
        <p:spPr>
          <a:xfrm>
            <a:off x="0" y="-1006473"/>
            <a:ext cx="7031181" cy="812510"/>
          </a:xfrm>
          <a:prstGeom prst="rect">
            <a:avLst/>
          </a:prstGeom>
        </p:spPr>
        <p:txBody>
          <a:bodyPr/>
          <a:lstStyle/>
          <a:p>
            <a:r>
              <a:rPr dirty="0"/>
              <a:t>LO5, content </a:t>
            </a:r>
            <a:r>
              <a:rPr lang="en-US" dirty="0"/>
              <a:t>3</a:t>
            </a:r>
            <a:endParaRPr dirty="0"/>
          </a:p>
        </p:txBody>
      </p:sp>
      <p:sp>
        <p:nvSpPr>
          <p:cNvPr id="89" name="Content Placeholder 1"/>
          <p:cNvSpPr txBox="1">
            <a:spLocks noGrp="1"/>
          </p:cNvSpPr>
          <p:nvPr>
            <p:ph type="body" idx="1"/>
          </p:nvPr>
        </p:nvSpPr>
        <p:spPr>
          <a:xfrm>
            <a:off x="635393" y="780226"/>
            <a:ext cx="10234377" cy="5396739"/>
          </a:xfrm>
          <a:prstGeom prst="rect">
            <a:avLst/>
          </a:prstGeom>
        </p:spPr>
        <p:txBody>
          <a:bodyPr/>
          <a:lstStyle/>
          <a:p>
            <a:pPr marL="457200" indent="-457200">
              <a:buSzPct val="100000"/>
              <a:buAutoNum type="arabicPeriod" startAt="5"/>
              <a:defRPr>
                <a:solidFill>
                  <a:srgbClr val="FF0000"/>
                </a:solidFill>
              </a:defRPr>
            </a:pPr>
            <a:r>
              <a:rPr dirty="0"/>
              <a:t>Describe safe medication disposal</a:t>
            </a:r>
          </a:p>
          <a:p>
            <a:endParaRPr dirty="0"/>
          </a:p>
          <a:p>
            <a:r>
              <a:rPr lang="en-US" dirty="0"/>
              <a:t>Remember these points about drug disposal:</a:t>
            </a:r>
          </a:p>
          <a:p>
            <a:pPr marL="342900" indent="-342900">
              <a:buFont typeface="Arial" panose="020B0604020202020204" pitchFamily="34" charset="0"/>
              <a:buChar char="•"/>
            </a:pPr>
            <a:r>
              <a:rPr lang="en-US" dirty="0"/>
              <a:t>Facility policies may be different for disposal of one dose vs. disposal of larger quantities</a:t>
            </a:r>
          </a:p>
          <a:p>
            <a:pPr marL="342900" indent="-342900">
              <a:buFont typeface="Arial" panose="020B0604020202020204" pitchFamily="34" charset="0"/>
              <a:buChar char="•"/>
            </a:pPr>
            <a:r>
              <a:rPr lang="en-US" dirty="0"/>
              <a:t>Two healthcare workers must be present when controlled substances are discarded/destroyed </a:t>
            </a:r>
          </a:p>
          <a:p>
            <a:pPr marL="342900" indent="-342900">
              <a:buFont typeface="Arial" panose="020B0604020202020204" pitchFamily="34" charset="0"/>
              <a:buChar char="•"/>
            </a:pPr>
            <a:r>
              <a:rPr lang="en-US" dirty="0"/>
              <a:t>Documentation requirements for disposal must be followed</a:t>
            </a:r>
          </a:p>
          <a:p>
            <a:pPr marL="342900" indent="-342900">
              <a:buFont typeface="Arial" panose="020B0604020202020204" pitchFamily="34" charset="0"/>
              <a:buChar char="•"/>
            </a:pPr>
            <a:r>
              <a:rPr lang="en-US" dirty="0"/>
              <a:t>Some medications may be flushed to ensure they cannot be accessed after disposal (e.g., fentanyl patches)</a:t>
            </a:r>
          </a:p>
          <a:p>
            <a:pPr marL="342900" indent="-342900">
              <a:buFont typeface="Arial" panose="020B0604020202020204" pitchFamily="34" charset="0"/>
              <a:buChar char="•"/>
            </a:pPr>
            <a:r>
              <a:rPr lang="en-US" dirty="0"/>
              <a:t>Resident privacy must be protected when disposing of medication containers; identifying information must be marked out or otherwise destroyed </a:t>
            </a:r>
          </a:p>
        </p:txBody>
      </p:sp>
    </p:spTree>
    <p:extLst>
      <p:ext uri="{BB962C8B-B14F-4D97-AF65-F5344CB8AC3E}">
        <p14:creationId xmlns:p14="http://schemas.microsoft.com/office/powerpoint/2010/main" val="133022106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1_Office Theme">
  <a:themeElements>
    <a:clrScheme name="1_Office Theme">
      <a:dk1>
        <a:srgbClr val="000000"/>
      </a:dk1>
      <a:lt1>
        <a:srgbClr val="FFFFFF"/>
      </a:lt1>
      <a:dk2>
        <a:srgbClr val="A7A7A7"/>
      </a:dk2>
      <a:lt2>
        <a:srgbClr val="535353"/>
      </a:lt2>
      <a:accent1>
        <a:srgbClr val="329C76"/>
      </a:accent1>
      <a:accent2>
        <a:srgbClr val="B37924"/>
      </a:accent2>
      <a:accent3>
        <a:srgbClr val="E3567D"/>
      </a:accent3>
      <a:accent4>
        <a:srgbClr val="0091B9"/>
      </a:accent4>
      <a:accent5>
        <a:srgbClr val="D6BF00"/>
      </a:accent5>
      <a:accent6>
        <a:srgbClr val="934C93"/>
      </a:accent6>
      <a:hlink>
        <a:srgbClr val="0000FF"/>
      </a:hlink>
      <a:folHlink>
        <a:srgbClr val="FF00FF"/>
      </a:folHlink>
    </a:clrScheme>
    <a:fontScheme name="1_Office Theme">
      <a:majorFont>
        <a:latin typeface="Helvetica"/>
        <a:ea typeface="Helvetica"/>
        <a:cs typeface="Helvetica"/>
      </a:majorFont>
      <a:minorFont>
        <a:latin typeface="Scala Sans"/>
        <a:ea typeface="Scala Sans"/>
        <a:cs typeface="Scala Sans"/>
      </a:minorFont>
    </a:fontScheme>
    <a:fmtScheme name="1_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Office Theme">
  <a:themeElements>
    <a:clrScheme name="1_Office Theme">
      <a:dk1>
        <a:srgbClr val="000000"/>
      </a:dk1>
      <a:lt1>
        <a:srgbClr val="FFFFFF"/>
      </a:lt1>
      <a:dk2>
        <a:srgbClr val="A7A7A7"/>
      </a:dk2>
      <a:lt2>
        <a:srgbClr val="535353"/>
      </a:lt2>
      <a:accent1>
        <a:srgbClr val="329C76"/>
      </a:accent1>
      <a:accent2>
        <a:srgbClr val="B37924"/>
      </a:accent2>
      <a:accent3>
        <a:srgbClr val="E3567D"/>
      </a:accent3>
      <a:accent4>
        <a:srgbClr val="0091B9"/>
      </a:accent4>
      <a:accent5>
        <a:srgbClr val="D6BF00"/>
      </a:accent5>
      <a:accent6>
        <a:srgbClr val="934C93"/>
      </a:accent6>
      <a:hlink>
        <a:srgbClr val="0000FF"/>
      </a:hlink>
      <a:folHlink>
        <a:srgbClr val="FF00FF"/>
      </a:folHlink>
    </a:clrScheme>
    <a:fontScheme name="1_Office Theme">
      <a:majorFont>
        <a:latin typeface="Helvetica"/>
        <a:ea typeface="Helvetica"/>
        <a:cs typeface="Helvetica"/>
      </a:majorFont>
      <a:minorFont>
        <a:latin typeface="Scala Sans"/>
        <a:ea typeface="Scala Sans"/>
        <a:cs typeface="Scala Sans"/>
      </a:minorFont>
    </a:fontScheme>
    <a:fmtScheme name="1_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cala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311</TotalTime>
  <Words>1234</Words>
  <Application>Microsoft Macintosh PowerPoint</Application>
  <PresentationFormat>Widescreen</PresentationFormat>
  <Paragraphs>156</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Scala Sans</vt:lpstr>
      <vt:lpstr>1_Office Theme</vt:lpstr>
      <vt:lpstr>PowerPoint Presentation</vt:lpstr>
      <vt:lpstr>LO1, content 1</vt:lpstr>
      <vt:lpstr>LO1, content 2</vt:lpstr>
      <vt:lpstr>LO1, content 3</vt:lpstr>
      <vt:lpstr>LO2, content 1</vt:lpstr>
      <vt:lpstr>LO2, content 2</vt:lpstr>
      <vt:lpstr>LO2, content 3</vt:lpstr>
      <vt:lpstr>LO2, content 4</vt:lpstr>
      <vt:lpstr>LO3, key terms 1</vt:lpstr>
      <vt:lpstr>LO3, content 1</vt:lpstr>
      <vt:lpstr>LO3, content 2</vt:lpstr>
      <vt:lpstr>LO4, key terms 1</vt:lpstr>
      <vt:lpstr>LO4, content 1</vt:lpstr>
      <vt:lpstr>LO4, content 2</vt:lpstr>
      <vt:lpstr>LO4, content 3</vt:lpstr>
      <vt:lpstr>LO5, content 1</vt:lpstr>
      <vt:lpstr>LO5, content 2</vt:lpstr>
      <vt:lpstr>LO5, content 3</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Kristin Calderon</cp:lastModifiedBy>
  <cp:revision>29</cp:revision>
  <dcterms:modified xsi:type="dcterms:W3CDTF">2021-05-20T13:38:01Z</dcterms:modified>
</cp:coreProperties>
</file>