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4" r:id="rId2"/>
    <p:sldId id="258" r:id="rId3"/>
    <p:sldId id="336" r:id="rId4"/>
    <p:sldId id="353" r:id="rId5"/>
    <p:sldId id="354" r:id="rId6"/>
    <p:sldId id="355" r:id="rId7"/>
    <p:sldId id="356" r:id="rId8"/>
    <p:sldId id="338" r:id="rId9"/>
    <p:sldId id="357" r:id="rId10"/>
    <p:sldId id="309" r:id="rId11"/>
    <p:sldId id="271" r:id="rId12"/>
    <p:sldId id="339" r:id="rId13"/>
    <p:sldId id="358" r:id="rId14"/>
    <p:sldId id="359" r:id="rId15"/>
    <p:sldId id="360" r:id="rId16"/>
    <p:sldId id="361" r:id="rId17"/>
    <p:sldId id="363" r:id="rId18"/>
    <p:sldId id="362" r:id="rId19"/>
    <p:sldId id="364" r:id="rId20"/>
    <p:sldId id="365" r:id="rId21"/>
    <p:sldId id="366" r:id="rId22"/>
    <p:sldId id="368" r:id="rId23"/>
    <p:sldId id="367" r:id="rId24"/>
    <p:sldId id="369" r:id="rId25"/>
    <p:sldId id="308" r:id="rId26"/>
    <p:sldId id="342" r:id="rId27"/>
    <p:sldId id="370" r:id="rId28"/>
    <p:sldId id="307" r:id="rId29"/>
    <p:sldId id="345" r:id="rId30"/>
    <p:sldId id="371" r:id="rId31"/>
    <p:sldId id="372" r:id="rId32"/>
    <p:sldId id="373" r:id="rId33"/>
    <p:sldId id="374" r:id="rId34"/>
    <p:sldId id="375" r:id="rId35"/>
    <p:sldId id="376" r:id="rId36"/>
    <p:sldId id="377" r:id="rId37"/>
    <p:sldId id="352" r:id="rId38"/>
    <p:sldId id="378" r:id="rId39"/>
    <p:sldId id="25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843" autoAdjust="0"/>
    <p:restoredTop sz="94660"/>
  </p:normalViewPr>
  <p:slideViewPr>
    <p:cSldViewPr snapToGrid="0">
      <p:cViewPr varScale="1">
        <p:scale>
          <a:sx n="90" d="100"/>
          <a:sy n="90" d="100"/>
        </p:scale>
        <p:origin x="232" y="592"/>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4"/>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4"/>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4</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Medication Orders and Documentation</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644128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4"/>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2" name="Title 1">
            <a:extLst>
              <a:ext uri="{FF2B5EF4-FFF2-40B4-BE49-F238E27FC236}">
                <a16:creationId xmlns:a16="http://schemas.microsoft.com/office/drawing/2014/main" id="{76D52D40-F31B-0345-95FC-AA5345CF7111}"/>
              </a:ext>
            </a:extLst>
          </p:cNvPr>
          <p:cNvSpPr>
            <a:spLocks noGrp="1"/>
          </p:cNvSpPr>
          <p:nvPr>
            <p:ph type="title"/>
          </p:nvPr>
        </p:nvSpPr>
        <p:spPr>
          <a:xfrm>
            <a:off x="0" y="-842848"/>
            <a:ext cx="6835815" cy="676595"/>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Medication Orders and Documentation</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Scala Sans"/>
                <a:ea typeface="+mn-ea"/>
                <a:cs typeface="+mn-cs"/>
              </a:rPr>
              <a:t>4</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5/21/21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2619792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4"/>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14751903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293" y="-877885"/>
            <a:ext cx="7034213" cy="6349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5/21/21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1195212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8612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A989AE4-CEF5-B143-A9C6-667589CE906A}"/>
              </a:ext>
            </a:extLst>
          </p:cNvPr>
          <p:cNvSpPr>
            <a:spLocks noGrp="1"/>
          </p:cNvSpPr>
          <p:nvPr>
            <p:ph type="title"/>
          </p:nvPr>
        </p:nvSpPr>
        <p:spPr/>
        <p:txBody>
          <a:bodyPr>
            <a:normAutofit fontScale="90000"/>
          </a:bodyPr>
          <a:lstStyle/>
          <a:p>
            <a:r>
              <a:rPr lang="en-US" dirty="0"/>
              <a:t>Chapter 4, LO1, key terms 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different ways medications can be ordered</a:t>
            </a:r>
          </a:p>
          <a:p>
            <a:endParaRPr lang="en-US" dirty="0"/>
          </a:p>
          <a:p>
            <a:r>
              <a:rPr lang="en-US" dirty="0"/>
              <a:t>Define the following terms: </a:t>
            </a:r>
          </a:p>
          <a:p>
            <a:endParaRPr lang="en-US" dirty="0"/>
          </a:p>
          <a:p>
            <a:r>
              <a:rPr lang="en-US" b="1" dirty="0"/>
              <a:t>stat</a:t>
            </a:r>
          </a:p>
          <a:p>
            <a:pPr lvl="1"/>
            <a:r>
              <a:rPr lang="en-US" dirty="0"/>
              <a:t>in medical facilities, a designation of urgency. </a:t>
            </a:r>
          </a:p>
          <a:p>
            <a:endParaRPr lang="en-US" dirty="0"/>
          </a:p>
          <a:p>
            <a:endParaRPr lang="en-US" dirty="0">
              <a:solidFill>
                <a:srgbClr val="FF0000"/>
              </a:solidFill>
            </a:endParaRPr>
          </a:p>
        </p:txBody>
      </p:sp>
    </p:spTree>
    <p:extLst>
      <p:ext uri="{BB962C8B-B14F-4D97-AF65-F5344CB8AC3E}">
        <p14:creationId xmlns:p14="http://schemas.microsoft.com/office/powerpoint/2010/main" val="3062691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C13C8EC-E865-124F-8C88-63BC6C2D8664}"/>
              </a:ext>
            </a:extLst>
          </p:cNvPr>
          <p:cNvSpPr>
            <a:spLocks noGrp="1"/>
          </p:cNvSpPr>
          <p:nvPr>
            <p:ph type="title"/>
          </p:nvPr>
        </p:nvSpPr>
        <p:spPr/>
        <p:txBody>
          <a:bodyPr>
            <a:normAutofit fontScale="90000"/>
          </a:bodyPr>
          <a:lstStyle/>
          <a:p>
            <a:r>
              <a:rPr lang="en-US" dirty="0"/>
              <a:t>LO 1, content 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different ways medications can be ordered</a:t>
            </a:r>
          </a:p>
          <a:p>
            <a:endParaRPr lang="en-US" dirty="0"/>
          </a:p>
          <a:p>
            <a:r>
              <a:rPr lang="en-US" dirty="0"/>
              <a:t>REMEMBER:</a:t>
            </a:r>
          </a:p>
          <a:p>
            <a:endParaRPr lang="en-US" dirty="0"/>
          </a:p>
          <a:p>
            <a:r>
              <a:rPr lang="en-US" dirty="0"/>
              <a:t>Prescriptions are usually given to patients in outpatient settings (e.g., a doctor’s office) and taken to a pharmacy to fill</a:t>
            </a:r>
          </a:p>
          <a:p>
            <a:endParaRPr lang="en-US" dirty="0"/>
          </a:p>
          <a:p>
            <a:r>
              <a:rPr lang="en-US" dirty="0"/>
              <a:t>Medication orders are used in long-term care and inpatient settings; they are made by a doctor or other qualified practitioner and the medications usually prepared, packaged, and delivered by a pharmacy</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610738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C13C8EC-E865-124F-8C88-63BC6C2D8664}"/>
              </a:ext>
            </a:extLst>
          </p:cNvPr>
          <p:cNvSpPr>
            <a:spLocks noGrp="1"/>
          </p:cNvSpPr>
          <p:nvPr>
            <p:ph type="title"/>
          </p:nvPr>
        </p:nvSpPr>
        <p:spPr/>
        <p:txBody>
          <a:bodyPr>
            <a:normAutofit fontScale="90000"/>
          </a:bodyPr>
          <a:lstStyle/>
          <a:p>
            <a:r>
              <a:rPr lang="en-US" dirty="0"/>
              <a:t>LO 1, content 2</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different ways medications can be ordered</a:t>
            </a:r>
          </a:p>
          <a:p>
            <a:endParaRPr lang="en-US" dirty="0"/>
          </a:p>
          <a:p>
            <a:r>
              <a:rPr lang="en-US" dirty="0"/>
              <a:t>These practitioners are allowed to order medications in most states:</a:t>
            </a:r>
          </a:p>
          <a:p>
            <a:pPr marL="342900" indent="-342900">
              <a:buFont typeface="Arial" panose="020B0604020202020204" pitchFamily="34" charset="0"/>
              <a:buChar char="•"/>
            </a:pPr>
            <a:r>
              <a:rPr lang="en-US" dirty="0"/>
              <a:t>Physician (MD, DO)</a:t>
            </a:r>
          </a:p>
          <a:p>
            <a:pPr marL="342900" indent="-342900">
              <a:buFont typeface="Arial" panose="020B0604020202020204" pitchFamily="34" charset="0"/>
              <a:buChar char="•"/>
            </a:pPr>
            <a:r>
              <a:rPr lang="en-US" dirty="0"/>
              <a:t>Physician assistant (PA)</a:t>
            </a:r>
          </a:p>
          <a:p>
            <a:pPr marL="342900" indent="-342900">
              <a:buFont typeface="Arial" panose="020B0604020202020204" pitchFamily="34" charset="0"/>
              <a:buChar char="•"/>
            </a:pPr>
            <a:r>
              <a:rPr lang="en-US" dirty="0"/>
              <a:t>Clinical pharmacist</a:t>
            </a:r>
          </a:p>
          <a:p>
            <a:pPr marL="342900" indent="-342900">
              <a:buFont typeface="Arial" panose="020B0604020202020204" pitchFamily="34" charset="0"/>
              <a:buChar char="•"/>
            </a:pPr>
            <a:r>
              <a:rPr lang="en-US" dirty="0"/>
              <a:t>Advanced practice registered nurse (APRN)/nurse practitioner (NP)</a:t>
            </a:r>
          </a:p>
          <a:p>
            <a:pPr marL="342900" indent="-342900">
              <a:buFont typeface="Arial" panose="020B0604020202020204" pitchFamily="34" charset="0"/>
              <a:buChar char="•"/>
            </a:pPr>
            <a:r>
              <a:rPr lang="en-US" dirty="0"/>
              <a:t>Dentist</a:t>
            </a:r>
          </a:p>
          <a:p>
            <a:pPr marL="342900" indent="-342900">
              <a:buFont typeface="Arial" panose="020B0604020202020204" pitchFamily="34" charset="0"/>
              <a:buChar char="•"/>
            </a:pPr>
            <a:r>
              <a:rPr lang="en-US" dirty="0"/>
              <a:t>Optometrist</a:t>
            </a:r>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80691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C13C8EC-E865-124F-8C88-63BC6C2D8664}"/>
              </a:ext>
            </a:extLst>
          </p:cNvPr>
          <p:cNvSpPr>
            <a:spLocks noGrp="1"/>
          </p:cNvSpPr>
          <p:nvPr>
            <p:ph type="title"/>
          </p:nvPr>
        </p:nvSpPr>
        <p:spPr/>
        <p:txBody>
          <a:bodyPr>
            <a:normAutofit fontScale="90000"/>
          </a:bodyPr>
          <a:lstStyle/>
          <a:p>
            <a:r>
              <a:rPr lang="en-US" dirty="0"/>
              <a:t>LO 1, content 3</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different ways medications can be ordered</a:t>
            </a:r>
          </a:p>
          <a:p>
            <a:endParaRPr lang="en-US" dirty="0"/>
          </a:p>
          <a:p>
            <a:r>
              <a:rPr lang="en-US" dirty="0"/>
              <a:t>Not all healthcare workers are allowed to receive or transcribe (put into writing) medication orders. In most states, these are the team members who can receive medication orders:</a:t>
            </a:r>
          </a:p>
          <a:p>
            <a:pPr marL="342900" indent="-342900">
              <a:buFont typeface="Arial" panose="020B0604020202020204" pitchFamily="34" charset="0"/>
              <a:buChar char="•"/>
            </a:pPr>
            <a:r>
              <a:rPr lang="en-US" dirty="0"/>
              <a:t>Registered nurse (RN)</a:t>
            </a:r>
          </a:p>
          <a:p>
            <a:pPr marL="342900" indent="-342900">
              <a:buFont typeface="Arial" panose="020B0604020202020204" pitchFamily="34" charset="0"/>
              <a:buChar char="•"/>
            </a:pPr>
            <a:r>
              <a:rPr lang="en-US" dirty="0"/>
              <a:t>Licensed practical nurse (LPN)</a:t>
            </a:r>
          </a:p>
          <a:p>
            <a:pPr marL="342900" indent="-342900">
              <a:buFont typeface="Arial" panose="020B0604020202020204" pitchFamily="34" charset="0"/>
              <a:buChar char="•"/>
            </a:pPr>
            <a:r>
              <a:rPr lang="en-US" dirty="0"/>
              <a:t>Licensed vocational nurse (LVN)</a:t>
            </a:r>
          </a:p>
          <a:p>
            <a:pPr marL="342900" indent="-342900">
              <a:buFont typeface="Arial" panose="020B0604020202020204" pitchFamily="34" charset="0"/>
              <a:buChar char="•"/>
            </a:pPr>
            <a:r>
              <a:rPr lang="en-US" dirty="0"/>
              <a:t>Pharmacist</a:t>
            </a:r>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33496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C13C8EC-E865-124F-8C88-63BC6C2D8664}"/>
              </a:ext>
            </a:extLst>
          </p:cNvPr>
          <p:cNvSpPr>
            <a:spLocks noGrp="1"/>
          </p:cNvSpPr>
          <p:nvPr>
            <p:ph type="title"/>
          </p:nvPr>
        </p:nvSpPr>
        <p:spPr/>
        <p:txBody>
          <a:bodyPr>
            <a:normAutofit fontScale="90000"/>
          </a:bodyPr>
          <a:lstStyle/>
          <a:p>
            <a:r>
              <a:rPr lang="en-US" dirty="0"/>
              <a:t>LO 1, content 4</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different ways medications can be ordered</a:t>
            </a:r>
          </a:p>
          <a:p>
            <a:endParaRPr lang="en-US" dirty="0"/>
          </a:p>
          <a:p>
            <a:r>
              <a:rPr lang="en-US" dirty="0"/>
              <a:t>REMEMBER:</a:t>
            </a:r>
          </a:p>
          <a:p>
            <a:endParaRPr lang="en-US" dirty="0"/>
          </a:p>
          <a:p>
            <a:r>
              <a:rPr lang="en-US" dirty="0"/>
              <a:t>Medication aides should not receive </a:t>
            </a:r>
            <a:r>
              <a:rPr lang="en-US" i="1" dirty="0"/>
              <a:t>stat</a:t>
            </a:r>
            <a:r>
              <a:rPr lang="en-US" dirty="0"/>
              <a:t> medication orders or administer emergency medications</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180592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6C13C8EC-E865-124F-8C88-63BC6C2D8664}"/>
              </a:ext>
            </a:extLst>
          </p:cNvPr>
          <p:cNvSpPr>
            <a:spLocks noGrp="1"/>
          </p:cNvSpPr>
          <p:nvPr>
            <p:ph type="title"/>
          </p:nvPr>
        </p:nvSpPr>
        <p:spPr/>
        <p:txBody>
          <a:bodyPr>
            <a:normAutofit fontScale="90000"/>
          </a:bodyPr>
          <a:lstStyle/>
          <a:p>
            <a:r>
              <a:rPr lang="en-US" dirty="0"/>
              <a:t>LO 1, content 5</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different ways medications can be ordered</a:t>
            </a:r>
          </a:p>
          <a:p>
            <a:endParaRPr lang="en-US" dirty="0"/>
          </a:p>
          <a:p>
            <a:r>
              <a:rPr lang="en-US" dirty="0"/>
              <a:t>Critical Thinking: Demonstration and Discussion</a:t>
            </a:r>
          </a:p>
          <a:p>
            <a:endParaRPr lang="en-US" dirty="0"/>
          </a:p>
          <a:p>
            <a:r>
              <a:rPr lang="en-US" dirty="0"/>
              <a:t>Have you ever played “telephone”? </a:t>
            </a:r>
          </a:p>
          <a:p>
            <a:endParaRPr lang="en-US" dirty="0"/>
          </a:p>
          <a:p>
            <a:r>
              <a:rPr lang="en-US" dirty="0"/>
              <a:t>Play a round of telephone with the medication order whispered to the first student by the instructor.</a:t>
            </a:r>
          </a:p>
          <a:p>
            <a:endParaRPr lang="en-US" dirty="0"/>
          </a:p>
          <a:p>
            <a:r>
              <a:rPr lang="en-US" dirty="0"/>
              <a:t>Was the “order” correct when it got to the last person? What are some ways an order could be miscommunicated? What could this remind us about communicating about medications with other team members?</a:t>
            </a:r>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233121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6715C04-EB88-4A44-A106-ED0F9B2A0AA2}"/>
              </a:ext>
            </a:extLst>
          </p:cNvPr>
          <p:cNvSpPr>
            <a:spLocks noGrp="1"/>
          </p:cNvSpPr>
          <p:nvPr>
            <p:ph type="title"/>
          </p:nvPr>
        </p:nvSpPr>
        <p:spPr/>
        <p:txBody>
          <a:bodyPr>
            <a:normAutofit fontScale="90000"/>
          </a:bodyPr>
          <a:lstStyle/>
          <a:p>
            <a:r>
              <a:rPr lang="en-US" dirty="0"/>
              <a:t>LO2, content 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List the elements of a complete medication order</a:t>
            </a:r>
          </a:p>
          <a:p>
            <a:endParaRPr lang="en-US" dirty="0"/>
          </a:p>
          <a:p>
            <a:r>
              <a:rPr lang="en-US" dirty="0"/>
              <a:t>These are the elements of a complete medication order:</a:t>
            </a:r>
          </a:p>
          <a:p>
            <a:pPr marL="342900" indent="-342900">
              <a:buFont typeface="Arial" panose="020B0604020202020204" pitchFamily="34" charset="0"/>
              <a:buChar char="•"/>
            </a:pPr>
            <a:r>
              <a:rPr lang="en-US" dirty="0"/>
              <a:t>Identification of resident and prescriber</a:t>
            </a:r>
          </a:p>
          <a:p>
            <a:pPr marL="342900" indent="-342900">
              <a:buFont typeface="Arial" panose="020B0604020202020204" pitchFamily="34" charset="0"/>
              <a:buChar char="•"/>
            </a:pPr>
            <a:r>
              <a:rPr lang="en-US" dirty="0"/>
              <a:t>Drug name</a:t>
            </a:r>
          </a:p>
          <a:p>
            <a:pPr marL="342900" indent="-342900">
              <a:buFont typeface="Arial" panose="020B0604020202020204" pitchFamily="34" charset="0"/>
              <a:buChar char="•"/>
            </a:pPr>
            <a:r>
              <a:rPr lang="en-US" dirty="0"/>
              <a:t>Strength</a:t>
            </a:r>
          </a:p>
          <a:p>
            <a:pPr marL="342900" indent="-342900">
              <a:buFont typeface="Arial" panose="020B0604020202020204" pitchFamily="34" charset="0"/>
              <a:buChar char="•"/>
            </a:pPr>
            <a:r>
              <a:rPr lang="en-US" dirty="0"/>
              <a:t>Dosage form</a:t>
            </a:r>
          </a:p>
          <a:p>
            <a:pPr marL="342900" indent="-342900">
              <a:buFont typeface="Arial" panose="020B0604020202020204" pitchFamily="34" charset="0"/>
              <a:buChar char="•"/>
            </a:pPr>
            <a:r>
              <a:rPr lang="en-US" dirty="0"/>
              <a:t>Dose</a:t>
            </a:r>
          </a:p>
          <a:p>
            <a:pPr marL="342900" indent="-342900">
              <a:buFont typeface="Arial" panose="020B0604020202020204" pitchFamily="34" charset="0"/>
              <a:buChar char="•"/>
            </a:pPr>
            <a:r>
              <a:rPr lang="en-US" dirty="0"/>
              <a:t>Directions for use</a:t>
            </a:r>
          </a:p>
          <a:p>
            <a:pPr marL="342900" indent="-342900">
              <a:buFont typeface="Arial" panose="020B0604020202020204" pitchFamily="34" charset="0"/>
              <a:buChar char="•"/>
            </a:pPr>
            <a:r>
              <a:rPr lang="en-US" dirty="0"/>
              <a:t>Refills</a:t>
            </a:r>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868062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6715C04-EB88-4A44-A106-ED0F9B2A0AA2}"/>
              </a:ext>
            </a:extLst>
          </p:cNvPr>
          <p:cNvSpPr>
            <a:spLocks noGrp="1"/>
          </p:cNvSpPr>
          <p:nvPr>
            <p:ph type="title"/>
          </p:nvPr>
        </p:nvSpPr>
        <p:spPr/>
        <p:txBody>
          <a:bodyPr>
            <a:normAutofit fontScale="90000"/>
          </a:bodyPr>
          <a:lstStyle/>
          <a:p>
            <a:r>
              <a:rPr lang="en-US" dirty="0"/>
              <a:t>LO2, content 2</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List the elements of a complete medication order</a:t>
            </a:r>
          </a:p>
          <a:p>
            <a:endParaRPr lang="en-US" dirty="0"/>
          </a:p>
          <a:p>
            <a:r>
              <a:rPr lang="en-US" dirty="0"/>
              <a:t>Medication orders establish the “rights” of medication administration:</a:t>
            </a:r>
          </a:p>
          <a:p>
            <a:pPr marL="342900" indent="-342900">
              <a:buFont typeface="Arial" panose="020B0604020202020204" pitchFamily="34" charset="0"/>
              <a:buChar char="•"/>
            </a:pPr>
            <a:r>
              <a:rPr lang="en-US" dirty="0"/>
              <a:t>Right patient (resident)</a:t>
            </a:r>
          </a:p>
          <a:p>
            <a:pPr marL="342900" indent="-342900">
              <a:buFont typeface="Arial" panose="020B0604020202020204" pitchFamily="34" charset="0"/>
              <a:buChar char="•"/>
            </a:pPr>
            <a:r>
              <a:rPr lang="en-US" dirty="0"/>
              <a:t>Right drug</a:t>
            </a:r>
          </a:p>
          <a:p>
            <a:pPr marL="342900" indent="-342900">
              <a:buFont typeface="Arial" panose="020B0604020202020204" pitchFamily="34" charset="0"/>
              <a:buChar char="•"/>
            </a:pPr>
            <a:r>
              <a:rPr lang="en-US" dirty="0"/>
              <a:t>Right dose</a:t>
            </a:r>
          </a:p>
          <a:p>
            <a:pPr marL="342900" indent="-342900">
              <a:buFont typeface="Arial" panose="020B0604020202020204" pitchFamily="34" charset="0"/>
              <a:buChar char="•"/>
            </a:pPr>
            <a:r>
              <a:rPr lang="en-US" dirty="0"/>
              <a:t>Right route</a:t>
            </a:r>
          </a:p>
          <a:p>
            <a:pPr marL="342900" indent="-342900">
              <a:buFont typeface="Arial" panose="020B0604020202020204" pitchFamily="34" charset="0"/>
              <a:buChar char="•"/>
            </a:pPr>
            <a:r>
              <a:rPr lang="en-US" dirty="0"/>
              <a:t>Right time</a:t>
            </a:r>
          </a:p>
          <a:p>
            <a:pPr marL="342900" indent="-342900">
              <a:buFont typeface="Arial" panose="020B0604020202020204" pitchFamily="34" charset="0"/>
              <a:buChar char="•"/>
            </a:pPr>
            <a:endParaRPr lang="en-US" dirty="0"/>
          </a:p>
          <a:p>
            <a:r>
              <a:rPr lang="en-US" dirty="0"/>
              <a:t>Chapter 7 includes more information on these and other “rights” </a:t>
            </a:r>
          </a:p>
          <a:p>
            <a:endParaRPr lang="en-US" dirty="0"/>
          </a:p>
          <a:p>
            <a:endParaRPr lang="en-US" dirty="0">
              <a:solidFill>
                <a:srgbClr val="FF0000"/>
              </a:solidFill>
            </a:endParaRPr>
          </a:p>
        </p:txBody>
      </p:sp>
    </p:spTree>
    <p:extLst>
      <p:ext uri="{BB962C8B-B14F-4D97-AF65-F5344CB8AC3E}">
        <p14:creationId xmlns:p14="http://schemas.microsoft.com/office/powerpoint/2010/main" val="250706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8862B10-B647-E446-BAF7-B6EE2EB8A63E}"/>
              </a:ext>
            </a:extLst>
          </p:cNvPr>
          <p:cNvSpPr>
            <a:spLocks noGrp="1"/>
          </p:cNvSpPr>
          <p:nvPr>
            <p:ph type="title"/>
          </p:nvPr>
        </p:nvSpPr>
        <p:spPr/>
        <p:txBody>
          <a:bodyPr>
            <a:normAutofit fontScale="90000"/>
          </a:bodyPr>
          <a:lstStyle/>
          <a:p>
            <a:r>
              <a:rPr lang="en-US" dirty="0"/>
              <a:t>LO3, key terms 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Define the following terms: </a:t>
            </a:r>
          </a:p>
          <a:p>
            <a:endParaRPr lang="en-US" dirty="0"/>
          </a:p>
          <a:p>
            <a:r>
              <a:rPr lang="en-US" b="1" dirty="0"/>
              <a:t>medication administration record (MAR)</a:t>
            </a:r>
          </a:p>
          <a:p>
            <a:pPr lvl="1"/>
            <a:r>
              <a:rPr lang="en-US" dirty="0"/>
              <a:t>a permanent part of a resident’s medical record detailing all medications the resident receives.</a:t>
            </a:r>
          </a:p>
          <a:p>
            <a:r>
              <a:rPr lang="en-US" b="1" dirty="0" err="1"/>
              <a:t>eMAR</a:t>
            </a:r>
            <a:endParaRPr lang="en-US" b="1" dirty="0"/>
          </a:p>
          <a:p>
            <a:pPr lvl="1"/>
            <a:r>
              <a:rPr lang="en-US" dirty="0"/>
              <a:t>electronic version of a resident’s medication record.</a:t>
            </a:r>
          </a:p>
          <a:p>
            <a:endParaRPr lang="en-US" dirty="0"/>
          </a:p>
          <a:p>
            <a:endParaRPr lang="en-US" dirty="0">
              <a:solidFill>
                <a:srgbClr val="FF0000"/>
              </a:solidFill>
            </a:endParaRPr>
          </a:p>
        </p:txBody>
      </p:sp>
    </p:spTree>
    <p:extLst>
      <p:ext uri="{BB962C8B-B14F-4D97-AF65-F5344CB8AC3E}">
        <p14:creationId xmlns:p14="http://schemas.microsoft.com/office/powerpoint/2010/main" val="375124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9BD2900F-8089-ED4C-9F42-3FB838877ECA}"/>
              </a:ext>
            </a:extLst>
          </p:cNvPr>
          <p:cNvSpPr>
            <a:spLocks noGrp="1"/>
          </p:cNvSpPr>
          <p:nvPr>
            <p:ph type="title"/>
          </p:nvPr>
        </p:nvSpPr>
        <p:spPr/>
        <p:txBody>
          <a:bodyPr>
            <a:normAutofit fontScale="90000"/>
          </a:bodyPr>
          <a:lstStyle/>
          <a:p>
            <a:r>
              <a:rPr lang="en-US" dirty="0"/>
              <a:t>LO3, content 1 </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4-1: 24-Hour Clock</a:t>
            </a:r>
          </a:p>
          <a:p>
            <a:endParaRPr lang="en-US" dirty="0"/>
          </a:p>
          <a:p>
            <a:endParaRPr lang="en-US" dirty="0"/>
          </a:p>
        </p:txBody>
      </p:sp>
      <p:pic>
        <p:nvPicPr>
          <p:cNvPr id="6" name="Picture 5" descr="Clock face showing standard and 24-hour times">
            <a:extLst>
              <a:ext uri="{FF2B5EF4-FFF2-40B4-BE49-F238E27FC236}">
                <a16:creationId xmlns:a16="http://schemas.microsoft.com/office/drawing/2014/main" id="{58C86D8E-8704-5141-90B0-57295D05DA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7907" y="1465264"/>
            <a:ext cx="4724400" cy="4711700"/>
          </a:xfrm>
          <a:prstGeom prst="rect">
            <a:avLst/>
          </a:prstGeom>
        </p:spPr>
      </p:pic>
    </p:spTree>
    <p:extLst>
      <p:ext uri="{BB962C8B-B14F-4D97-AF65-F5344CB8AC3E}">
        <p14:creationId xmlns:p14="http://schemas.microsoft.com/office/powerpoint/2010/main" val="3524554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2</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Remember the following when documenting using the 24-hour clock (sometimes called </a:t>
            </a:r>
            <a:r>
              <a:rPr lang="en-US" i="1" dirty="0"/>
              <a:t>military time</a:t>
            </a:r>
            <a:r>
              <a:rPr lang="en-US" dirty="0"/>
              <a:t>):</a:t>
            </a:r>
          </a:p>
          <a:p>
            <a:pPr marL="342900" indent="-342900">
              <a:buFont typeface="Arial" panose="020B0604020202020204" pitchFamily="34" charset="0"/>
              <a:buChar char="•"/>
            </a:pPr>
            <a:r>
              <a:rPr lang="en-US" dirty="0"/>
              <a:t>To change the regular hours between 1:00 p.m. and 11:59 p.m. to military time, add 12 to the regular time</a:t>
            </a:r>
          </a:p>
          <a:p>
            <a:pPr marL="342900" indent="-342900">
              <a:buFont typeface="Arial" panose="020B0604020202020204" pitchFamily="34" charset="0"/>
              <a:buChar char="•"/>
            </a:pPr>
            <a:r>
              <a:rPr lang="en-US" dirty="0"/>
              <a:t>To change from military time to regular time, subtract 12</a:t>
            </a:r>
          </a:p>
          <a:p>
            <a:pPr marL="342900" indent="-342900">
              <a:buFont typeface="Arial" panose="020B0604020202020204" pitchFamily="34" charset="0"/>
              <a:buChar char="•"/>
            </a:pPr>
            <a:r>
              <a:rPr lang="en-US" dirty="0"/>
              <a:t>Minutes and seconds do not change</a:t>
            </a:r>
          </a:p>
          <a:p>
            <a:pPr marL="342900" indent="-342900">
              <a:buFont typeface="Arial" panose="020B0604020202020204" pitchFamily="34" charset="0"/>
              <a:buChar char="•"/>
            </a:pPr>
            <a:r>
              <a:rPr lang="en-US" dirty="0"/>
              <a:t>Midnight may be written as 0000 or 2400; follow facility policy</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3766237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3</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Key points about the MAR:</a:t>
            </a:r>
          </a:p>
          <a:p>
            <a:pPr marL="342900" indent="-342900">
              <a:buFont typeface="Arial" panose="020B0604020202020204" pitchFamily="34" charset="0"/>
              <a:buChar char="•"/>
            </a:pPr>
            <a:r>
              <a:rPr lang="en-US" dirty="0"/>
              <a:t>It is a legal record of the medications a resident receives</a:t>
            </a:r>
          </a:p>
          <a:p>
            <a:pPr marL="342900" indent="-342900">
              <a:buFont typeface="Arial" panose="020B0604020202020204" pitchFamily="34" charset="0"/>
              <a:buChar char="•"/>
            </a:pPr>
            <a:r>
              <a:rPr lang="en-US" dirty="0"/>
              <a:t>It provides information for decisions about a resident’s care</a:t>
            </a:r>
          </a:p>
          <a:p>
            <a:pPr marL="342900" indent="-342900">
              <a:buFont typeface="Arial" panose="020B0604020202020204" pitchFamily="34" charset="0"/>
              <a:buChar char="•"/>
            </a:pPr>
            <a:r>
              <a:rPr lang="en-US" dirty="0"/>
              <a:t>Careful documentation in the MAR ensures resident safety</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2443577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9BD2900F-8089-ED4C-9F42-3FB838877ECA}"/>
              </a:ext>
            </a:extLst>
          </p:cNvPr>
          <p:cNvSpPr>
            <a:spLocks noGrp="1"/>
          </p:cNvSpPr>
          <p:nvPr>
            <p:ph type="title"/>
          </p:nvPr>
        </p:nvSpPr>
        <p:spPr/>
        <p:txBody>
          <a:bodyPr>
            <a:normAutofit fontScale="90000"/>
          </a:bodyPr>
          <a:lstStyle/>
          <a:p>
            <a:r>
              <a:rPr lang="en-US" dirty="0"/>
              <a:t>LO3, content 4 </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4-2: Medication Administration Record (MAR)</a:t>
            </a:r>
          </a:p>
          <a:p>
            <a:endParaRPr lang="en-US" dirty="0"/>
          </a:p>
        </p:txBody>
      </p:sp>
      <p:pic>
        <p:nvPicPr>
          <p:cNvPr id="8" name="Picture 7" descr="first page of completed medication administration record">
            <a:extLst>
              <a:ext uri="{FF2B5EF4-FFF2-40B4-BE49-F238E27FC236}">
                <a16:creationId xmlns:a16="http://schemas.microsoft.com/office/drawing/2014/main" id="{DBBE1CD7-82C5-5347-8374-C383B414B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0832" y="1047749"/>
            <a:ext cx="7488767" cy="5544961"/>
          </a:xfrm>
          <a:prstGeom prst="rect">
            <a:avLst/>
          </a:prstGeom>
        </p:spPr>
      </p:pic>
    </p:spTree>
    <p:extLst>
      <p:ext uri="{BB962C8B-B14F-4D97-AF65-F5344CB8AC3E}">
        <p14:creationId xmlns:p14="http://schemas.microsoft.com/office/powerpoint/2010/main" val="1125896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9BD2900F-8089-ED4C-9F42-3FB838877ECA}"/>
              </a:ext>
            </a:extLst>
          </p:cNvPr>
          <p:cNvSpPr>
            <a:spLocks noGrp="1"/>
          </p:cNvSpPr>
          <p:nvPr>
            <p:ph type="title"/>
          </p:nvPr>
        </p:nvSpPr>
        <p:spPr/>
        <p:txBody>
          <a:bodyPr>
            <a:normAutofit fontScale="90000"/>
          </a:bodyPr>
          <a:lstStyle/>
          <a:p>
            <a:r>
              <a:rPr lang="en-US" dirty="0"/>
              <a:t>LO3, content 5 </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4-2: Medication Administration Record (MAR) (cont’d)</a:t>
            </a:r>
          </a:p>
          <a:p>
            <a:endParaRPr lang="en-US" dirty="0"/>
          </a:p>
        </p:txBody>
      </p:sp>
      <p:pic>
        <p:nvPicPr>
          <p:cNvPr id="8" name="Picture 7" descr="second page of medication administration record, including PRN medications">
            <a:extLst>
              <a:ext uri="{FF2B5EF4-FFF2-40B4-BE49-F238E27FC236}">
                <a16:creationId xmlns:a16="http://schemas.microsoft.com/office/drawing/2014/main" id="{57BA3A07-DCC5-BB4D-9F39-2349332DBD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4597" y="1172475"/>
            <a:ext cx="6675967" cy="5472104"/>
          </a:xfrm>
          <a:prstGeom prst="rect">
            <a:avLst/>
          </a:prstGeom>
        </p:spPr>
      </p:pic>
    </p:spTree>
    <p:extLst>
      <p:ext uri="{BB962C8B-B14F-4D97-AF65-F5344CB8AC3E}">
        <p14:creationId xmlns:p14="http://schemas.microsoft.com/office/powerpoint/2010/main" val="3285374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6</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All of this information is found on the MAR:</a:t>
            </a:r>
          </a:p>
          <a:p>
            <a:pPr marL="342900" indent="-342900">
              <a:buFont typeface="Arial" panose="020B0604020202020204" pitchFamily="34" charset="0"/>
              <a:buChar char="•"/>
            </a:pPr>
            <a:r>
              <a:rPr lang="en-US" dirty="0"/>
              <a:t>Drug name and dosage</a:t>
            </a:r>
          </a:p>
          <a:p>
            <a:pPr marL="342900" indent="-342900">
              <a:buFont typeface="Arial" panose="020B0604020202020204" pitchFamily="34" charset="0"/>
              <a:buChar char="•"/>
            </a:pPr>
            <a:r>
              <a:rPr lang="en-US" dirty="0"/>
              <a:t>How often the resident receives the medication</a:t>
            </a:r>
          </a:p>
          <a:p>
            <a:pPr marL="342900" indent="-342900">
              <a:buFont typeface="Arial" panose="020B0604020202020204" pitchFamily="34" charset="0"/>
              <a:buChar char="•"/>
            </a:pPr>
            <a:r>
              <a:rPr lang="en-US" dirty="0"/>
              <a:t>Route of administration and any special instructions for administration</a:t>
            </a:r>
          </a:p>
          <a:p>
            <a:pPr marL="342900" indent="-342900">
              <a:buFont typeface="Arial" panose="020B0604020202020204" pitchFamily="34" charset="0"/>
              <a:buChar char="•"/>
            </a:pPr>
            <a:r>
              <a:rPr lang="en-US" dirty="0"/>
              <a:t>Start date and time and stop date and time, as applicable</a:t>
            </a:r>
          </a:p>
          <a:p>
            <a:pPr marL="342900" indent="-342900">
              <a:buFont typeface="Arial" panose="020B0604020202020204" pitchFamily="34" charset="0"/>
              <a:buChar char="•"/>
            </a:pPr>
            <a:r>
              <a:rPr lang="en-US" dirty="0"/>
              <a:t>For PRN medications, indications for the medication (when it should be received/for what reasons)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2587013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9BD2900F-8089-ED4C-9F42-3FB838877ECA}"/>
              </a:ext>
            </a:extLst>
          </p:cNvPr>
          <p:cNvSpPr>
            <a:spLocks noGrp="1"/>
          </p:cNvSpPr>
          <p:nvPr>
            <p:ph type="title"/>
          </p:nvPr>
        </p:nvSpPr>
        <p:spPr/>
        <p:txBody>
          <a:bodyPr>
            <a:normAutofit fontScale="90000"/>
          </a:bodyPr>
          <a:lstStyle/>
          <a:p>
            <a:r>
              <a:rPr lang="en-US" dirty="0"/>
              <a:t>LO3, content 7 </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normAutofit/>
          </a:bodyPr>
          <a:lstStyle/>
          <a:p>
            <a:r>
              <a:rPr lang="en-US" dirty="0"/>
              <a:t>Key Material 4-3: </a:t>
            </a:r>
            <a:r>
              <a:rPr lang="en-US" dirty="0" err="1"/>
              <a:t>eMAR</a:t>
            </a:r>
            <a:r>
              <a:rPr lang="en-US" dirty="0"/>
              <a:t> (courtesy of Catalyst Healthcare)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6" name="Picture 5" descr="example of electronic medication administration record">
            <a:extLst>
              <a:ext uri="{FF2B5EF4-FFF2-40B4-BE49-F238E27FC236}">
                <a16:creationId xmlns:a16="http://schemas.microsoft.com/office/drawing/2014/main" id="{B409A99B-54B1-9743-AEAF-B73B84AF38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051" y="1138704"/>
            <a:ext cx="8883059" cy="5140750"/>
          </a:xfrm>
          <a:prstGeom prst="rect">
            <a:avLst/>
          </a:prstGeom>
        </p:spPr>
      </p:pic>
    </p:spTree>
    <p:extLst>
      <p:ext uri="{BB962C8B-B14F-4D97-AF65-F5344CB8AC3E}">
        <p14:creationId xmlns:p14="http://schemas.microsoft.com/office/powerpoint/2010/main" val="4083798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8</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Note the following features of </a:t>
            </a:r>
            <a:r>
              <a:rPr lang="en-US" dirty="0" err="1"/>
              <a:t>eMAR</a:t>
            </a:r>
            <a:r>
              <a:rPr lang="en-US" dirty="0"/>
              <a:t> systems:</a:t>
            </a:r>
          </a:p>
          <a:p>
            <a:pPr marL="342900" indent="-342900">
              <a:buFont typeface="Arial" panose="020B0604020202020204" pitchFamily="34" charset="0"/>
              <a:buChar char="•"/>
            </a:pPr>
            <a:r>
              <a:rPr lang="en-US" dirty="0"/>
              <a:t>May include a photo of the resident to aid identification</a:t>
            </a:r>
          </a:p>
          <a:p>
            <a:pPr marL="342900" indent="-342900">
              <a:buFont typeface="Arial" panose="020B0604020202020204" pitchFamily="34" charset="0"/>
              <a:buChar char="•"/>
            </a:pPr>
            <a:r>
              <a:rPr lang="en-US" dirty="0"/>
              <a:t>May include photos of the medication</a:t>
            </a:r>
          </a:p>
          <a:p>
            <a:pPr marL="342900" indent="-342900">
              <a:buFont typeface="Arial" panose="020B0604020202020204" pitchFamily="34" charset="0"/>
              <a:buChar char="•"/>
            </a:pPr>
            <a:r>
              <a:rPr lang="en-US" dirty="0"/>
              <a:t>May include information regarding side effects or other important points regarding ordered drugs</a:t>
            </a:r>
          </a:p>
          <a:p>
            <a:pPr marL="342900" indent="-342900">
              <a:buFont typeface="Arial" panose="020B0604020202020204" pitchFamily="34" charset="0"/>
              <a:buChar char="•"/>
            </a:pPr>
            <a:r>
              <a:rPr lang="en-US" dirty="0"/>
              <a:t>Some </a:t>
            </a:r>
            <a:r>
              <a:rPr lang="en-US" dirty="0" err="1"/>
              <a:t>eMAR</a:t>
            </a:r>
            <a:r>
              <a:rPr lang="en-US" dirty="0"/>
              <a:t> systems include links to detailed drug reference information</a:t>
            </a:r>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234521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9</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Remember these points about documenting on the MAR:</a:t>
            </a:r>
          </a:p>
          <a:p>
            <a:pPr marL="342900" indent="-342900">
              <a:buFont typeface="Arial" panose="020B0604020202020204" pitchFamily="34" charset="0"/>
              <a:buChar char="•"/>
            </a:pPr>
            <a:r>
              <a:rPr lang="en-US" dirty="0"/>
              <a:t>Every medication administered must be initialed by the MA (</a:t>
            </a:r>
            <a:r>
              <a:rPr lang="en-US" dirty="0" err="1"/>
              <a:t>eMAR</a:t>
            </a:r>
            <a:r>
              <a:rPr lang="en-US" dirty="0"/>
              <a:t> systems vary, but all will incorporate a method for confirming administration)</a:t>
            </a:r>
          </a:p>
          <a:p>
            <a:pPr marL="342900" indent="-342900">
              <a:buFont typeface="Arial" panose="020B0604020202020204" pitchFamily="34" charset="0"/>
              <a:buChar char="•"/>
            </a:pPr>
            <a:r>
              <a:rPr lang="en-US" dirty="0"/>
              <a:t>Some medications require that vital signs (e.g., blood pressure, pulse) be measured before administration; these measurements must also be documented</a:t>
            </a:r>
          </a:p>
          <a:p>
            <a:pPr marL="342900" indent="-342900">
              <a:buFont typeface="Arial" panose="020B0604020202020204" pitchFamily="34" charset="0"/>
              <a:buChar char="•"/>
            </a:pPr>
            <a:r>
              <a:rPr lang="en-US" dirty="0"/>
              <a:t>If a dose is refused or not given for any other reason, this must be documented and reported to the nurse</a:t>
            </a:r>
          </a:p>
          <a:p>
            <a:pPr marL="342900" indent="-342900">
              <a:buFont typeface="Arial" panose="020B0604020202020204" pitchFamily="34" charset="0"/>
              <a:buChar char="•"/>
            </a:pPr>
            <a:r>
              <a:rPr lang="en-US" dirty="0"/>
              <a:t>MAs should follow facility policy for documenting PRN medications; in most cases a follow-up entry about the effects of the medication is required</a:t>
            </a:r>
          </a:p>
          <a:p>
            <a:pPr marL="342900" indent="-342900">
              <a:buFont typeface="Arial" panose="020B0604020202020204" pitchFamily="34" charset="0"/>
              <a:buChar char="•"/>
            </a:pPr>
            <a:r>
              <a:rPr lang="en-US" dirty="0"/>
              <a:t>All documentation of resident care must be completed when care is provided</a:t>
            </a:r>
          </a:p>
          <a:p>
            <a:pPr marL="342900" indent="-342900">
              <a:buFont typeface="Arial" panose="020B0604020202020204" pitchFamily="34" charset="0"/>
              <a:buChar char="•"/>
            </a:pPr>
            <a:r>
              <a:rPr lang="en-US" dirty="0"/>
              <a:t>All documentation must be completed by the person who administered the medication</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175319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9BD2900F-8089-ED4C-9F42-3FB838877ECA}"/>
              </a:ext>
            </a:extLst>
          </p:cNvPr>
          <p:cNvSpPr>
            <a:spLocks noGrp="1"/>
          </p:cNvSpPr>
          <p:nvPr>
            <p:ph type="title"/>
          </p:nvPr>
        </p:nvSpPr>
        <p:spPr/>
        <p:txBody>
          <a:bodyPr>
            <a:normAutofit fontScale="90000"/>
          </a:bodyPr>
          <a:lstStyle/>
          <a:p>
            <a:r>
              <a:rPr lang="en-US" dirty="0"/>
              <a:t>LO3, content 10 </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4-4: Documenting on a Paper MAR</a:t>
            </a:r>
          </a:p>
          <a:p>
            <a:endParaRPr lang="en-US" dirty="0"/>
          </a:p>
        </p:txBody>
      </p:sp>
      <p:pic>
        <p:nvPicPr>
          <p:cNvPr id="6" name="Picture 5" descr="medication aide's initials and vital sign recordings on a sample MAR">
            <a:extLst>
              <a:ext uri="{FF2B5EF4-FFF2-40B4-BE49-F238E27FC236}">
                <a16:creationId xmlns:a16="http://schemas.microsoft.com/office/drawing/2014/main" id="{642029F2-ECC9-314D-8635-F97E58783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431" y="2041181"/>
            <a:ext cx="9512300" cy="2874828"/>
          </a:xfrm>
          <a:prstGeom prst="rect">
            <a:avLst/>
          </a:prstGeom>
        </p:spPr>
      </p:pic>
    </p:spTree>
    <p:extLst>
      <p:ext uri="{BB962C8B-B14F-4D97-AF65-F5344CB8AC3E}">
        <p14:creationId xmlns:p14="http://schemas.microsoft.com/office/powerpoint/2010/main" val="1159800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11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REMEMBER: </a:t>
            </a:r>
          </a:p>
          <a:p>
            <a:endParaRPr lang="en-US" dirty="0"/>
          </a:p>
          <a:p>
            <a:r>
              <a:rPr lang="en-US" dirty="0"/>
              <a:t>In addition to initialing to document administration, measurements for any required vital signs must be entered</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607022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9BD2900F-8089-ED4C-9F42-3FB838877ECA}"/>
              </a:ext>
            </a:extLst>
          </p:cNvPr>
          <p:cNvSpPr>
            <a:spLocks noGrp="1"/>
          </p:cNvSpPr>
          <p:nvPr>
            <p:ph type="title"/>
          </p:nvPr>
        </p:nvSpPr>
        <p:spPr/>
        <p:txBody>
          <a:bodyPr>
            <a:normAutofit fontScale="90000"/>
          </a:bodyPr>
          <a:lstStyle/>
          <a:p>
            <a:r>
              <a:rPr lang="en-US" dirty="0"/>
              <a:t>LO3, content 12 </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4-5: Documenting in an </a:t>
            </a:r>
            <a:r>
              <a:rPr lang="en-US" dirty="0" err="1"/>
              <a:t>eMAR</a:t>
            </a:r>
            <a:r>
              <a:rPr lang="en-US" dirty="0"/>
              <a:t> System (courtesy of Catalyst Healthcare)</a:t>
            </a:r>
          </a:p>
          <a:p>
            <a:endParaRPr lang="en-US" dirty="0"/>
          </a:p>
        </p:txBody>
      </p:sp>
      <p:pic>
        <p:nvPicPr>
          <p:cNvPr id="6" name="Picture 5" descr="example of electronic MAR documentation">
            <a:extLst>
              <a:ext uri="{FF2B5EF4-FFF2-40B4-BE49-F238E27FC236}">
                <a16:creationId xmlns:a16="http://schemas.microsoft.com/office/drawing/2014/main" id="{51664C0A-55BE-AC42-B2EC-4266710A72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4356" y="1233989"/>
            <a:ext cx="7156449" cy="5410590"/>
          </a:xfrm>
          <a:prstGeom prst="rect">
            <a:avLst/>
          </a:prstGeom>
        </p:spPr>
      </p:pic>
    </p:spTree>
    <p:extLst>
      <p:ext uri="{BB962C8B-B14F-4D97-AF65-F5344CB8AC3E}">
        <p14:creationId xmlns:p14="http://schemas.microsoft.com/office/powerpoint/2010/main" val="2472872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13</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REMEMBER: </a:t>
            </a:r>
          </a:p>
          <a:p>
            <a:endParaRPr lang="en-US" dirty="0"/>
          </a:p>
          <a:p>
            <a:r>
              <a:rPr lang="en-US" dirty="0"/>
              <a:t>When documenting in an </a:t>
            </a:r>
            <a:r>
              <a:rPr lang="en-US" dirty="0" err="1"/>
              <a:t>eMAR</a:t>
            </a:r>
            <a:r>
              <a:rPr lang="en-US" dirty="0"/>
              <a:t> system there are usually prompts and menus to ensure no documentation is left out</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14395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83E699D-CBE7-B040-A778-191DBD6352C3}"/>
              </a:ext>
            </a:extLst>
          </p:cNvPr>
          <p:cNvSpPr>
            <a:spLocks noGrp="1"/>
          </p:cNvSpPr>
          <p:nvPr>
            <p:ph type="title"/>
          </p:nvPr>
        </p:nvSpPr>
        <p:spPr/>
        <p:txBody>
          <a:bodyPr>
            <a:normAutofit fontScale="90000"/>
          </a:bodyPr>
          <a:lstStyle/>
          <a:p>
            <a:r>
              <a:rPr lang="en-US" dirty="0"/>
              <a:t>LO3, content 14</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documentation of medication administration</a:t>
            </a:r>
          </a:p>
          <a:p>
            <a:endParaRPr lang="en-US" dirty="0"/>
          </a:p>
          <a:p>
            <a:r>
              <a:rPr lang="en-US" dirty="0"/>
              <a:t>Critical Thinking: Conversation Starter</a:t>
            </a:r>
          </a:p>
          <a:p>
            <a:endParaRPr lang="en-US" dirty="0"/>
          </a:p>
          <a:p>
            <a:r>
              <a:rPr lang="en-US" dirty="0"/>
              <a:t>Read the Safety First box on p. 30 of the textbook.</a:t>
            </a:r>
          </a:p>
          <a:p>
            <a:endParaRPr lang="en-US" dirty="0"/>
          </a:p>
          <a:p>
            <a:r>
              <a:rPr lang="en-US" dirty="0"/>
              <a:t>Can you think of any other ways that improper documentation could endanger a resident? </a:t>
            </a:r>
          </a:p>
          <a:p>
            <a:endParaRPr lang="en-US" dirty="0"/>
          </a:p>
          <a:p>
            <a:r>
              <a:rPr lang="en-US" dirty="0"/>
              <a:t>What might happen if an MA does not document that a resident refused a dose of medication? </a:t>
            </a:r>
          </a:p>
          <a:p>
            <a:endParaRPr lang="en-US" dirty="0"/>
          </a:p>
          <a:p>
            <a:r>
              <a:rPr lang="en-US" dirty="0"/>
              <a:t>What might happen if an MA forgets to check pulse or blood pressure but documents a normal reading? </a:t>
            </a:r>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solidFill>
                <a:srgbClr val="FF0000"/>
              </a:solidFill>
            </a:endParaRPr>
          </a:p>
        </p:txBody>
      </p:sp>
    </p:spTree>
    <p:extLst>
      <p:ext uri="{BB962C8B-B14F-4D97-AF65-F5344CB8AC3E}">
        <p14:creationId xmlns:p14="http://schemas.microsoft.com/office/powerpoint/2010/main" val="558836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BD0AB7DA-A002-7D41-B302-AB7EBEE63DF8}"/>
              </a:ext>
            </a:extLst>
          </p:cNvPr>
          <p:cNvSpPr>
            <a:spLocks noGrp="1"/>
          </p:cNvSpPr>
          <p:nvPr>
            <p:ph type="title"/>
          </p:nvPr>
        </p:nvSpPr>
        <p:spPr/>
        <p:txBody>
          <a:bodyPr>
            <a:normAutofit fontScale="90000"/>
          </a:bodyPr>
          <a:lstStyle/>
          <a:p>
            <a:r>
              <a:rPr lang="en-US" dirty="0"/>
              <a:t>LO4, key terms</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Explain the controlled substances medication log</a:t>
            </a:r>
          </a:p>
          <a:p>
            <a:endParaRPr lang="en-US" dirty="0"/>
          </a:p>
          <a:p>
            <a:r>
              <a:rPr lang="en-US" dirty="0"/>
              <a:t>Define the following terms:</a:t>
            </a:r>
            <a:br>
              <a:rPr lang="en-US" dirty="0"/>
            </a:br>
            <a:endParaRPr lang="en-US" dirty="0"/>
          </a:p>
          <a:p>
            <a:r>
              <a:rPr lang="en-US" b="1" dirty="0"/>
              <a:t>opioid</a:t>
            </a:r>
          </a:p>
          <a:p>
            <a:pPr lvl="1"/>
            <a:r>
              <a:rPr lang="en-US" dirty="0"/>
              <a:t>a type of controlled medication used to treat pain; used with care due to high risk of addiction and abuse; can also cause over-sedation in elderly people.</a:t>
            </a:r>
          </a:p>
          <a:p>
            <a:r>
              <a:rPr lang="en-US" b="1" dirty="0"/>
              <a:t>dispense</a:t>
            </a:r>
          </a:p>
          <a:p>
            <a:pPr lvl="1"/>
            <a:r>
              <a:rPr lang="en-US" dirty="0"/>
              <a:t>in healthcare, to provide a prescribed medication (e.g., from a pharmacy.)</a:t>
            </a:r>
          </a:p>
          <a:p>
            <a:r>
              <a:rPr lang="en-US" b="1" dirty="0"/>
              <a:t>countback balance</a:t>
            </a:r>
          </a:p>
          <a:p>
            <a:pPr lvl="1"/>
            <a:r>
              <a:rPr lang="en-US" dirty="0"/>
              <a:t>in a controlled substance count, the amount of a drug in storage before it is dispensed.</a:t>
            </a:r>
          </a:p>
          <a:p>
            <a:r>
              <a:rPr lang="en-US" b="1" dirty="0"/>
              <a:t>forward balance</a:t>
            </a:r>
          </a:p>
          <a:p>
            <a:pPr lvl="1"/>
            <a:r>
              <a:rPr lang="en-US" dirty="0"/>
              <a:t>in a controlled substance count, the amount of a drug remaining after it has been dispensed.</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790844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BD0AB7DA-A002-7D41-B302-AB7EBEE63DF8}"/>
              </a:ext>
            </a:extLst>
          </p:cNvPr>
          <p:cNvSpPr>
            <a:spLocks noGrp="1"/>
          </p:cNvSpPr>
          <p:nvPr>
            <p:ph type="title"/>
          </p:nvPr>
        </p:nvSpPr>
        <p:spPr/>
        <p:txBody>
          <a:bodyPr>
            <a:normAutofit fontScale="90000"/>
          </a:bodyPr>
          <a:lstStyle/>
          <a:p>
            <a:r>
              <a:rPr lang="en-US" dirty="0"/>
              <a:t>LO4, content 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4"/>
            </a:pPr>
            <a:r>
              <a:rPr lang="en-US" dirty="0">
                <a:solidFill>
                  <a:srgbClr val="FF0000"/>
                </a:solidFill>
              </a:rPr>
              <a:t>Explain the controlled substances medication log</a:t>
            </a:r>
          </a:p>
          <a:p>
            <a:endParaRPr lang="en-US" dirty="0"/>
          </a:p>
          <a:p>
            <a:r>
              <a:rPr lang="en-US" dirty="0"/>
              <a:t>These measures may be used to prevent intentional or accidental misuse of controlled medications:</a:t>
            </a:r>
          </a:p>
          <a:p>
            <a:pPr marL="342900" indent="-342900">
              <a:buFont typeface="Arial" panose="020B0604020202020204" pitchFamily="34" charset="0"/>
              <a:buChar char="•"/>
            </a:pPr>
            <a:r>
              <a:rPr lang="en-US" dirty="0"/>
              <a:t>Some facilities (especially hospitals) may have automated dispensing cabinets that store and dispense drugs and automatically track amounts used</a:t>
            </a:r>
          </a:p>
          <a:p>
            <a:pPr marL="342900" indent="-342900">
              <a:buFont typeface="Arial" panose="020B0604020202020204" pitchFamily="34" charset="0"/>
              <a:buChar char="•"/>
            </a:pPr>
            <a:r>
              <a:rPr lang="en-US" dirty="0"/>
              <a:t>All controlled substances are kept in double-locked storage areas</a:t>
            </a:r>
          </a:p>
          <a:p>
            <a:pPr marL="342900" indent="-342900">
              <a:buFont typeface="Arial" panose="020B0604020202020204" pitchFamily="34" charset="0"/>
              <a:buChar char="•"/>
            </a:pPr>
            <a:r>
              <a:rPr lang="en-US" dirty="0"/>
              <a:t>A controlled substance log is maintained and updated at each shift change</a:t>
            </a:r>
          </a:p>
          <a:p>
            <a:pPr marL="342900" indent="-342900">
              <a:buFont typeface="Arial" panose="020B0604020202020204" pitchFamily="34" charset="0"/>
              <a:buChar char="•"/>
            </a:pPr>
            <a:r>
              <a:rPr lang="en-US" dirty="0"/>
              <a:t>Two people must be present every time a count takes place</a:t>
            </a:r>
          </a:p>
          <a:p>
            <a:pPr marL="342900" indent="-342900">
              <a:buFont typeface="Arial" panose="020B0604020202020204" pitchFamily="34" charset="0"/>
              <a:buChar char="•"/>
            </a:pPr>
            <a:r>
              <a:rPr lang="en-US" dirty="0"/>
              <a:t>A controlled substance log includes </a:t>
            </a:r>
          </a:p>
          <a:p>
            <a:pPr marL="800100" lvl="1" indent="-342900">
              <a:buFont typeface="Arial" panose="020B0604020202020204" pitchFamily="34" charset="0"/>
              <a:buChar char="•"/>
            </a:pPr>
            <a:r>
              <a:rPr lang="en-US" dirty="0"/>
              <a:t>Drug name, strength, and dosage form</a:t>
            </a:r>
          </a:p>
          <a:p>
            <a:pPr marL="800100" lvl="1" indent="-342900">
              <a:buFont typeface="Arial" panose="020B0604020202020204" pitchFamily="34" charset="0"/>
              <a:buChar char="•"/>
            </a:pPr>
            <a:r>
              <a:rPr lang="en-US" dirty="0"/>
              <a:t>Name of person who dispenses the drug, with the date and time</a:t>
            </a:r>
          </a:p>
          <a:p>
            <a:pPr marL="800100" lvl="1" indent="-342900">
              <a:buFont typeface="Arial" panose="020B0604020202020204" pitchFamily="34" charset="0"/>
              <a:buChar char="•"/>
            </a:pPr>
            <a:r>
              <a:rPr lang="en-US" dirty="0"/>
              <a:t>Amount of drug dispensed</a:t>
            </a:r>
          </a:p>
          <a:p>
            <a:pPr marL="800100" lvl="1" indent="-342900">
              <a:buFont typeface="Arial" panose="020B0604020202020204" pitchFamily="34" charset="0"/>
              <a:buChar char="•"/>
            </a:pPr>
            <a:r>
              <a:rPr lang="en-US" dirty="0"/>
              <a:t>Countback balance and forward balance </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146905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5" name="Title 4">
            <a:extLst>
              <a:ext uri="{FF2B5EF4-FFF2-40B4-BE49-F238E27FC236}">
                <a16:creationId xmlns:a16="http://schemas.microsoft.com/office/drawing/2014/main" id="{9BD2900F-8089-ED4C-9F42-3FB838877ECA}"/>
              </a:ext>
            </a:extLst>
          </p:cNvPr>
          <p:cNvSpPr>
            <a:spLocks noGrp="1"/>
          </p:cNvSpPr>
          <p:nvPr>
            <p:ph type="title"/>
          </p:nvPr>
        </p:nvSpPr>
        <p:spPr/>
        <p:txBody>
          <a:bodyPr>
            <a:normAutofit fontScale="90000"/>
          </a:bodyPr>
          <a:lstStyle/>
          <a:p>
            <a:r>
              <a:rPr lang="en-US" dirty="0"/>
              <a:t>LO4, content 2 </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4-6: </a:t>
            </a:r>
            <a:r>
              <a:rPr lang="en-US" dirty="0" err="1"/>
              <a:t>eMAR</a:t>
            </a:r>
            <a:r>
              <a:rPr lang="en-US" dirty="0"/>
              <a:t> Controlled Substance Count (courtesy of Catalyst Healthcare)</a:t>
            </a:r>
          </a:p>
          <a:p>
            <a:endParaRPr lang="en-US" dirty="0"/>
          </a:p>
        </p:txBody>
      </p:sp>
      <p:pic>
        <p:nvPicPr>
          <p:cNvPr id="6" name="Picture 5" descr="example of electronic MAR controlled substance records">
            <a:extLst>
              <a:ext uri="{FF2B5EF4-FFF2-40B4-BE49-F238E27FC236}">
                <a16:creationId xmlns:a16="http://schemas.microsoft.com/office/drawing/2014/main" id="{D100E0A0-B913-024C-8988-A2EDEBA60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0122" y="1151467"/>
            <a:ext cx="7164917" cy="5401490"/>
          </a:xfrm>
          <a:prstGeom prst="rect">
            <a:avLst/>
          </a:prstGeom>
        </p:spPr>
      </p:pic>
    </p:spTree>
    <p:extLst>
      <p:ext uri="{BB962C8B-B14F-4D97-AF65-F5344CB8AC3E}">
        <p14:creationId xmlns:p14="http://schemas.microsoft.com/office/powerpoint/2010/main" val="3298163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key terms</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Define the following terms:</a:t>
            </a:r>
            <a:br>
              <a:rPr lang="en-US" dirty="0"/>
            </a:br>
            <a:endParaRPr lang="en-US" dirty="0"/>
          </a:p>
          <a:p>
            <a:r>
              <a:rPr lang="en-US" b="1" dirty="0"/>
              <a:t>objective information</a:t>
            </a:r>
          </a:p>
          <a:p>
            <a:pPr lvl="1"/>
            <a:r>
              <a:rPr lang="en-US" dirty="0"/>
              <a:t>information based on what a person sees, hears, touches, or smells; also called </a:t>
            </a:r>
            <a:r>
              <a:rPr lang="en-US" i="1" dirty="0"/>
              <a:t>signs</a:t>
            </a:r>
            <a:r>
              <a:rPr lang="en-US" dirty="0"/>
              <a:t>.</a:t>
            </a:r>
          </a:p>
          <a:p>
            <a:r>
              <a:rPr lang="en-US" b="1" dirty="0"/>
              <a:t>subjective information</a:t>
            </a:r>
          </a:p>
          <a:p>
            <a:pPr lvl="1"/>
            <a:r>
              <a:rPr lang="en-US" dirty="0"/>
              <a:t>information that a person cannot or did not observe, but is based on something reported to the person that may or may not be true; also called </a:t>
            </a:r>
            <a:r>
              <a:rPr lang="en-US" i="1" dirty="0"/>
              <a:t>symptoms</a:t>
            </a:r>
            <a:r>
              <a:rPr lang="en-US" dirty="0"/>
              <a:t>.</a:t>
            </a:r>
          </a:p>
          <a:p>
            <a:r>
              <a:rPr lang="en-US" b="1" dirty="0"/>
              <a:t>anaphylactic reaction</a:t>
            </a:r>
          </a:p>
          <a:p>
            <a:pPr lvl="1"/>
            <a:r>
              <a:rPr lang="en-US" dirty="0"/>
              <a:t>a dangerous allergic reaction to a medication or other substance; may cause swelling of the lips, tongue, and throat that can obstruct the airway; also called </a:t>
            </a:r>
            <a:r>
              <a:rPr lang="en-US" i="1" dirty="0"/>
              <a:t>anaphylaxis</a:t>
            </a:r>
            <a:r>
              <a:rPr lang="en-US" dirty="0"/>
              <a:t>.</a:t>
            </a:r>
          </a:p>
          <a:p>
            <a:r>
              <a:rPr lang="en-US" b="1" dirty="0"/>
              <a:t>hypertensive emergency</a:t>
            </a:r>
          </a:p>
          <a:p>
            <a:pPr lvl="1"/>
            <a:r>
              <a:rPr lang="en-US" dirty="0"/>
              <a:t>systolic blood pressure greater than 180 mm Hg or diastolic blood pressure greater than 120 mm Hg.</a:t>
            </a:r>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777738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Remember these basic points about accurate observing and reporting:</a:t>
            </a:r>
          </a:p>
          <a:p>
            <a:pPr marL="342900" indent="-342900">
              <a:buFont typeface="Arial" panose="020B0604020202020204" pitchFamily="34" charset="0"/>
              <a:buChar char="•"/>
            </a:pPr>
            <a:r>
              <a:rPr lang="en-US" dirty="0"/>
              <a:t>Facts, not opinions, are most useful to the nurse and care team</a:t>
            </a:r>
          </a:p>
          <a:p>
            <a:pPr marL="342900" indent="-342900">
              <a:buFont typeface="Arial" panose="020B0604020202020204" pitchFamily="34" charset="0"/>
              <a:buChar char="•"/>
            </a:pPr>
            <a:r>
              <a:rPr lang="en-US" dirty="0"/>
              <a:t>Objective information is collected using the senses; it can be experienced the same way by different people and is also called </a:t>
            </a:r>
            <a:r>
              <a:rPr lang="en-US" i="1" dirty="0"/>
              <a:t>signs</a:t>
            </a:r>
          </a:p>
          <a:p>
            <a:pPr marL="342900" indent="-342900">
              <a:buFont typeface="Arial" panose="020B0604020202020204" pitchFamily="34" charset="0"/>
              <a:buChar char="•"/>
            </a:pPr>
            <a:r>
              <a:rPr lang="en-US" dirty="0"/>
              <a:t>Subjective information is based on something reported and it may or may not be true; also called </a:t>
            </a:r>
            <a:r>
              <a:rPr lang="en-US" i="1" dirty="0"/>
              <a:t>symptoms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9423919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2</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REMEMBER:</a:t>
            </a:r>
          </a:p>
          <a:p>
            <a:endParaRPr lang="en-US" i="1" dirty="0"/>
          </a:p>
          <a:p>
            <a:r>
              <a:rPr lang="en-US" dirty="0"/>
              <a:t>Vital signs are a type of objective information. They may need to be measured and recorded before administering some medications.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84572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3</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The following signs and symptoms should be reported immediately:</a:t>
            </a:r>
          </a:p>
          <a:p>
            <a:pPr marL="342900" indent="-342900">
              <a:buFont typeface="Arial" panose="020B0604020202020204" pitchFamily="34" charset="0"/>
              <a:buChar char="•"/>
            </a:pPr>
            <a:r>
              <a:rPr lang="en-US" dirty="0"/>
              <a:t>Chest pain</a:t>
            </a:r>
          </a:p>
          <a:p>
            <a:pPr marL="342900" indent="-342900">
              <a:buFont typeface="Arial" panose="020B0604020202020204" pitchFamily="34" charset="0"/>
              <a:buChar char="•"/>
            </a:pPr>
            <a:r>
              <a:rPr lang="en-US" dirty="0"/>
              <a:t>Severe headache</a:t>
            </a:r>
          </a:p>
          <a:p>
            <a:pPr marL="342900" indent="-342900">
              <a:buFont typeface="Arial" panose="020B0604020202020204" pitchFamily="34" charset="0"/>
              <a:buChar char="•"/>
            </a:pPr>
            <a:r>
              <a:rPr lang="en-US" dirty="0"/>
              <a:t>Difficulty breathing</a:t>
            </a:r>
          </a:p>
          <a:p>
            <a:pPr marL="342900" indent="-342900">
              <a:buFont typeface="Arial" panose="020B0604020202020204" pitchFamily="34" charset="0"/>
              <a:buChar char="•"/>
            </a:pPr>
            <a:r>
              <a:rPr lang="en-US" dirty="0"/>
              <a:t>Abnormal pulse, respiration, or blood pressure</a:t>
            </a:r>
          </a:p>
          <a:p>
            <a:pPr marL="342900" indent="-342900">
              <a:buFont typeface="Arial" panose="020B0604020202020204" pitchFamily="34" charset="0"/>
              <a:buChar char="•"/>
            </a:pPr>
            <a:r>
              <a:rPr lang="en-US" dirty="0"/>
              <a:t>Change in mental status</a:t>
            </a:r>
          </a:p>
          <a:p>
            <a:pPr marL="342900" indent="-342900">
              <a:buFont typeface="Arial" panose="020B0604020202020204" pitchFamily="34" charset="0"/>
              <a:buChar char="•"/>
            </a:pPr>
            <a:r>
              <a:rPr lang="en-US" dirty="0"/>
              <a:t>Sudden weakness or loss of mobility</a:t>
            </a:r>
          </a:p>
          <a:p>
            <a:pPr marL="342900" indent="-342900">
              <a:buFont typeface="Arial" panose="020B0604020202020204" pitchFamily="34" charset="0"/>
              <a:buChar char="•"/>
            </a:pPr>
            <a:r>
              <a:rPr lang="en-US" dirty="0"/>
              <a:t>High fever</a:t>
            </a:r>
          </a:p>
          <a:p>
            <a:pPr marL="342900" indent="-342900">
              <a:buFont typeface="Arial" panose="020B0604020202020204" pitchFamily="34" charset="0"/>
              <a:buChar char="•"/>
            </a:pPr>
            <a:r>
              <a:rPr lang="en-US" dirty="0"/>
              <a:t>Loss of consciousness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173624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4</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Signs and symptoms to report immediately:</a:t>
            </a:r>
          </a:p>
          <a:p>
            <a:pPr marL="342900" indent="-342900">
              <a:buFont typeface="Arial" panose="020B0604020202020204" pitchFamily="34" charset="0"/>
              <a:buChar char="•"/>
            </a:pPr>
            <a:r>
              <a:rPr lang="en-US" dirty="0"/>
              <a:t>Change in level of consciousness</a:t>
            </a:r>
          </a:p>
          <a:p>
            <a:pPr marL="342900" indent="-342900">
              <a:buFont typeface="Arial" panose="020B0604020202020204" pitchFamily="34" charset="0"/>
              <a:buChar char="•"/>
            </a:pPr>
            <a:r>
              <a:rPr lang="en-US" dirty="0"/>
              <a:t>Bleeding</a:t>
            </a:r>
          </a:p>
          <a:p>
            <a:pPr marL="342900" indent="-342900">
              <a:buFont typeface="Arial" panose="020B0604020202020204" pitchFamily="34" charset="0"/>
              <a:buChar char="•"/>
            </a:pPr>
            <a:r>
              <a:rPr lang="en-US" dirty="0"/>
              <a:t>Swelling</a:t>
            </a:r>
          </a:p>
          <a:p>
            <a:pPr marL="342900" indent="-342900">
              <a:buFont typeface="Arial" panose="020B0604020202020204" pitchFamily="34" charset="0"/>
              <a:buChar char="•"/>
            </a:pPr>
            <a:r>
              <a:rPr lang="en-US" dirty="0"/>
              <a:t>Change in resident’s condition</a:t>
            </a:r>
          </a:p>
          <a:p>
            <a:pPr marL="342900" indent="-342900">
              <a:buFont typeface="Arial" panose="020B0604020202020204" pitchFamily="34" charset="0"/>
              <a:buChar char="•"/>
            </a:pPr>
            <a:r>
              <a:rPr lang="en-US" dirty="0"/>
              <a:t>Events (such as falls) that could be health-threatening</a:t>
            </a:r>
          </a:p>
          <a:p>
            <a:pPr marL="342900" indent="-342900">
              <a:buFont typeface="Arial" panose="020B0604020202020204" pitchFamily="34" charset="0"/>
              <a:buChar char="•"/>
            </a:pPr>
            <a:r>
              <a:rPr lang="en-US" dirty="0"/>
              <a:t>Resident reports that medications produce no results or undesirable effects</a:t>
            </a:r>
          </a:p>
          <a:p>
            <a:pPr marL="342900" indent="-342900">
              <a:buFont typeface="Arial" panose="020B0604020202020204" pitchFamily="34" charset="0"/>
              <a:buChar char="•"/>
            </a:pPr>
            <a:r>
              <a:rPr lang="en-US" dirty="0"/>
              <a:t>Resident refuses a medication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304646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5</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REMEMBER:</a:t>
            </a:r>
          </a:p>
          <a:p>
            <a:endParaRPr lang="en-US" dirty="0"/>
          </a:p>
          <a:p>
            <a:r>
              <a:rPr lang="en-US" dirty="0"/>
              <a:t>Medication aides do not assess a resident’s need for a medication or reaction to medications, but their observations and reports are very important to resident health</a:t>
            </a:r>
          </a:p>
          <a:p>
            <a:pPr marL="342900" indent="-342900">
              <a:buFont typeface="Arial" panose="020B0604020202020204" pitchFamily="34" charset="0"/>
              <a:buChar char="•"/>
            </a:pPr>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63726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6</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MAs should know the signs/symptoms of these conditions, which may be life-threatening and must be reported immediately:</a:t>
            </a:r>
          </a:p>
          <a:p>
            <a:pPr marL="342900" indent="-342900">
              <a:buFont typeface="Arial" panose="020B0604020202020204" pitchFamily="34" charset="0"/>
              <a:buChar char="•"/>
            </a:pPr>
            <a:r>
              <a:rPr lang="en-US" dirty="0"/>
              <a:t>Anaphylactic reaction (marked by swelling of the lips, tongue, throat)</a:t>
            </a:r>
          </a:p>
          <a:p>
            <a:pPr marL="342900" indent="-342900">
              <a:buFont typeface="Arial" panose="020B0604020202020204" pitchFamily="34" charset="0"/>
              <a:buChar char="•"/>
            </a:pPr>
            <a:r>
              <a:rPr lang="en-US" dirty="0"/>
              <a:t>Hypertensive emergency (blood pressure greater than 180 mm Hg systolic or 120 mm Hg diastolic)</a:t>
            </a:r>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9611333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7</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Critical Thinking: Case Studies</a:t>
            </a:r>
          </a:p>
          <a:p>
            <a:endParaRPr lang="en-US" dirty="0"/>
          </a:p>
          <a:p>
            <a:r>
              <a:rPr lang="en-US" dirty="0"/>
              <a:t>What objective and subjective information might an MA observe and report for each of these cases?</a:t>
            </a:r>
          </a:p>
          <a:p>
            <a:endParaRPr lang="en-US" dirty="0"/>
          </a:p>
          <a:p>
            <a:r>
              <a:rPr lang="en-US" dirty="0"/>
              <a:t>Case Study #1</a:t>
            </a:r>
          </a:p>
          <a:p>
            <a:r>
              <a:rPr lang="en-US" dirty="0"/>
              <a:t>Mrs. </a:t>
            </a:r>
            <a:r>
              <a:rPr lang="en-US" dirty="0" err="1"/>
              <a:t>Surch</a:t>
            </a:r>
            <a:r>
              <a:rPr lang="en-US" dirty="0"/>
              <a:t> has been taking a new medication for several days. Just as the MA arrives, Mrs. </a:t>
            </a:r>
            <a:r>
              <a:rPr lang="en-US" dirty="0" err="1"/>
              <a:t>Surch</a:t>
            </a:r>
            <a:r>
              <a:rPr lang="en-US" dirty="0"/>
              <a:t> is in the bathroom vomiting. She says she has felt sick to her stomach since she started taking the medication. Mrs. </a:t>
            </a:r>
            <a:r>
              <a:rPr lang="en-US" dirty="0" err="1"/>
              <a:t>Surch</a:t>
            </a:r>
            <a:r>
              <a:rPr lang="en-US" dirty="0"/>
              <a:t> is squinting her eyes and holding her head as she returns to bed. She does not have a fever.</a:t>
            </a:r>
          </a:p>
          <a:p>
            <a:endParaRPr lang="en-US" dirty="0"/>
          </a:p>
          <a:p>
            <a:endParaRPr lang="en-US" dirty="0"/>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3230114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A4830DF4-2C0B-9546-BBFA-B4534AEA7592}"/>
              </a:ext>
            </a:extLst>
          </p:cNvPr>
          <p:cNvSpPr>
            <a:spLocks noGrp="1"/>
          </p:cNvSpPr>
          <p:nvPr>
            <p:ph type="title"/>
          </p:nvPr>
        </p:nvSpPr>
        <p:spPr/>
        <p:txBody>
          <a:bodyPr>
            <a:normAutofit fontScale="90000"/>
          </a:bodyPr>
          <a:lstStyle/>
          <a:p>
            <a:r>
              <a:rPr lang="en-US" dirty="0"/>
              <a:t>LO5, content 8</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Describe how to observe and report accurately</a:t>
            </a:r>
          </a:p>
          <a:p>
            <a:endParaRPr lang="en-US" dirty="0"/>
          </a:p>
          <a:p>
            <a:r>
              <a:rPr lang="en-US" dirty="0"/>
              <a:t>Critical Thinking: Case Studies (cont’d)</a:t>
            </a:r>
          </a:p>
          <a:p>
            <a:endParaRPr lang="en-US" dirty="0"/>
          </a:p>
          <a:p>
            <a:r>
              <a:rPr lang="en-US" dirty="0"/>
              <a:t>Case Study #2</a:t>
            </a:r>
          </a:p>
          <a:p>
            <a:r>
              <a:rPr lang="en-US" dirty="0"/>
              <a:t>Mr. Rivers has been taking the same blood pressure medication for more than a year, but his dose was recently increased. The MA notices that he has stopped participating in exercise classes. He reports feeling dizzy. When he gets out of bed he appears unsteady.</a:t>
            </a:r>
          </a:p>
          <a:p>
            <a:endParaRPr lang="en-US" dirty="0"/>
          </a:p>
          <a:p>
            <a:endParaRPr lang="en-US" dirty="0"/>
          </a:p>
          <a:p>
            <a:endParaRPr lang="en-US" dirty="0"/>
          </a:p>
          <a:p>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2312568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10B0E28-6C40-C64F-9911-9318458E4489}"/>
              </a:ext>
            </a:extLst>
          </p:cNvPr>
          <p:cNvSpPr>
            <a:spLocks noGrp="1"/>
          </p:cNvSpPr>
          <p:nvPr>
            <p:ph type="title"/>
          </p:nvPr>
        </p:nvSpPr>
        <p:spPr/>
        <p:txBody>
          <a:bodyPr>
            <a:normAutofit fontScale="90000"/>
          </a:bodyPr>
          <a:lstStyle/>
          <a:p>
            <a:r>
              <a:rPr lang="en-US" dirty="0"/>
              <a:t>LO 6, content 1</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6"/>
            </a:pPr>
            <a:r>
              <a:rPr lang="en-US" dirty="0">
                <a:solidFill>
                  <a:srgbClr val="FF0000"/>
                </a:solidFill>
              </a:rPr>
              <a:t>Discuss how to resolve questions about medication orders</a:t>
            </a:r>
          </a:p>
          <a:p>
            <a:endParaRPr lang="en-US" dirty="0"/>
          </a:p>
          <a:p>
            <a:r>
              <a:rPr lang="en-US" dirty="0"/>
              <a:t>Never administer a medication if information about the medication is not complete. Remember these points:</a:t>
            </a:r>
          </a:p>
          <a:p>
            <a:pPr marL="342900" indent="-342900">
              <a:buFont typeface="Arial" panose="020B0604020202020204" pitchFamily="34" charset="0"/>
              <a:buChar char="•"/>
            </a:pPr>
            <a:r>
              <a:rPr lang="en-US" dirty="0"/>
              <a:t>If the MAR is missing any information, contact the nurse</a:t>
            </a:r>
          </a:p>
          <a:p>
            <a:pPr marL="342900" indent="-342900">
              <a:buFont typeface="Arial" panose="020B0604020202020204" pitchFamily="34" charset="0"/>
              <a:buChar char="•"/>
            </a:pPr>
            <a:r>
              <a:rPr lang="en-US" dirty="0"/>
              <a:t>Do not administer a medication until the information on the MAR is complete.</a:t>
            </a:r>
          </a:p>
          <a:p>
            <a:pPr marL="342900" indent="-342900">
              <a:buFont typeface="Arial" panose="020B0604020202020204" pitchFamily="34" charset="0"/>
              <a:buChar char="•"/>
            </a:pPr>
            <a:r>
              <a:rPr lang="en-US" dirty="0"/>
              <a:t>Understand the purpose of the medications you administer. If you are administering a medication for the first time and do not know what it is for, use a drug reference book or website to learn about the medication</a:t>
            </a:r>
          </a:p>
          <a:p>
            <a:pPr marL="342900" indent="-342900">
              <a:buFont typeface="Arial" panose="020B0604020202020204" pitchFamily="34" charset="0"/>
              <a:buChar char="•"/>
            </a:pPr>
            <a:r>
              <a:rPr lang="en-US" dirty="0"/>
              <a:t>Remember that MAs never make decisions about how or whether a resident receives a medication. Any questions must be directed to a nurse or doctor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1810192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8E05E803-6BC5-4A72-B38A-80FEC66A5EC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0091B9"/>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srgbClr val="0091B9"/>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10B0E28-6C40-C64F-9911-9318458E4489}"/>
              </a:ext>
            </a:extLst>
          </p:cNvPr>
          <p:cNvSpPr>
            <a:spLocks noGrp="1"/>
          </p:cNvSpPr>
          <p:nvPr>
            <p:ph type="title"/>
          </p:nvPr>
        </p:nvSpPr>
        <p:spPr/>
        <p:txBody>
          <a:bodyPr>
            <a:normAutofit fontScale="90000"/>
          </a:bodyPr>
          <a:lstStyle/>
          <a:p>
            <a:r>
              <a:rPr lang="en-US" dirty="0"/>
              <a:t>LO 6, content 2</a:t>
            </a:r>
          </a:p>
        </p:txBody>
      </p:sp>
      <p:sp>
        <p:nvSpPr>
          <p:cNvPr id="2" name="Content Placeholder 1">
            <a:extLst>
              <a:ext uri="{FF2B5EF4-FFF2-40B4-BE49-F238E27FC236}">
                <a16:creationId xmlns:a16="http://schemas.microsoft.com/office/drawing/2014/main" id="{885CE618-6639-4E53-85EA-4179F15FCB45}"/>
              </a:ext>
            </a:extLst>
          </p:cNvPr>
          <p:cNvSpPr>
            <a:spLocks noGrp="1"/>
          </p:cNvSpPr>
          <p:nvPr>
            <p:ph idx="1"/>
          </p:nvPr>
        </p:nvSpPr>
        <p:spPr/>
        <p:txBody>
          <a:bodyPr>
            <a:normAutofit/>
          </a:bodyPr>
          <a:lstStyle/>
          <a:p>
            <a:pPr marL="457200" indent="-457200">
              <a:buFont typeface="+mj-lt"/>
              <a:buAutoNum type="arabicPeriod" startAt="6"/>
            </a:pPr>
            <a:r>
              <a:rPr lang="en-US" dirty="0">
                <a:solidFill>
                  <a:srgbClr val="FF0000"/>
                </a:solidFill>
              </a:rPr>
              <a:t>Discuss how to resolve questions about medication orders</a:t>
            </a:r>
          </a:p>
          <a:p>
            <a:endParaRPr lang="en-US" dirty="0"/>
          </a:p>
          <a:p>
            <a:r>
              <a:rPr lang="en-US" dirty="0"/>
              <a:t>Critical Thinking: Conversation Starter</a:t>
            </a:r>
          </a:p>
          <a:p>
            <a:endParaRPr lang="en-US" dirty="0"/>
          </a:p>
          <a:p>
            <a:r>
              <a:rPr lang="en-US" dirty="0"/>
              <a:t>What if . . . ? Consider each of these situations. What would you do?</a:t>
            </a:r>
          </a:p>
          <a:p>
            <a:r>
              <a:rPr lang="en-US" dirty="0"/>
              <a:t>Medication dosage is not listed on a resident’s MAR, though the medication comes packaged in 20 mg doses</a:t>
            </a:r>
          </a:p>
          <a:p>
            <a:endParaRPr lang="en-US" dirty="0"/>
          </a:p>
          <a:p>
            <a:r>
              <a:rPr lang="en-US" dirty="0"/>
              <a:t>A resident’s MAR indicates that she is to stop taking an antibiotic after three days. Her medication drawer contains a seven-day supply of the drug and signs and symptoms suggest she is still not over the illness on the third day</a:t>
            </a:r>
          </a:p>
          <a:p>
            <a:endParaRPr lang="en-US" dirty="0"/>
          </a:p>
          <a:p>
            <a:r>
              <a:rPr lang="en-US" dirty="0"/>
              <a:t>A resident whose MAR indicates a penicillin allergy has an order for penicillin</a:t>
            </a:r>
          </a:p>
          <a:p>
            <a:endParaRPr lang="en-US" dirty="0"/>
          </a:p>
          <a:p>
            <a:r>
              <a:rPr lang="en-US" dirty="0"/>
              <a:t>A resident who has always had high blood pressure has a new order for a PRN decongestant with a warning that it is not suitable for people with high blood pressure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6251026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802635"/>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738</TotalTime>
  <Words>2228</Words>
  <Application>Microsoft Macintosh PowerPoint</Application>
  <PresentationFormat>Widescreen</PresentationFormat>
  <Paragraphs>414</Paragraphs>
  <Slides>39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Scala Sans</vt:lpstr>
      <vt:lpstr>1_Office Theme</vt:lpstr>
      <vt:lpstr>PowerPoint Presentation</vt:lpstr>
      <vt:lpstr>Chapter 4, LO1, key terms 1</vt:lpstr>
      <vt:lpstr>LO 1, content 1</vt:lpstr>
      <vt:lpstr>LO 1, content 2</vt:lpstr>
      <vt:lpstr>LO 1, content 3</vt:lpstr>
      <vt:lpstr>LO 1, content 4</vt:lpstr>
      <vt:lpstr>LO 1, content 5</vt:lpstr>
      <vt:lpstr>LO2, content 1</vt:lpstr>
      <vt:lpstr>LO2, content 2</vt:lpstr>
      <vt:lpstr>LO3, key terms 1</vt:lpstr>
      <vt:lpstr>LO3, content 1 </vt:lpstr>
      <vt:lpstr>LO3, content 2</vt:lpstr>
      <vt:lpstr>LO3, content 3</vt:lpstr>
      <vt:lpstr>LO3, content 4 </vt:lpstr>
      <vt:lpstr>LO3, content 5 </vt:lpstr>
      <vt:lpstr>LO3, content 6</vt:lpstr>
      <vt:lpstr>LO3, content 7 </vt:lpstr>
      <vt:lpstr>LO3, content 8</vt:lpstr>
      <vt:lpstr>LO3, content 9</vt:lpstr>
      <vt:lpstr>LO3, content 10 </vt:lpstr>
      <vt:lpstr>LO3, content 11</vt:lpstr>
      <vt:lpstr>LO3, content 12 </vt:lpstr>
      <vt:lpstr>LO3, content 13</vt:lpstr>
      <vt:lpstr>LO3, content 14</vt:lpstr>
      <vt:lpstr>LO4, key terms</vt:lpstr>
      <vt:lpstr>LO4, content 1</vt:lpstr>
      <vt:lpstr>LO4, content 2 </vt:lpstr>
      <vt:lpstr>LO5, key terms</vt:lpstr>
      <vt:lpstr>LO5, content 1</vt:lpstr>
      <vt:lpstr>LO5, content 2</vt:lpstr>
      <vt:lpstr>LO5, content 3</vt:lpstr>
      <vt:lpstr>LO5, content 4</vt:lpstr>
      <vt:lpstr>LO5, content 5</vt:lpstr>
      <vt:lpstr>LO5, content 6</vt:lpstr>
      <vt:lpstr>LO5, content 7</vt:lpstr>
      <vt:lpstr>LO5, content 8</vt:lpstr>
      <vt:lpstr>LO 6, content 1</vt:lpstr>
      <vt:lpstr>LO 6, content 2</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96</cp:revision>
  <dcterms:created xsi:type="dcterms:W3CDTF">2020-03-18T21:14:38Z</dcterms:created>
  <dcterms:modified xsi:type="dcterms:W3CDTF">2021-05-21T13:50:41Z</dcterms:modified>
</cp:coreProperties>
</file>