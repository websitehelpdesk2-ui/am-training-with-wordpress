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5" r:id="rId2"/>
    <p:sldId id="306" r:id="rId3"/>
    <p:sldId id="320" r:id="rId4"/>
    <p:sldId id="332" r:id="rId5"/>
    <p:sldId id="333" r:id="rId6"/>
    <p:sldId id="334" r:id="rId7"/>
    <p:sldId id="335" r:id="rId8"/>
    <p:sldId id="307" r:id="rId9"/>
    <p:sldId id="323" r:id="rId10"/>
    <p:sldId id="336" r:id="rId11"/>
    <p:sldId id="337" r:id="rId12"/>
    <p:sldId id="338" r:id="rId13"/>
    <p:sldId id="313" r:id="rId14"/>
    <p:sldId id="327" r:id="rId15"/>
    <p:sldId id="339" r:id="rId16"/>
    <p:sldId id="340" r:id="rId17"/>
    <p:sldId id="341" r:id="rId18"/>
    <p:sldId id="312" r:id="rId19"/>
    <p:sldId id="331" r:id="rId20"/>
    <p:sldId id="330" r:id="rId21"/>
    <p:sldId id="342" r:id="rId22"/>
    <p:sldId id="343" r:id="rId23"/>
    <p:sldId id="344"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645" autoAdjust="0"/>
    <p:restoredTop sz="94660"/>
  </p:normalViewPr>
  <p:slideViewPr>
    <p:cSldViewPr snapToGrid="0">
      <p:cViewPr varScale="1">
        <p:scale>
          <a:sx n="104" d="100"/>
          <a:sy n="104" d="100"/>
        </p:scale>
        <p:origin x="232" y="30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6"/>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6</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Medication Side Effects, Reactions, and Interactions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2334280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6"/>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2" name="Title 1">
            <a:extLst>
              <a:ext uri="{FF2B5EF4-FFF2-40B4-BE49-F238E27FC236}">
                <a16:creationId xmlns:a16="http://schemas.microsoft.com/office/drawing/2014/main" id="{18BB4DE4-EBEE-4044-9F6A-2507FF9516BA}"/>
              </a:ext>
            </a:extLst>
          </p:cNvPr>
          <p:cNvSpPr>
            <a:spLocks noGrp="1"/>
          </p:cNvSpPr>
          <p:nvPr>
            <p:ph type="title"/>
          </p:nvPr>
        </p:nvSpPr>
        <p:spPr>
          <a:xfrm>
            <a:off x="0" y="-978763"/>
            <a:ext cx="7793182" cy="784800"/>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Medication Side Effects, Reactions, and Interactions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6</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2824059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21878510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3086423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310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9F261C2E-2F1C-5248-9F04-12CBA10EA828}"/>
              </a:ext>
            </a:extLst>
          </p:cNvPr>
          <p:cNvSpPr>
            <a:spLocks noGrp="1"/>
          </p:cNvSpPr>
          <p:nvPr>
            <p:ph type="title"/>
          </p:nvPr>
        </p:nvSpPr>
        <p:spPr/>
        <p:txBody>
          <a:bodyPr/>
          <a:lstStyle/>
          <a:p>
            <a:r>
              <a:rPr lang="en-US" dirty="0"/>
              <a:t>Chapter 6, LO1, key terms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Define the following terms:</a:t>
            </a:r>
            <a:br>
              <a:rPr lang="en-US" dirty="0"/>
            </a:br>
            <a:endParaRPr lang="en-US" dirty="0"/>
          </a:p>
          <a:p>
            <a:r>
              <a:rPr lang="en-US" b="1" dirty="0"/>
              <a:t>local</a:t>
            </a:r>
          </a:p>
          <a:p>
            <a:pPr lvl="1"/>
            <a:r>
              <a:rPr lang="en-US" dirty="0"/>
              <a:t>in pharmacology, describes an effect that occurs at the location on the body where the drug has touched.</a:t>
            </a:r>
          </a:p>
          <a:p>
            <a:r>
              <a:rPr lang="en-US" b="1" dirty="0"/>
              <a:t>systemic</a:t>
            </a:r>
          </a:p>
          <a:p>
            <a:pPr lvl="1"/>
            <a:r>
              <a:rPr lang="en-US" dirty="0"/>
              <a:t>in pharmacology, describes an effect that occurs throughout the body systems, tissues, or organs.</a:t>
            </a:r>
          </a:p>
          <a:p>
            <a:r>
              <a:rPr lang="en-US" b="1" dirty="0"/>
              <a:t>class</a:t>
            </a:r>
          </a:p>
          <a:p>
            <a:pPr lvl="1"/>
            <a:r>
              <a:rPr lang="en-US" dirty="0"/>
              <a:t>in pharmacology, a category or type of drug.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73778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LO1, content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Remember what occurs when a drug enters the body:</a:t>
            </a:r>
          </a:p>
          <a:p>
            <a:pPr marL="342900" indent="-342900">
              <a:buFont typeface="Arial" panose="020B0604020202020204" pitchFamily="34" charset="0"/>
              <a:buChar char="•"/>
            </a:pPr>
            <a:r>
              <a:rPr lang="en-US" dirty="0"/>
              <a:t>Absorption</a:t>
            </a:r>
          </a:p>
          <a:p>
            <a:pPr marL="342900" indent="-342900">
              <a:buFont typeface="Arial" panose="020B0604020202020204" pitchFamily="34" charset="0"/>
              <a:buChar char="•"/>
            </a:pPr>
            <a:r>
              <a:rPr lang="en-US" dirty="0"/>
              <a:t>Distribution</a:t>
            </a:r>
          </a:p>
          <a:p>
            <a:pPr marL="342900" indent="-342900">
              <a:buFont typeface="Arial" panose="020B0604020202020204" pitchFamily="34" charset="0"/>
              <a:buChar char="•"/>
            </a:pPr>
            <a:r>
              <a:rPr lang="en-US" dirty="0"/>
              <a:t>Metabolism</a:t>
            </a:r>
          </a:p>
          <a:p>
            <a:pPr marL="342900" indent="-342900">
              <a:buFont typeface="Arial" panose="020B0604020202020204" pitchFamily="34" charset="0"/>
              <a:buChar char="•"/>
            </a:pPr>
            <a:r>
              <a:rPr lang="en-US" dirty="0"/>
              <a:t>Excretion</a:t>
            </a:r>
          </a:p>
          <a:p>
            <a:endParaRPr lang="en-US" dirty="0"/>
          </a:p>
          <a:p>
            <a:pPr marL="342900" indent="-342900">
              <a:buFont typeface="Arial" panose="020B0604020202020204" pitchFamily="34" charset="0"/>
              <a:buChar char="•"/>
            </a:pPr>
            <a:endParaRPr lang="en-US" i="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71957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LO1, content 2</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Side effects occur during the </a:t>
            </a:r>
            <a:r>
              <a:rPr lang="en-US" i="1" dirty="0"/>
              <a:t>distribution</a:t>
            </a:r>
            <a:r>
              <a:rPr lang="en-US" dirty="0"/>
              <a:t> phase:</a:t>
            </a:r>
          </a:p>
          <a:p>
            <a:pPr marL="342900" indent="-342900">
              <a:buFont typeface="Arial" panose="020B0604020202020204" pitchFamily="34" charset="0"/>
              <a:buChar char="•"/>
            </a:pPr>
            <a:r>
              <a:rPr lang="en-US" dirty="0"/>
              <a:t>Bloodstream carries the medication to the location where the drug is needed</a:t>
            </a:r>
          </a:p>
          <a:p>
            <a:pPr marL="342900" indent="-342900">
              <a:buFont typeface="Arial" panose="020B0604020202020204" pitchFamily="34" charset="0"/>
              <a:buChar char="•"/>
            </a:pPr>
            <a:r>
              <a:rPr lang="en-US" dirty="0"/>
              <a:t>The drug interacts with receptors, or parts of cells that receive chemical information, activating or inactivating them</a:t>
            </a:r>
          </a:p>
          <a:p>
            <a:pPr marL="342900" indent="-342900">
              <a:buFont typeface="Arial" panose="020B0604020202020204" pitchFamily="34" charset="0"/>
              <a:buChar char="•"/>
            </a:pPr>
            <a:r>
              <a:rPr lang="en-US" dirty="0"/>
              <a:t>A drug’s desired effect results from interactions with receptors at the target site</a:t>
            </a:r>
          </a:p>
          <a:p>
            <a:pPr marL="342900" indent="-342900">
              <a:buFont typeface="Arial" panose="020B0604020202020204" pitchFamily="34" charset="0"/>
              <a:buChar char="•"/>
            </a:pPr>
            <a:r>
              <a:rPr lang="en-US" dirty="0"/>
              <a:t>Side effects can occur when a drug interacts with receptors in other parts of the body</a:t>
            </a:r>
          </a:p>
          <a:p>
            <a:endParaRPr lang="en-US" dirty="0"/>
          </a:p>
          <a:p>
            <a:endParaRPr lang="en-US" dirty="0"/>
          </a:p>
          <a:p>
            <a:endParaRPr lang="en-US" i="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86172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LO1, content 3</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Remember these points about side effects:</a:t>
            </a:r>
          </a:p>
          <a:p>
            <a:pPr marL="342900" indent="-342900">
              <a:buFont typeface="Arial" panose="020B0604020202020204" pitchFamily="34" charset="0"/>
              <a:buChar char="•"/>
            </a:pPr>
            <a:r>
              <a:rPr lang="en-US" dirty="0"/>
              <a:t>They happen at any dose (though some may increase at higher doses)</a:t>
            </a:r>
          </a:p>
          <a:p>
            <a:pPr marL="342900" indent="-342900">
              <a:buFont typeface="Arial" panose="020B0604020202020204" pitchFamily="34" charset="0"/>
              <a:buChar char="•"/>
            </a:pPr>
            <a:r>
              <a:rPr lang="en-US" dirty="0"/>
              <a:t>They are mostly predictable due to clinical trials, so residents can be prepared for them</a:t>
            </a:r>
          </a:p>
          <a:p>
            <a:pPr marL="342900" indent="-342900">
              <a:buFont typeface="Arial" panose="020B0604020202020204" pitchFamily="34" charset="0"/>
              <a:buChar char="•"/>
            </a:pPr>
            <a:r>
              <a:rPr lang="en-US" dirty="0"/>
              <a:t>Most side effects do not require any action. A medication may need to be changed if side effects are severe</a:t>
            </a:r>
          </a:p>
          <a:p>
            <a:pPr marL="342900" indent="-342900">
              <a:buFont typeface="Arial" panose="020B0604020202020204" pitchFamily="34" charset="0"/>
              <a:buChar char="•"/>
            </a:pPr>
            <a:r>
              <a:rPr lang="en-US" dirty="0"/>
              <a:t>Side effects can be good or bad. Sometimes a side effect of a medication can be used to treat a different condition (e.g., antidepressant mirtazapine can cause weight gain; may be used to help cancer patients with unintended weight loss)</a:t>
            </a:r>
          </a:p>
          <a:p>
            <a:endParaRPr lang="en-US" dirty="0"/>
          </a:p>
          <a:p>
            <a:endParaRPr lang="en-US" i="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107986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LO1, content 4</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Some side effects are local:</a:t>
            </a:r>
          </a:p>
          <a:p>
            <a:pPr marL="342900" indent="-342900">
              <a:buFont typeface="Arial" panose="020B0604020202020204" pitchFamily="34" charset="0"/>
              <a:buChar char="•"/>
            </a:pPr>
            <a:r>
              <a:rPr lang="en-US" dirty="0"/>
              <a:t>Injection site pain/irritation</a:t>
            </a:r>
          </a:p>
          <a:p>
            <a:pPr marL="342900" indent="-342900">
              <a:buFont typeface="Arial" panose="020B0604020202020204" pitchFamily="34" charset="0"/>
              <a:buChar char="•"/>
            </a:pPr>
            <a:r>
              <a:rPr lang="en-US" dirty="0"/>
              <a:t>Oral thrush related to inhaled corticosteroids</a:t>
            </a:r>
          </a:p>
          <a:p>
            <a:pPr marL="342900" indent="-342900">
              <a:buFont typeface="Arial" panose="020B0604020202020204" pitchFamily="34" charset="0"/>
              <a:buChar char="•"/>
            </a:pPr>
            <a:endParaRPr lang="en-US" dirty="0"/>
          </a:p>
          <a:p>
            <a:r>
              <a:rPr lang="en-US" dirty="0"/>
              <a:t>Others are systemic, such as these examples related to oral corticosteroids:</a:t>
            </a:r>
          </a:p>
          <a:p>
            <a:pPr marL="342900" indent="-342900">
              <a:buFont typeface="Arial" panose="020B0604020202020204" pitchFamily="34" charset="0"/>
              <a:buChar char="•"/>
            </a:pPr>
            <a:r>
              <a:rPr lang="en-US" dirty="0"/>
              <a:t>Hypertension</a:t>
            </a:r>
          </a:p>
          <a:p>
            <a:pPr marL="342900" indent="-342900">
              <a:buFont typeface="Arial" panose="020B0604020202020204" pitchFamily="34" charset="0"/>
              <a:buChar char="•"/>
            </a:pPr>
            <a:r>
              <a:rPr lang="en-US" dirty="0"/>
              <a:t>Edema </a:t>
            </a:r>
          </a:p>
          <a:p>
            <a:pPr marL="342900" indent="-342900">
              <a:buFont typeface="Arial" panose="020B0604020202020204" pitchFamily="34" charset="0"/>
              <a:buChar char="•"/>
            </a:pPr>
            <a:r>
              <a:rPr lang="en-US" dirty="0"/>
              <a:t>Hyperglycemia</a:t>
            </a:r>
          </a:p>
          <a:p>
            <a:pPr marL="342900" indent="-342900">
              <a:buFont typeface="Arial" panose="020B0604020202020204" pitchFamily="34" charset="0"/>
              <a:buChar char="•"/>
            </a:pPr>
            <a:r>
              <a:rPr lang="en-US" dirty="0"/>
              <a:t>Reduced calcium in the blood</a:t>
            </a:r>
          </a:p>
          <a:p>
            <a:endParaRPr lang="en-US" dirty="0"/>
          </a:p>
          <a:p>
            <a:endParaRPr lang="en-US" i="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027649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LO1, content 5</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a:pPr>
            <a:r>
              <a:rPr lang="en-US" dirty="0">
                <a:solidFill>
                  <a:srgbClr val="FF0000"/>
                </a:solidFill>
              </a:rPr>
              <a:t>List different side effects medications can cause</a:t>
            </a:r>
          </a:p>
          <a:p>
            <a:endParaRPr lang="en-US" dirty="0"/>
          </a:p>
          <a:p>
            <a:r>
              <a:rPr lang="en-US" dirty="0"/>
              <a:t>Critical Thinking: Conversation Starter</a:t>
            </a:r>
          </a:p>
          <a:p>
            <a:endParaRPr lang="en-US" dirty="0"/>
          </a:p>
          <a:p>
            <a:r>
              <a:rPr lang="en-US" dirty="0"/>
              <a:t>Can you think of any other drugs with serious systemic side effects?</a:t>
            </a:r>
          </a:p>
          <a:p>
            <a:endParaRPr lang="en-US" dirty="0"/>
          </a:p>
          <a:p>
            <a:r>
              <a:rPr lang="en-US" dirty="0"/>
              <a:t>Why might drugs with side effects like these be prescribed?</a:t>
            </a:r>
          </a:p>
          <a:p>
            <a:endParaRPr lang="en-US" dirty="0"/>
          </a:p>
          <a:p>
            <a:endParaRPr lang="en-US" dirty="0"/>
          </a:p>
          <a:p>
            <a:endParaRPr lang="en-US" i="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20922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36B63F6C-3E93-6544-9E07-A700FB25AD21}"/>
              </a:ext>
            </a:extLst>
          </p:cNvPr>
          <p:cNvSpPr>
            <a:spLocks noGrp="1"/>
          </p:cNvSpPr>
          <p:nvPr>
            <p:ph type="title"/>
          </p:nvPr>
        </p:nvSpPr>
        <p:spPr/>
        <p:txBody>
          <a:bodyPr/>
          <a:lstStyle/>
          <a:p>
            <a:r>
              <a:rPr lang="en-US" dirty="0"/>
              <a:t>LO2, key terms</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adverse reactions to medications</a:t>
            </a:r>
            <a:endParaRPr lang="en-US" dirty="0"/>
          </a:p>
          <a:p>
            <a:endParaRPr lang="en-US" dirty="0"/>
          </a:p>
          <a:p>
            <a:r>
              <a:rPr lang="en-US" dirty="0"/>
              <a:t>Define the following terms:</a:t>
            </a:r>
            <a:br>
              <a:rPr lang="en-US" dirty="0"/>
            </a:br>
            <a:endParaRPr lang="en-US" dirty="0"/>
          </a:p>
          <a:p>
            <a:r>
              <a:rPr lang="en-US" b="1" dirty="0"/>
              <a:t>adverse drug reaction</a:t>
            </a:r>
          </a:p>
          <a:p>
            <a:pPr lvl="1"/>
            <a:r>
              <a:rPr lang="en-US" dirty="0"/>
              <a:t>a negative reaction to a drug; may be known and predictable or unique to the person taking the drug. </a:t>
            </a:r>
          </a:p>
          <a:p>
            <a:r>
              <a:rPr lang="en-US" b="1" dirty="0"/>
              <a:t>idiosyncratic drug reaction</a:t>
            </a:r>
          </a:p>
          <a:p>
            <a:pPr lvl="1"/>
            <a:r>
              <a:rPr lang="en-US" dirty="0"/>
              <a:t>a type of reaction that cannot be predicted and is not related to the dose or to the known effects of the drug.</a:t>
            </a:r>
          </a:p>
          <a:p>
            <a:r>
              <a:rPr lang="en-US" b="1" dirty="0"/>
              <a:t>allergic reaction</a:t>
            </a:r>
          </a:p>
          <a:p>
            <a:pPr lvl="1"/>
            <a:r>
              <a:rPr lang="en-US" dirty="0"/>
              <a:t>a situation in which the body’s immune system overreacts to a substance that would normally not cause an immune response; sometimes called </a:t>
            </a:r>
            <a:r>
              <a:rPr lang="en-US" i="1" dirty="0"/>
              <a:t>hypersensitivity</a:t>
            </a:r>
            <a:r>
              <a:rPr lang="en-US" dirty="0"/>
              <a:t>. </a:t>
            </a:r>
          </a:p>
          <a:p>
            <a:r>
              <a:rPr lang="en-US" b="1" dirty="0"/>
              <a:t>paradoxical reaction</a:t>
            </a:r>
          </a:p>
          <a:p>
            <a:pPr lvl="1"/>
            <a:r>
              <a:rPr lang="en-US" dirty="0"/>
              <a:t>a type of drug reaction that occurs when a drug causes the opposite effect of what is expected.</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63990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36B63F6C-3E93-6544-9E07-A700FB25AD21}"/>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adverse reactions to medications</a:t>
            </a:r>
            <a:endParaRPr lang="en-US" dirty="0"/>
          </a:p>
          <a:p>
            <a:endParaRPr lang="en-US" dirty="0"/>
          </a:p>
          <a:p>
            <a:pPr marL="14288" lvl="1"/>
            <a:r>
              <a:rPr lang="en-US" dirty="0"/>
              <a:t>There is a difference between </a:t>
            </a:r>
            <a:r>
              <a:rPr lang="en-US" i="1" dirty="0"/>
              <a:t>side effects</a:t>
            </a:r>
            <a:r>
              <a:rPr lang="en-US" dirty="0"/>
              <a:t> and </a:t>
            </a:r>
            <a:r>
              <a:rPr lang="en-US" i="1" dirty="0"/>
              <a:t>adverse reactions</a:t>
            </a:r>
            <a:r>
              <a:rPr lang="en-US" dirty="0"/>
              <a:t>:</a:t>
            </a:r>
          </a:p>
          <a:p>
            <a:pPr marL="357188" lvl="1" indent="-342900">
              <a:buFont typeface="Arial" panose="020B0604020202020204" pitchFamily="34" charset="0"/>
              <a:buChar char="•"/>
            </a:pPr>
            <a:r>
              <a:rPr lang="en-US" dirty="0"/>
              <a:t>Side effects are mostly predictable, based on clinical trials</a:t>
            </a:r>
          </a:p>
          <a:p>
            <a:pPr marL="357188" lvl="1" indent="-342900">
              <a:buFont typeface="Arial" panose="020B0604020202020204" pitchFamily="34" charset="0"/>
              <a:buChar char="•"/>
            </a:pPr>
            <a:r>
              <a:rPr lang="en-US" dirty="0"/>
              <a:t>Adverse reactions can be predictable or unpredictable</a:t>
            </a:r>
          </a:p>
          <a:p>
            <a:pPr marL="357188" lvl="1" indent="-342900">
              <a:buFont typeface="Arial" panose="020B0604020202020204" pitchFamily="34" charset="0"/>
              <a:buChar char="•"/>
            </a:pPr>
            <a:r>
              <a:rPr lang="en-US" dirty="0"/>
              <a:t>Side effects relate to unintentional effects on nontargeted parts of the body</a:t>
            </a:r>
          </a:p>
          <a:p>
            <a:pPr marL="357188" lvl="1" indent="-342900">
              <a:buFont typeface="Arial" panose="020B0604020202020204" pitchFamily="34" charset="0"/>
              <a:buChar char="•"/>
            </a:pPr>
            <a:r>
              <a:rPr lang="en-US" dirty="0"/>
              <a:t>Adverse reactions may relate to the intended effect of the drug (e.g., excessive bleeding in a person taking anticoagulants)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082573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36B63F6C-3E93-6544-9E07-A700FB25AD21}"/>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adverse reactions to medications</a:t>
            </a:r>
            <a:endParaRPr lang="en-US" dirty="0"/>
          </a:p>
          <a:p>
            <a:endParaRPr lang="en-US" dirty="0"/>
          </a:p>
          <a:p>
            <a:pPr marL="14288" lvl="1"/>
            <a:r>
              <a:rPr lang="en-US" dirty="0"/>
              <a:t>Remember these points about idiosyncratic drug reactions:</a:t>
            </a:r>
          </a:p>
          <a:p>
            <a:pPr marL="357188" lvl="1" indent="-342900">
              <a:buFont typeface="Arial" panose="020B0604020202020204" pitchFamily="34" charset="0"/>
              <a:buChar char="•"/>
            </a:pPr>
            <a:r>
              <a:rPr lang="en-US" dirty="0"/>
              <a:t>Cannot be predicted and not related to dose or to the known effect of a drug</a:t>
            </a:r>
          </a:p>
          <a:p>
            <a:pPr marL="357188" lvl="1" indent="-342900">
              <a:buFont typeface="Arial" panose="020B0604020202020204" pitchFamily="34" charset="0"/>
              <a:buChar char="•"/>
            </a:pPr>
            <a:r>
              <a:rPr lang="en-US" dirty="0"/>
              <a:t>Not common</a:t>
            </a:r>
          </a:p>
          <a:p>
            <a:pPr marL="357188" lvl="1" indent="-342900">
              <a:buFont typeface="Arial" panose="020B0604020202020204" pitchFamily="34" charset="0"/>
              <a:buChar char="•"/>
            </a:pPr>
            <a:r>
              <a:rPr lang="en-US" dirty="0"/>
              <a:t>Can be very dangerous</a:t>
            </a:r>
          </a:p>
          <a:p>
            <a:pPr marL="357188" lvl="1" indent="-342900">
              <a:buFont typeface="Arial" panose="020B0604020202020204" pitchFamily="34" charset="0"/>
              <a:buChar char="•"/>
            </a:pPr>
            <a:r>
              <a:rPr lang="en-US" dirty="0"/>
              <a:t>Allergic reaction (hypersensitivity) is an example</a:t>
            </a:r>
          </a:p>
          <a:p>
            <a:pPr marL="814388" lvl="2" indent="-342900">
              <a:buFont typeface="Arial" panose="020B0604020202020204" pitchFamily="34" charset="0"/>
              <a:buChar char="•"/>
            </a:pPr>
            <a:r>
              <a:rPr lang="en-US" dirty="0"/>
              <a:t>May have mild to moderate symptoms (rash, hives, runny nose, watery eyes)</a:t>
            </a:r>
          </a:p>
          <a:p>
            <a:pPr marL="814388" lvl="2" indent="-342900">
              <a:buFont typeface="Arial" panose="020B0604020202020204" pitchFamily="34" charset="0"/>
              <a:buChar char="•"/>
            </a:pPr>
            <a:r>
              <a:rPr lang="en-US" dirty="0"/>
              <a:t>Anaphylaxis is a severe allergic reaction that can be deadly</a:t>
            </a:r>
          </a:p>
          <a:p>
            <a:pPr marL="814388" lvl="2" indent="-342900">
              <a:buFont typeface="Arial" panose="020B0604020202020204" pitchFamily="34" charset="0"/>
              <a:buChar char="•"/>
            </a:pPr>
            <a:r>
              <a:rPr lang="en-US" dirty="0"/>
              <a:t>May happen within seconds of exposure or as long as 30 minutes after administration</a:t>
            </a:r>
          </a:p>
          <a:p>
            <a:pPr marL="814388" lvl="2" indent="-342900">
              <a:buFont typeface="Arial" panose="020B0604020202020204" pitchFamily="34" charset="0"/>
              <a:buChar char="•"/>
            </a:pPr>
            <a:r>
              <a:rPr lang="en-US" dirty="0"/>
              <a:t>Can occur even if resident has not previously had an allergic reaction to a particular drug</a:t>
            </a:r>
          </a:p>
          <a:p>
            <a:pPr marL="814388" lvl="2" indent="-342900">
              <a:buFont typeface="Arial" panose="020B0604020202020204" pitchFamily="34" charset="0"/>
              <a:buChar char="•"/>
            </a:pPr>
            <a:r>
              <a:rPr lang="en-US" dirty="0"/>
              <a:t>Call for help immediately if resident experiences difficulty breathing, drop in blood pressure, hives/itching, or dizziness, nausea, vomiting, and/or diarrhea</a:t>
            </a:r>
          </a:p>
          <a:p>
            <a:pPr marL="14288"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41772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36B63F6C-3E93-6544-9E07-A700FB25AD21}"/>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adverse reactions to medications</a:t>
            </a:r>
            <a:endParaRPr lang="en-US" dirty="0"/>
          </a:p>
          <a:p>
            <a:endParaRPr lang="en-US" dirty="0"/>
          </a:p>
          <a:p>
            <a:pPr marL="14288" lvl="1"/>
            <a:r>
              <a:rPr lang="en-US" dirty="0"/>
              <a:t>Medication aides must know how to respond to anaphylaxis:</a:t>
            </a:r>
          </a:p>
          <a:p>
            <a:pPr marL="342900" indent="-342900">
              <a:buFont typeface="Arial" panose="020B0604020202020204" pitchFamily="34" charset="0"/>
              <a:buChar char="•"/>
            </a:pPr>
            <a:r>
              <a:rPr lang="en-US" dirty="0"/>
              <a:t>Call for help immediately</a:t>
            </a:r>
          </a:p>
          <a:p>
            <a:pPr marL="342900" indent="-342900">
              <a:buFont typeface="Arial" panose="020B0604020202020204" pitchFamily="34" charset="0"/>
              <a:buChar char="•"/>
            </a:pPr>
            <a:r>
              <a:rPr lang="en-US" dirty="0"/>
              <a:t>Remove/stop the aggravating factor if possible (e.g., stop a nebulized medication)</a:t>
            </a:r>
          </a:p>
          <a:p>
            <a:pPr marL="342900" indent="-342900">
              <a:buFont typeface="Arial" panose="020B0604020202020204" pitchFamily="34" charset="0"/>
              <a:buChar char="•"/>
            </a:pPr>
            <a:r>
              <a:rPr lang="en-US" dirty="0"/>
              <a:t>A trained, authorized healthcare worker should administer an emergency dose of epinephrine</a:t>
            </a:r>
          </a:p>
          <a:p>
            <a:pPr marL="342900" indent="-342900">
              <a:buFont typeface="Arial" panose="020B0604020202020204" pitchFamily="34" charset="0"/>
              <a:buChar char="•"/>
            </a:pPr>
            <a:r>
              <a:rPr lang="en-US" dirty="0"/>
              <a:t>Monitor the resident closely afterward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15696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36B63F6C-3E93-6544-9E07-A700FB25AD21}"/>
              </a:ext>
            </a:extLst>
          </p:cNvPr>
          <p:cNvSpPr>
            <a:spLocks noGrp="1"/>
          </p:cNvSpPr>
          <p:nvPr>
            <p:ph type="title"/>
          </p:nvPr>
        </p:nvSpPr>
        <p:spPr/>
        <p:txBody>
          <a:bodyPr/>
          <a:lstStyle/>
          <a:p>
            <a:r>
              <a:rPr lang="en-US" dirty="0"/>
              <a:t>LO2, content 4</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adverse reactions to medications</a:t>
            </a:r>
            <a:endParaRPr lang="en-US" dirty="0"/>
          </a:p>
          <a:p>
            <a:endParaRPr lang="en-US" dirty="0"/>
          </a:p>
          <a:p>
            <a:pPr marL="14288" lvl="1"/>
            <a:r>
              <a:rPr lang="en-US" dirty="0"/>
              <a:t>Know these points about paradoxical reactions:</a:t>
            </a:r>
          </a:p>
          <a:p>
            <a:pPr marL="357188" lvl="1" indent="-342900">
              <a:buFont typeface="Arial" panose="020B0604020202020204" pitchFamily="34" charset="0"/>
              <a:buChar char="•"/>
            </a:pPr>
            <a:r>
              <a:rPr lang="en-US" dirty="0"/>
              <a:t>Occur when a drug causes the opposite effect of what is expected</a:t>
            </a:r>
          </a:p>
          <a:p>
            <a:pPr marL="357188" lvl="1" indent="-342900">
              <a:buFont typeface="Arial" panose="020B0604020202020204" pitchFamily="34" charset="0"/>
              <a:buChar char="•"/>
            </a:pPr>
            <a:r>
              <a:rPr lang="en-US" dirty="0"/>
              <a:t>These reactions are rare</a:t>
            </a:r>
          </a:p>
          <a:p>
            <a:pPr marL="357188" lvl="1" indent="-342900">
              <a:buFont typeface="Arial" panose="020B0604020202020204" pitchFamily="34" charset="0"/>
              <a:buChar char="•"/>
            </a:pPr>
            <a:r>
              <a:rPr lang="en-US" dirty="0"/>
              <a:t>Antianxiety medications called benzodiazepines can cause paradoxical reactions (increasing anxiety)</a:t>
            </a:r>
          </a:p>
          <a:p>
            <a:pPr marL="357188" lvl="1" indent="-342900">
              <a:buFont typeface="Arial" panose="020B0604020202020204" pitchFamily="34" charset="0"/>
              <a:buChar char="•"/>
            </a:pPr>
            <a:r>
              <a:rPr lang="en-US" dirty="0"/>
              <a:t>Report any observations of paradoxical reactions</a:t>
            </a:r>
          </a:p>
          <a:p>
            <a:pPr marL="14288"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541936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04AC16A-E726-F14E-83A4-781873BC8B12}"/>
              </a:ext>
            </a:extLst>
          </p:cNvPr>
          <p:cNvSpPr>
            <a:spLocks noGrp="1"/>
          </p:cNvSpPr>
          <p:nvPr>
            <p:ph type="title"/>
          </p:nvPr>
        </p:nvSpPr>
        <p:spPr/>
        <p:txBody>
          <a:bodyPr/>
          <a:lstStyle/>
          <a:p>
            <a:r>
              <a:rPr lang="en-US" dirty="0"/>
              <a:t>LO3, key terms</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drug tolerance</a:t>
            </a:r>
            <a:endParaRPr lang="en-US" dirty="0"/>
          </a:p>
          <a:p>
            <a:endParaRPr lang="en-US" dirty="0"/>
          </a:p>
          <a:p>
            <a:r>
              <a:rPr lang="en-US" dirty="0"/>
              <a:t>Define the following terms:</a:t>
            </a:r>
            <a:br>
              <a:rPr lang="en-US" dirty="0"/>
            </a:br>
            <a:endParaRPr lang="en-US" dirty="0"/>
          </a:p>
          <a:p>
            <a:r>
              <a:rPr lang="en-US" b="1" dirty="0"/>
              <a:t>drug tolerance</a:t>
            </a:r>
          </a:p>
          <a:p>
            <a:pPr lvl="1"/>
            <a:r>
              <a:rPr lang="en-US" dirty="0"/>
              <a:t>a situation in which a patient no longer receives the same effect from the same dose of medication.</a:t>
            </a:r>
          </a:p>
          <a:p>
            <a:r>
              <a:rPr lang="en-US" b="1" dirty="0"/>
              <a:t>cross tolerance</a:t>
            </a:r>
          </a:p>
          <a:p>
            <a:pPr lvl="1"/>
            <a:r>
              <a:rPr lang="en-US" dirty="0"/>
              <a:t>a situation in which a patient develops tolerance to a drug because they have already developed tolerance to another drug in the same drug class.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795676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04AC16A-E726-F14E-83A4-781873BC8B12}"/>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drug tolerance</a:t>
            </a:r>
            <a:endParaRPr lang="en-US" dirty="0"/>
          </a:p>
          <a:p>
            <a:endParaRPr lang="en-US" dirty="0"/>
          </a:p>
          <a:p>
            <a:r>
              <a:rPr lang="en-US" dirty="0"/>
              <a:t>Drug tolerance can develop in two different ways:</a:t>
            </a:r>
          </a:p>
          <a:p>
            <a:pPr marL="342900" indent="-342900">
              <a:buFont typeface="Arial" panose="020B0604020202020204" pitchFamily="34" charset="0"/>
              <a:buChar char="•"/>
            </a:pPr>
            <a:r>
              <a:rPr lang="en-US" dirty="0"/>
              <a:t>Receptors no longer produce the desired response to a drug</a:t>
            </a:r>
          </a:p>
          <a:p>
            <a:pPr marL="342900" indent="-342900">
              <a:buFont typeface="Arial" panose="020B0604020202020204" pitchFamily="34" charset="0"/>
              <a:buChar char="•"/>
            </a:pPr>
            <a:r>
              <a:rPr lang="en-US" dirty="0"/>
              <a:t>The drug may begin clearing from the body more quickly, which can decrease the drug’s effect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33652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04AC16A-E726-F14E-83A4-781873BC8B12}"/>
              </a:ext>
            </a:extLst>
          </p:cNvPr>
          <p:cNvSpPr>
            <a:spLocks noGrp="1"/>
          </p:cNvSpPr>
          <p:nvPr>
            <p:ph type="title"/>
          </p:nvPr>
        </p:nvSpPr>
        <p:spPr/>
        <p:txBody>
          <a:bodyPr/>
          <a:lstStyle/>
          <a:p>
            <a:r>
              <a:rPr lang="en-US" dirty="0"/>
              <a:t>LO3, content 2</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drug tolerance</a:t>
            </a:r>
            <a:endParaRPr lang="en-US" dirty="0"/>
          </a:p>
          <a:p>
            <a:endParaRPr lang="en-US" dirty="0"/>
          </a:p>
          <a:p>
            <a:r>
              <a:rPr lang="en-US" dirty="0"/>
              <a:t>REMEMBER:</a:t>
            </a:r>
          </a:p>
          <a:p>
            <a:endParaRPr lang="en-US" dirty="0"/>
          </a:p>
          <a:p>
            <a:r>
              <a:rPr lang="en-US" dirty="0"/>
              <a:t>Drug tolerance is more likely to happen in residents who take many different medications. The term </a:t>
            </a:r>
            <a:r>
              <a:rPr lang="en-US" i="1" dirty="0"/>
              <a:t>polypharmacy</a:t>
            </a:r>
            <a:r>
              <a:rPr lang="en-US" dirty="0"/>
              <a:t> usually refers to situations in which a person takes more than five prescription medications</a:t>
            </a:r>
          </a:p>
          <a:p>
            <a:endParaRPr lang="en-US" dirty="0"/>
          </a:p>
          <a:p>
            <a:r>
              <a:rPr lang="en-US" dirty="0"/>
              <a:t>Polypharmacy creates a higher risk for drug tolerance and for drug interactions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56294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04AC16A-E726-F14E-83A4-781873BC8B12}"/>
              </a:ext>
            </a:extLst>
          </p:cNvPr>
          <p:cNvSpPr>
            <a:spLocks noGrp="1"/>
          </p:cNvSpPr>
          <p:nvPr>
            <p:ph type="title"/>
          </p:nvPr>
        </p:nvSpPr>
        <p:spPr/>
        <p:txBody>
          <a:bodyPr/>
          <a:lstStyle/>
          <a:p>
            <a:r>
              <a:rPr lang="en-US" dirty="0"/>
              <a:t>LO3, content 3</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drug tolerance</a:t>
            </a:r>
            <a:endParaRPr lang="en-US" dirty="0"/>
          </a:p>
          <a:p>
            <a:endParaRPr lang="en-US" dirty="0"/>
          </a:p>
          <a:p>
            <a:r>
              <a:rPr lang="en-US" dirty="0"/>
              <a:t>REMEMBER:</a:t>
            </a:r>
          </a:p>
          <a:p>
            <a:endParaRPr lang="en-US" dirty="0"/>
          </a:p>
          <a:p>
            <a:r>
              <a:rPr lang="en-US" dirty="0"/>
              <a:t>Opioids are a drug class associated with cross tolerance. Residents who develop tolerance to one specific opioid may have tolerance to other opioids as well</a:t>
            </a:r>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69919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04AC16A-E726-F14E-83A4-781873BC8B12}"/>
              </a:ext>
            </a:extLst>
          </p:cNvPr>
          <p:cNvSpPr>
            <a:spLocks noGrp="1"/>
          </p:cNvSpPr>
          <p:nvPr>
            <p:ph type="title"/>
          </p:nvPr>
        </p:nvSpPr>
        <p:spPr/>
        <p:txBody>
          <a:bodyPr/>
          <a:lstStyle/>
          <a:p>
            <a:r>
              <a:rPr lang="en-US" dirty="0"/>
              <a:t>LO3, content 4</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drug tolerance</a:t>
            </a:r>
            <a:endParaRPr lang="en-US" dirty="0"/>
          </a:p>
          <a:p>
            <a:endParaRPr lang="en-US" dirty="0"/>
          </a:p>
          <a:p>
            <a:r>
              <a:rPr lang="en-US" dirty="0"/>
              <a:t>There is a difference between tolerance, dependence, and addiction:</a:t>
            </a:r>
          </a:p>
          <a:p>
            <a:pPr marL="342900" indent="-342900">
              <a:buFont typeface="Arial" panose="020B0604020202020204" pitchFamily="34" charset="0"/>
              <a:buChar char="•"/>
            </a:pPr>
            <a:r>
              <a:rPr lang="en-US" dirty="0"/>
              <a:t>Tolerance is a reduced response to a drug</a:t>
            </a:r>
          </a:p>
          <a:p>
            <a:pPr marL="342900" indent="-342900">
              <a:buFont typeface="Arial" panose="020B0604020202020204" pitchFamily="34" charset="0"/>
              <a:buChar char="•"/>
            </a:pPr>
            <a:r>
              <a:rPr lang="en-US" dirty="0"/>
              <a:t>Dependence occurs when the body does not function normally without the drug</a:t>
            </a:r>
          </a:p>
          <a:p>
            <a:pPr marL="342900" indent="-342900">
              <a:buFont typeface="Arial" panose="020B0604020202020204" pitchFamily="34" charset="0"/>
              <a:buChar char="•"/>
            </a:pPr>
            <a:r>
              <a:rPr lang="en-US" dirty="0"/>
              <a:t>Addiction has physical and psychological aspects and is caused by repeated use of a drug. It is a chronic condition requiring medical supervision</a:t>
            </a:r>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89431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B63E6A3-D3AE-AF4A-BC9D-7C50E2BC8B2B}"/>
              </a:ext>
            </a:extLst>
          </p:cNvPr>
          <p:cNvSpPr>
            <a:spLocks noGrp="1"/>
          </p:cNvSpPr>
          <p:nvPr>
            <p:ph type="title"/>
          </p:nvPr>
        </p:nvSpPr>
        <p:spPr/>
        <p:txBody>
          <a:bodyPr/>
          <a:lstStyle/>
          <a:p>
            <a:r>
              <a:rPr lang="en-US" dirty="0"/>
              <a:t>LO4, key terms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Describe drug interactions</a:t>
            </a:r>
            <a:endParaRPr lang="en-US" dirty="0"/>
          </a:p>
          <a:p>
            <a:endParaRPr lang="en-US" dirty="0"/>
          </a:p>
          <a:p>
            <a:r>
              <a:rPr lang="en-US" dirty="0"/>
              <a:t>Define the following terms:</a:t>
            </a:r>
            <a:br>
              <a:rPr lang="en-US" dirty="0"/>
            </a:br>
            <a:endParaRPr lang="en-US" dirty="0"/>
          </a:p>
          <a:p>
            <a:r>
              <a:rPr lang="en-US" b="1" dirty="0"/>
              <a:t>interaction</a:t>
            </a:r>
          </a:p>
          <a:p>
            <a:pPr lvl="1"/>
            <a:r>
              <a:rPr lang="en-US" dirty="0"/>
              <a:t>in pharmacology, a situation in which a substance or condition changes the way a drug works in a person’s body. </a:t>
            </a:r>
          </a:p>
          <a:p>
            <a:r>
              <a:rPr lang="en-US" b="1" dirty="0"/>
              <a:t>drug-disease interaction</a:t>
            </a:r>
          </a:p>
          <a:p>
            <a:pPr lvl="1"/>
            <a:r>
              <a:rPr lang="en-US" dirty="0"/>
              <a:t>a situation in which a health condition affects how a drug works in a person’s body.</a:t>
            </a:r>
          </a:p>
          <a:p>
            <a:r>
              <a:rPr lang="en-US" b="1" dirty="0"/>
              <a:t>drug-drug interaction</a:t>
            </a:r>
          </a:p>
          <a:p>
            <a:pPr lvl="1"/>
            <a:r>
              <a:rPr lang="en-US" dirty="0"/>
              <a:t>a situation in which one drug changes the effects of another.</a:t>
            </a:r>
          </a:p>
          <a:p>
            <a:r>
              <a:rPr lang="en-US" b="1" dirty="0"/>
              <a:t>addition</a:t>
            </a:r>
          </a:p>
          <a:p>
            <a:pPr lvl="1"/>
            <a:r>
              <a:rPr lang="en-US" dirty="0"/>
              <a:t>a drug interaction in which the combined effects of two drugs equals the sum of the effects of each drug alone.</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620638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B63E6A3-D3AE-AF4A-BC9D-7C50E2BC8B2B}"/>
              </a:ext>
            </a:extLst>
          </p:cNvPr>
          <p:cNvSpPr>
            <a:spLocks noGrp="1"/>
          </p:cNvSpPr>
          <p:nvPr>
            <p:ph type="title"/>
          </p:nvPr>
        </p:nvSpPr>
        <p:spPr/>
        <p:txBody>
          <a:bodyPr/>
          <a:lstStyle/>
          <a:p>
            <a:r>
              <a:rPr lang="en-US" dirty="0"/>
              <a:t>LO4, key terms 2</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Describe drug interactions</a:t>
            </a:r>
            <a:endParaRPr lang="en-US" dirty="0"/>
          </a:p>
          <a:p>
            <a:endParaRPr lang="en-US" dirty="0"/>
          </a:p>
          <a:p>
            <a:r>
              <a:rPr lang="en-US" dirty="0"/>
              <a:t>Define the following terms:</a:t>
            </a:r>
            <a:br>
              <a:rPr lang="en-US" dirty="0"/>
            </a:br>
            <a:endParaRPr lang="en-US" dirty="0"/>
          </a:p>
          <a:p>
            <a:r>
              <a:rPr lang="en-US" b="1" dirty="0"/>
              <a:t>antagonism</a:t>
            </a:r>
          </a:p>
          <a:p>
            <a:pPr lvl="1"/>
            <a:r>
              <a:rPr lang="en-US" dirty="0"/>
              <a:t>a drug interaction in which the action of one drug decreases or cancels the effects of the other drug.</a:t>
            </a:r>
          </a:p>
          <a:p>
            <a:r>
              <a:rPr lang="en-US" b="1" dirty="0"/>
              <a:t>potentiation</a:t>
            </a:r>
          </a:p>
          <a:p>
            <a:pPr lvl="1"/>
            <a:r>
              <a:rPr lang="en-US" dirty="0"/>
              <a:t>a drug interaction in which the action of one drug increases the effects of the other drug or makes its effects last longer.</a:t>
            </a:r>
          </a:p>
          <a:p>
            <a:r>
              <a:rPr lang="en-US" b="1" dirty="0"/>
              <a:t>synergism</a:t>
            </a:r>
          </a:p>
          <a:p>
            <a:pPr lvl="1"/>
            <a:r>
              <a:rPr lang="en-US" dirty="0"/>
              <a:t>a drug interaction in which the combined effect of two or more drugs is greater than the sum of the effects of each drug alone.</a:t>
            </a:r>
          </a:p>
          <a:p>
            <a:r>
              <a:rPr lang="en-US" b="1" dirty="0"/>
              <a:t>drug-nutrient interaction</a:t>
            </a:r>
          </a:p>
          <a:p>
            <a:pPr lvl="1"/>
            <a:r>
              <a:rPr lang="en-US" dirty="0"/>
              <a:t>a situation in which a food, beverage, or dietary supplement changes the effect of a drug.</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1730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B63E6A3-D3AE-AF4A-BC9D-7C50E2BC8B2B}"/>
              </a:ext>
            </a:extLst>
          </p:cNvPr>
          <p:cNvSpPr>
            <a:spLocks noGrp="1"/>
          </p:cNvSpPr>
          <p:nvPr>
            <p:ph type="title"/>
          </p:nvPr>
        </p:nvSpPr>
        <p:spPr/>
        <p:txBody>
          <a:bodyPr/>
          <a:lstStyle/>
          <a:p>
            <a:r>
              <a:rPr lang="en-US" dirty="0"/>
              <a:t>LO4, content 1</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Describe drug interactions</a:t>
            </a:r>
            <a:endParaRPr lang="en-US" dirty="0"/>
          </a:p>
          <a:p>
            <a:endParaRPr lang="en-US" dirty="0"/>
          </a:p>
          <a:p>
            <a:r>
              <a:rPr lang="en-US" dirty="0"/>
              <a:t>REMEMBER:</a:t>
            </a:r>
          </a:p>
          <a:p>
            <a:endParaRPr lang="en-US" dirty="0"/>
          </a:p>
          <a:p>
            <a:r>
              <a:rPr lang="en-US" dirty="0"/>
              <a:t>It is beyond an MA’s scope of practice to assess residents or determine if ordered drugs will cause an interaction. They should be alert to the possibility, however, and report anything of concern to the nurse</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470776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785FA33-1379-8745-85E3-F4B666D2CCC2}"/>
              </a:ext>
            </a:extLst>
          </p:cNvPr>
          <p:cNvSpPr>
            <a:spLocks noGrp="1"/>
          </p:cNvSpPr>
          <p:nvPr>
            <p:ph type="title"/>
          </p:nvPr>
        </p:nvSpPr>
        <p:spPr/>
        <p:txBody>
          <a:bodyPr/>
          <a:lstStyle/>
          <a:p>
            <a:r>
              <a:rPr lang="en-US" dirty="0"/>
              <a:t>LO4, content 2</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normAutofit/>
          </a:bodyPr>
          <a:lstStyle/>
          <a:p>
            <a:r>
              <a:rPr lang="en-US" dirty="0"/>
              <a:t>Key Material 6-1: Drug Interactions</a:t>
            </a:r>
          </a:p>
          <a:p>
            <a:endParaRPr lang="en-US" dirty="0"/>
          </a:p>
          <a:p>
            <a:pPr marL="342900" indent="-342900">
              <a:buFont typeface="Arial" panose="020B0604020202020204" pitchFamily="34" charset="0"/>
              <a:buChar char="•"/>
            </a:pPr>
            <a:r>
              <a:rPr lang="en-US" b="1" dirty="0"/>
              <a:t>Drug-disease interaction </a:t>
            </a:r>
            <a:r>
              <a:rPr lang="en-US" dirty="0"/>
              <a:t>happens when a disease process and a drug interact. This may slow down or speed up the action of the drug, or may worsen the health condition</a:t>
            </a:r>
          </a:p>
          <a:p>
            <a:pPr marL="342900" indent="-342900">
              <a:buFont typeface="Arial" panose="020B0604020202020204" pitchFamily="34" charset="0"/>
              <a:buChar char="•"/>
            </a:pPr>
            <a:r>
              <a:rPr lang="en-US" b="1" dirty="0"/>
              <a:t>Drug-drug interactions</a:t>
            </a:r>
            <a:endParaRPr lang="en-US" dirty="0"/>
          </a:p>
          <a:p>
            <a:pPr marL="800100" lvl="1" indent="-342900">
              <a:buFont typeface="Arial" panose="020B0604020202020204" pitchFamily="34" charset="0"/>
              <a:buChar char="•"/>
            </a:pPr>
            <a:r>
              <a:rPr lang="en-US" b="1" dirty="0"/>
              <a:t>Addition</a:t>
            </a:r>
            <a:r>
              <a:rPr lang="en-US" dirty="0"/>
              <a:t> occurs when the effects of two drugs combine to equal the sum of the effects of each drug alone</a:t>
            </a:r>
          </a:p>
          <a:p>
            <a:pPr marL="800100" lvl="1" indent="-342900">
              <a:buFont typeface="Arial" panose="020B0604020202020204" pitchFamily="34" charset="0"/>
              <a:buChar char="•"/>
            </a:pPr>
            <a:r>
              <a:rPr lang="en-US" b="1" dirty="0"/>
              <a:t>Antagonism</a:t>
            </a:r>
            <a:r>
              <a:rPr lang="en-US" dirty="0"/>
              <a:t> means the action of one drug decreases or cancels the effects of another drug</a:t>
            </a:r>
          </a:p>
          <a:p>
            <a:pPr marL="800100" lvl="1" indent="-342900">
              <a:buFont typeface="Arial" panose="020B0604020202020204" pitchFamily="34" charset="0"/>
              <a:buChar char="•"/>
            </a:pPr>
            <a:r>
              <a:rPr lang="en-US" b="1" dirty="0"/>
              <a:t>Potentiation</a:t>
            </a:r>
            <a:r>
              <a:rPr lang="en-US" dirty="0"/>
              <a:t> happens when one drug increases the effects of another drug or makes the effects last longer</a:t>
            </a:r>
          </a:p>
          <a:p>
            <a:pPr marL="800100" lvl="1" indent="-342900">
              <a:buFont typeface="Arial" panose="020B0604020202020204" pitchFamily="34" charset="0"/>
              <a:buChar char="•"/>
            </a:pPr>
            <a:r>
              <a:rPr lang="en-US" b="1" dirty="0"/>
              <a:t>Synergism</a:t>
            </a:r>
            <a:r>
              <a:rPr lang="en-US" dirty="0"/>
              <a:t> occurs when two drugs taken together have a greater effect that the sum of each drug taken alone</a:t>
            </a:r>
          </a:p>
          <a:p>
            <a:pPr marL="342900" indent="-342900">
              <a:buFont typeface="Arial" panose="020B0604020202020204" pitchFamily="34" charset="0"/>
              <a:buChar char="•"/>
            </a:pPr>
            <a:r>
              <a:rPr lang="en-US" b="1" dirty="0"/>
              <a:t>Drug-nutrient interaction </a:t>
            </a:r>
            <a:r>
              <a:rPr lang="en-US" dirty="0"/>
              <a:t>can be caused by foods, beverages, or nutrients taken in the form of supplements. These interactions may increase or decrease the effects of drugs, or may cause damage to the body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539166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B63E6A3-D3AE-AF4A-BC9D-7C50E2BC8B2B}"/>
              </a:ext>
            </a:extLst>
          </p:cNvPr>
          <p:cNvSpPr>
            <a:spLocks noGrp="1"/>
          </p:cNvSpPr>
          <p:nvPr>
            <p:ph type="title"/>
          </p:nvPr>
        </p:nvSpPr>
        <p:spPr/>
        <p:txBody>
          <a:bodyPr/>
          <a:lstStyle/>
          <a:p>
            <a:r>
              <a:rPr lang="en-US" dirty="0"/>
              <a:t>LO4, content 3</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Describe drug interactions</a:t>
            </a:r>
            <a:endParaRPr lang="en-US" dirty="0"/>
          </a:p>
          <a:p>
            <a:endParaRPr lang="en-US" dirty="0"/>
          </a:p>
          <a:p>
            <a:r>
              <a:rPr lang="en-US" dirty="0"/>
              <a:t>REMEMBER:</a:t>
            </a:r>
          </a:p>
          <a:p>
            <a:endParaRPr lang="en-US" dirty="0"/>
          </a:p>
          <a:p>
            <a:r>
              <a:rPr lang="en-US" dirty="0"/>
              <a:t>Check the MAR for warnings about any nutrients that should not be consumed along with a particular drug</a:t>
            </a:r>
          </a:p>
          <a:p>
            <a:endParaRPr lang="en-US" dirty="0"/>
          </a:p>
          <a:p>
            <a:r>
              <a:rPr lang="en-US" dirty="0"/>
              <a:t>Herbal supplements can also cause interactions and should only be administered if listed on the MAR</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023118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2D0EB45-6956-455A-9F9D-4DE23AE8124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934C93"/>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934C93"/>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B63E6A3-D3AE-AF4A-BC9D-7C50E2BC8B2B}"/>
              </a:ext>
            </a:extLst>
          </p:cNvPr>
          <p:cNvSpPr>
            <a:spLocks noGrp="1"/>
          </p:cNvSpPr>
          <p:nvPr>
            <p:ph type="title"/>
          </p:nvPr>
        </p:nvSpPr>
        <p:spPr/>
        <p:txBody>
          <a:bodyPr/>
          <a:lstStyle/>
          <a:p>
            <a:r>
              <a:rPr lang="en-US" dirty="0"/>
              <a:t>LO4, content 4</a:t>
            </a:r>
          </a:p>
        </p:txBody>
      </p:sp>
      <p:sp>
        <p:nvSpPr>
          <p:cNvPr id="2" name="Content Placeholder 1">
            <a:extLst>
              <a:ext uri="{FF2B5EF4-FFF2-40B4-BE49-F238E27FC236}">
                <a16:creationId xmlns:a16="http://schemas.microsoft.com/office/drawing/2014/main" id="{EF713EA0-1506-43D6-8749-E39FF2E2BBA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Describe drug interactions</a:t>
            </a:r>
            <a:endParaRPr lang="en-US" dirty="0"/>
          </a:p>
          <a:p>
            <a:endParaRPr lang="en-US" dirty="0"/>
          </a:p>
          <a:p>
            <a:r>
              <a:rPr lang="en-US" dirty="0"/>
              <a:t>Common interactions include the following:</a:t>
            </a:r>
          </a:p>
          <a:p>
            <a:pPr marL="342900" indent="-342900">
              <a:buFont typeface="Arial" panose="020B0604020202020204" pitchFamily="34" charset="0"/>
              <a:buChar char="•"/>
            </a:pPr>
            <a:r>
              <a:rPr lang="en-US" dirty="0"/>
              <a:t>Grapefruit juice interacts with many medications</a:t>
            </a:r>
          </a:p>
          <a:p>
            <a:pPr marL="342900" indent="-342900">
              <a:buFont typeface="Arial" panose="020B0604020202020204" pitchFamily="34" charset="0"/>
              <a:buChar char="•"/>
            </a:pPr>
            <a:r>
              <a:rPr lang="en-US" dirty="0"/>
              <a:t>Calcium-containing products can decrease the effectiveness of some antibiotics</a:t>
            </a:r>
          </a:p>
          <a:p>
            <a:pPr marL="342900" indent="-342900">
              <a:buFont typeface="Arial" panose="020B0604020202020204" pitchFamily="34" charset="0"/>
              <a:buChar char="•"/>
            </a:pPr>
            <a:r>
              <a:rPr lang="en-US" dirty="0"/>
              <a:t>Vitamin K supplements and vitamin K-rich foods decrease the effects of warfarin</a:t>
            </a:r>
          </a:p>
          <a:p>
            <a:pPr marL="342900" indent="-342900">
              <a:buFont typeface="Arial" panose="020B0604020202020204" pitchFamily="34" charset="0"/>
              <a:buChar char="•"/>
            </a:pPr>
            <a:r>
              <a:rPr lang="en-US" dirty="0"/>
              <a:t>Alcohol should be avoided while taking several types of medication, including the antimicrobial metronidazole and medications that stimulate or depress the central nervous system (e.g., antidepressants, anti-anxiety medications)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791154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865942"/>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3449</TotalTime>
  <Words>1607</Words>
  <Application>Microsoft Macintosh PowerPoint</Application>
  <PresentationFormat>Widescreen</PresentationFormat>
  <Paragraphs>366</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Scala Sans</vt:lpstr>
      <vt:lpstr>1_Office Theme</vt:lpstr>
      <vt:lpstr>PowerPoint Presentation</vt:lpstr>
      <vt:lpstr>Chapter 6, LO1, key terms 1</vt:lpstr>
      <vt:lpstr>LO1, content 1</vt:lpstr>
      <vt:lpstr>LO1, content 2</vt:lpstr>
      <vt:lpstr>LO1, content 3</vt:lpstr>
      <vt:lpstr>LO1, content 4</vt:lpstr>
      <vt:lpstr>LO1, content 5</vt:lpstr>
      <vt:lpstr>LO2, key terms</vt:lpstr>
      <vt:lpstr>LO2, content 1</vt:lpstr>
      <vt:lpstr>LO2, content 2</vt:lpstr>
      <vt:lpstr>LO2, content 3</vt:lpstr>
      <vt:lpstr>LO2, content 4</vt:lpstr>
      <vt:lpstr>LO3, key terms</vt:lpstr>
      <vt:lpstr>LO3, content 1</vt:lpstr>
      <vt:lpstr>LO3, content 2</vt:lpstr>
      <vt:lpstr>LO3, content 3</vt:lpstr>
      <vt:lpstr>LO3, content 4</vt:lpstr>
      <vt:lpstr>LO4, key terms 1</vt:lpstr>
      <vt:lpstr>LO4, key terms 2</vt:lpstr>
      <vt:lpstr>LO4, content 1</vt:lpstr>
      <vt:lpstr>LO4, content 2</vt:lpstr>
      <vt:lpstr>LO4, content 3</vt:lpstr>
      <vt:lpstr>LO4, content 4</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61</cp:revision>
  <dcterms:created xsi:type="dcterms:W3CDTF">2020-03-18T21:18:02Z</dcterms:created>
  <dcterms:modified xsi:type="dcterms:W3CDTF">2021-05-20T13:36:10Z</dcterms:modified>
</cp:coreProperties>
</file>