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05" r:id="rId2"/>
    <p:sldId id="306" r:id="rId3"/>
    <p:sldId id="321" r:id="rId4"/>
    <p:sldId id="320" r:id="rId5"/>
    <p:sldId id="335" r:id="rId6"/>
    <p:sldId id="336" r:id="rId7"/>
    <p:sldId id="337" r:id="rId8"/>
    <p:sldId id="307" r:id="rId9"/>
    <p:sldId id="323" r:id="rId10"/>
    <p:sldId id="338" r:id="rId11"/>
    <p:sldId id="339" r:id="rId12"/>
    <p:sldId id="340" r:id="rId13"/>
    <p:sldId id="341" r:id="rId14"/>
    <p:sldId id="342" r:id="rId15"/>
    <p:sldId id="313" r:id="rId16"/>
    <p:sldId id="343" r:id="rId17"/>
    <p:sldId id="327" r:id="rId18"/>
    <p:sldId id="344" r:id="rId19"/>
    <p:sldId id="345" r:id="rId20"/>
    <p:sldId id="346" r:id="rId21"/>
    <p:sldId id="312" r:id="rId22"/>
    <p:sldId id="330" r:id="rId23"/>
    <p:sldId id="348" r:id="rId24"/>
    <p:sldId id="349" r:id="rId25"/>
    <p:sldId id="350" r:id="rId26"/>
    <p:sldId id="351" r:id="rId27"/>
    <p:sldId id="331" r:id="rId28"/>
    <p:sldId id="332" r:id="rId29"/>
    <p:sldId id="352" r:id="rId30"/>
    <p:sldId id="353" r:id="rId31"/>
    <p:sldId id="354" r:id="rId32"/>
    <p:sldId id="355" r:id="rId33"/>
    <p:sldId id="356" r:id="rId34"/>
    <p:sldId id="333" r:id="rId35"/>
    <p:sldId id="357" r:id="rId36"/>
    <p:sldId id="334" r:id="rId37"/>
    <p:sldId id="358" r:id="rId38"/>
    <p:sldId id="359" r:id="rId39"/>
    <p:sldId id="360" r:id="rId40"/>
    <p:sldId id="361" r:id="rId41"/>
    <p:sldId id="362" r:id="rId42"/>
    <p:sldId id="363" r:id="rId43"/>
    <p:sldId id="304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721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3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75C2F09-6D1A-4A21-97DF-F888DD13FD39}"/>
              </a:ext>
            </a:extLst>
          </p:cNvPr>
          <p:cNvSpPr txBox="1"/>
          <p:nvPr userDrawn="1"/>
        </p:nvSpPr>
        <p:spPr>
          <a:xfrm>
            <a:off x="1142997" y="539293"/>
            <a:ext cx="1816272" cy="1862048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cala Sans" panose="02000503060000020003" pitchFamily="2" charset="0"/>
                <a:ea typeface="+mn-ea"/>
                <a:cs typeface="+mn-cs"/>
              </a:rPr>
              <a:t>12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FEBFBB-1425-4277-8500-4300AD017EDA}"/>
              </a:ext>
            </a:extLst>
          </p:cNvPr>
          <p:cNvSpPr txBox="1"/>
          <p:nvPr userDrawn="1"/>
        </p:nvSpPr>
        <p:spPr>
          <a:xfrm>
            <a:off x="1150229" y="2062986"/>
            <a:ext cx="87170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cala Sans" panose="02000503060000020003" pitchFamily="2" charset="0"/>
                <a:ea typeface="+mn-ea"/>
                <a:cs typeface="+mn-cs"/>
              </a:rPr>
              <a:t>The Nervous System and Common Medications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F1DCB50-4D11-4F0B-AF02-F079736107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100000"/>
          </a:blip>
          <a:stretch>
            <a:fillRect/>
          </a:stretch>
        </p:blipFill>
        <p:spPr>
          <a:xfrm>
            <a:off x="1325043" y="4825851"/>
            <a:ext cx="1236907" cy="128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280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DE03F057-80E6-4933-B039-F692BF84B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18452" y="6279454"/>
            <a:ext cx="1297633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  <a:latin typeface="+mn-lt"/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934C93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934C93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BB4DE4-EBEE-4044-9F6A-2507FF951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78763"/>
            <a:ext cx="7793182" cy="7848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393" y="780226"/>
            <a:ext cx="10234377" cy="5396738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2000">
                <a:latin typeface="+mn-lt"/>
              </a:defRPr>
            </a:lvl1pPr>
            <a:lvl2pPr marL="457200" indent="0">
              <a:spcBef>
                <a:spcPts val="0"/>
              </a:spcBef>
              <a:spcAft>
                <a:spcPts val="600"/>
              </a:spcAft>
              <a:buNone/>
              <a:defRPr sz="2000">
                <a:latin typeface="+mn-lt"/>
              </a:defRPr>
            </a:lvl2pPr>
            <a:lvl3pPr marL="914400" indent="0">
              <a:spcBef>
                <a:spcPts val="0"/>
              </a:spcBef>
              <a:spcAft>
                <a:spcPts val="600"/>
              </a:spcAft>
              <a:buNone/>
              <a:defRPr sz="2000">
                <a:latin typeface="+mn-lt"/>
              </a:defRPr>
            </a:lvl3pPr>
            <a:lvl4pPr marL="1371600" indent="0">
              <a:spcBef>
                <a:spcPts val="0"/>
              </a:spcBef>
              <a:spcAft>
                <a:spcPts val="600"/>
              </a:spcAft>
              <a:buNone/>
              <a:defRPr sz="2000">
                <a:latin typeface="+mn-lt"/>
              </a:defRPr>
            </a:lvl4pPr>
            <a:lvl5pPr marL="1828800" indent="0">
              <a:spcBef>
                <a:spcPts val="0"/>
              </a:spcBef>
              <a:spcAft>
                <a:spcPts val="600"/>
              </a:spcAft>
              <a:buNone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F5F491-9531-4861-B658-DB5FE7E2FEAE}"/>
              </a:ext>
            </a:extLst>
          </p:cNvPr>
          <p:cNvSpPr/>
          <p:nvPr userDrawn="1"/>
        </p:nvSpPr>
        <p:spPr>
          <a:xfrm>
            <a:off x="11328400" y="0"/>
            <a:ext cx="863600" cy="16065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28F0E1-C264-477A-8C68-5954EE75A404}"/>
              </a:ext>
            </a:extLst>
          </p:cNvPr>
          <p:cNvSpPr txBox="1"/>
          <p:nvPr userDrawn="1"/>
        </p:nvSpPr>
        <p:spPr>
          <a:xfrm>
            <a:off x="11506200" y="1752600"/>
            <a:ext cx="369332" cy="332105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ala Sans" panose="02000503060000020003" pitchFamily="2" charset="0"/>
                <a:ea typeface="+mn-ea"/>
                <a:cs typeface="+mn-cs"/>
              </a:rPr>
              <a:t>The Nervous System and Common Medications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CA6800-7865-48FF-933D-2164FAE0ACC9}"/>
              </a:ext>
            </a:extLst>
          </p:cNvPr>
          <p:cNvSpPr txBox="1"/>
          <p:nvPr userDrawn="1"/>
        </p:nvSpPr>
        <p:spPr>
          <a:xfrm>
            <a:off x="11506197" y="101143"/>
            <a:ext cx="18162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t>12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85C658E-B179-4C5F-B3AF-13638309A3D4}"/>
              </a:ext>
            </a:extLst>
          </p:cNvPr>
          <p:cNvCxnSpPr>
            <a:cxnSpLocks/>
          </p:cNvCxnSpPr>
          <p:nvPr userDrawn="1"/>
        </p:nvCxnSpPr>
        <p:spPr>
          <a:xfrm flipH="1">
            <a:off x="745067" y="6629400"/>
            <a:ext cx="10007600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Date Placeholder 16" hidden="1">
            <a:extLst>
              <a:ext uri="{FF2B5EF4-FFF2-40B4-BE49-F238E27FC236}">
                <a16:creationId xmlns:a16="http://schemas.microsoft.com/office/drawing/2014/main" id="{C71CCBE0-D1B9-42FA-8DAC-87EEE4FE9F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279454"/>
            <a:ext cx="2743200" cy="365125"/>
          </a:xfrm>
        </p:spPr>
        <p:txBody>
          <a:bodyPr/>
          <a:lstStyle>
            <a:lvl1pPr>
              <a:defRPr>
                <a:solidFill>
                  <a:sysClr val="windowText" lastClr="000000"/>
                </a:solidFill>
                <a:latin typeface="+mn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C1E1F3-686D-4F52-826D-70A4F80E72A5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5/20/21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18" name="Footer Placeholder 17" hidden="1">
            <a:extLst>
              <a:ext uri="{FF2B5EF4-FFF2-40B4-BE49-F238E27FC236}">
                <a16:creationId xmlns:a16="http://schemas.microsoft.com/office/drawing/2014/main" id="{33E0703D-A83A-40F4-A8D2-8D56B297D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279454"/>
            <a:ext cx="4993783" cy="365125"/>
          </a:xfrm>
        </p:spPr>
        <p:txBody>
          <a:bodyPr/>
          <a:lstStyle>
            <a:lvl1pPr>
              <a:defRPr>
                <a:solidFill>
                  <a:sysClr val="windowText" lastClr="000000"/>
                </a:solidFill>
                <a:latin typeface="+mn-lt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pic>
        <p:nvPicPr>
          <p:cNvPr id="63" name="Graphic 62">
            <a:extLst>
              <a:ext uri="{FF2B5EF4-FFF2-40B4-BE49-F238E27FC236}">
                <a16:creationId xmlns:a16="http://schemas.microsoft.com/office/drawing/2014/main" id="{A0274B49-780C-479A-B0DB-0F3EABBF8D8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1641" y="5924550"/>
            <a:ext cx="719715" cy="74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059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F1DCB50-4D11-4F0B-AF02-F079736107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100000"/>
          </a:blip>
          <a:stretch>
            <a:fillRect/>
          </a:stretch>
        </p:blipFill>
        <p:spPr>
          <a:xfrm>
            <a:off x="4798611" y="2338649"/>
            <a:ext cx="2539591" cy="263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851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  <a:latin typeface="Scala Sans" panose="02000503060000020003" pitchFamily="2" charset="0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182F9F-E9DB-44F9-8F4D-A11E49818C55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ala Sans" panose="02000503060000020003" pitchFamily="2" charset="0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5/20/21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ala Sans" panose="02000503060000020003" pitchFamily="2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>
                <a:solidFill>
                  <a:schemeClr val="tx1"/>
                </a:solidFill>
                <a:latin typeface="Scala Sans" panose="02000503060000020003" pitchFamily="2" charset="0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ala Sans" panose="02000503060000020003" pitchFamily="2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tx1"/>
                </a:solidFill>
                <a:latin typeface="Scala Sans" panose="02000503060000020003" pitchFamily="2" charset="0"/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ala Sans" panose="02000503060000020003" pitchFamily="2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ala Sans" panose="02000503060000020003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6423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6310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32D0EB45-6956-455A-9F9D-4DE23AE81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934C93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934C93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F261C2E-2F1C-5248-9F04-12CBA10EA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6, LO1, key terms 1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713EA0-1506-43D6-8749-E39FF2E2B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Describe the nervous system</a:t>
            </a:r>
          </a:p>
          <a:p>
            <a:endParaRPr lang="en-US" dirty="0"/>
          </a:p>
          <a:p>
            <a:r>
              <a:rPr lang="en-US" dirty="0"/>
              <a:t>Define the following terms: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central nervous system</a:t>
            </a:r>
          </a:p>
          <a:p>
            <a:pPr lvl="1"/>
            <a:r>
              <a:rPr lang="en-US" dirty="0"/>
              <a:t>the part of the nervous system that is composed of the brain and spinal cord.</a:t>
            </a:r>
          </a:p>
          <a:p>
            <a:r>
              <a:rPr lang="en-US" b="1" dirty="0"/>
              <a:t>peripheral nervous system</a:t>
            </a:r>
          </a:p>
          <a:p>
            <a:pPr lvl="1"/>
            <a:r>
              <a:rPr lang="en-US" dirty="0"/>
              <a:t>part of the nervous system made up of the nerves that ex­tend throughout the body.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778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32D0EB45-6956-455A-9F9D-4DE23AE81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934C93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934C93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785FA33-1379-8745-85E3-F4B666D2C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LO1, content 1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713EA0-1506-43D6-8749-E39FF2E2B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Material 12-1 The Nervous System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7" name="Picture 6" descr="illustration of nervous system within the body">
            <a:extLst>
              <a:ext uri="{FF2B5EF4-FFF2-40B4-BE49-F238E27FC236}">
                <a16:creationId xmlns:a16="http://schemas.microsoft.com/office/drawing/2014/main" id="{02121D01-C1F7-8D4B-8862-98996AD63F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3219" y="1169580"/>
            <a:ext cx="4588290" cy="5198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49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32D0EB45-6956-455A-9F9D-4DE23AE81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934C93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934C93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785FA33-1379-8745-85E3-F4B666D2C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LO1, content 2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713EA0-1506-43D6-8749-E39FF2E2B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Describe the nervous system</a:t>
            </a:r>
          </a:p>
          <a:p>
            <a:endParaRPr lang="en-US" dirty="0"/>
          </a:p>
          <a:p>
            <a:r>
              <a:rPr lang="en-US" dirty="0"/>
              <a:t>Remember these points about the nervous system: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Control and message center of body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Controls and coordinates all body functions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Senses information from outside the body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Two main parts are the central nervous system (brain) and peripheral nervous system (nerves)</a:t>
            </a:r>
            <a:endParaRPr lang="en-US" i="1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1957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32D0EB45-6956-455A-9F9D-4DE23AE81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934C93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934C93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785FA33-1379-8745-85E3-F4B666D2C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LO1, content 3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713EA0-1506-43D6-8749-E39FF2E2B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Describe the nervous system</a:t>
            </a:r>
          </a:p>
          <a:p>
            <a:endParaRPr lang="en-US" dirty="0"/>
          </a:p>
          <a:p>
            <a:r>
              <a:rPr lang="en-US" dirty="0"/>
              <a:t>Normal changes of aging include the following: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Slower responses and reflexes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Decrease in sensitivity of nerve endings in skin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Some memory loss, more often with short-term memory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Reduced vision and hearing (sense of balance may be affected)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Decreased sense of taste, touch, and smell</a:t>
            </a:r>
            <a:endParaRPr lang="en-US" i="1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0986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32D0EB45-6956-455A-9F9D-4DE23AE81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934C93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934C93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785FA33-1379-8745-85E3-F4B666D2C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LO1, content 4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713EA0-1506-43D6-8749-E39FF2E2B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Material 12-2 Parts of the Eye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6" name="Picture 5" descr="cutaway view of the eye with parts labeled">
            <a:extLst>
              <a:ext uri="{FF2B5EF4-FFF2-40B4-BE49-F238E27FC236}">
                <a16:creationId xmlns:a16="http://schemas.microsoft.com/office/drawing/2014/main" id="{9C7E9814-8DF6-624C-BBAE-2DB89BD031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581" y="1477964"/>
            <a:ext cx="5842000" cy="469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107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32D0EB45-6956-455A-9F9D-4DE23AE81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934C93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934C93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785FA33-1379-8745-85E3-F4B666D2C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LO1, content 5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713EA0-1506-43D6-8749-E39FF2E2B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Material 12-3 Parts of the Ear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6" name="Picture 5" descr="cutaway view of ear with parts labeled">
            <a:extLst>
              <a:ext uri="{FF2B5EF4-FFF2-40B4-BE49-F238E27FC236}">
                <a16:creationId xmlns:a16="http://schemas.microsoft.com/office/drawing/2014/main" id="{B6F8FC5F-1E7C-144D-9A69-FEDB148B31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6581" y="1300164"/>
            <a:ext cx="71120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796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32D0EB45-6956-455A-9F9D-4DE23AE81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934C93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934C93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6B63F6C-3E93-6544-9E07-A700FB25A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LO2, key terms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713EA0-1506-43D6-8749-E39FF2E2B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en-US" dirty="0">
                <a:solidFill>
                  <a:srgbClr val="FF0000"/>
                </a:solidFill>
              </a:rPr>
              <a:t>Discuss common medications used to treat cerebrovascular accident (CVA) and epilepsy</a:t>
            </a:r>
            <a:endParaRPr lang="en-US" dirty="0"/>
          </a:p>
          <a:p>
            <a:endParaRPr lang="en-US" dirty="0"/>
          </a:p>
          <a:p>
            <a:r>
              <a:rPr lang="en-US" dirty="0"/>
              <a:t>Define the following terms: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cerebrovascular accident (CVA)</a:t>
            </a:r>
          </a:p>
          <a:p>
            <a:pPr lvl="1"/>
            <a:r>
              <a:rPr lang="en-US" dirty="0"/>
              <a:t>a condition that occurs when blood supply to a part of the brain is blocked or a blood vessel leaks or rup­tures within the brain; also called </a:t>
            </a:r>
            <a:r>
              <a:rPr lang="en-US" i="1" dirty="0"/>
              <a:t>stroke</a:t>
            </a:r>
            <a:r>
              <a:rPr lang="en-US" dirty="0"/>
              <a:t>. </a:t>
            </a:r>
          </a:p>
          <a:p>
            <a:r>
              <a:rPr lang="en-US" b="1" dirty="0"/>
              <a:t>transient ischemic attack (TIA)</a:t>
            </a:r>
          </a:p>
          <a:p>
            <a:pPr lvl="1"/>
            <a:r>
              <a:rPr lang="en-US" dirty="0"/>
              <a:t>a warning sign of a CVA/stroke resulting from a temporary lack of oxygen in the brain; symptoms may last up to 24 hours.</a:t>
            </a:r>
          </a:p>
          <a:p>
            <a:r>
              <a:rPr lang="en-US" b="1" dirty="0"/>
              <a:t>epilepsy</a:t>
            </a:r>
          </a:p>
          <a:p>
            <a:pPr lvl="1"/>
            <a:r>
              <a:rPr lang="en-US" dirty="0"/>
              <a:t>a brain disorder that results from a disruption in normal electrical impulses in the brain, which causes repeated seizures.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99055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32D0EB45-6956-455A-9F9D-4DE23AE81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934C93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934C93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6B63F6C-3E93-6544-9E07-A700FB25A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LO2, content 1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713EA0-1506-43D6-8749-E39FF2E2B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en-US" dirty="0">
                <a:solidFill>
                  <a:srgbClr val="FF0000"/>
                </a:solidFill>
              </a:rPr>
              <a:t>Discuss common medications used to treat cerebrovascular accident (CVA) and epilepsy</a:t>
            </a:r>
            <a:endParaRPr lang="en-US" dirty="0"/>
          </a:p>
          <a:p>
            <a:endParaRPr lang="en-US" dirty="0"/>
          </a:p>
          <a:p>
            <a:pPr marL="14288" lvl="1"/>
            <a:r>
              <a:rPr lang="en-US" dirty="0"/>
              <a:t>Understand the following about treatment for CVA/TIA: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Physical, speech, and occupational therapy may help restore skills in communication and ADLs after CVA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Antiplatelet agents reduce platelet aggregation and prevent strokes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Antiplatelet agents may be ordered after a stroke or as a preventive measure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These measures are important in residents taking antiplatelet agents: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Observe and report signs/symptoms of bleeding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Be aware that NSAIDs may be contraindicated in residents taking antiplatelet agents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25730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32D0EB45-6956-455A-9F9D-4DE23AE81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934C93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934C93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6B63F6C-3E93-6544-9E07-A700FB25A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LO2, content 2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713EA0-1506-43D6-8749-E39FF2E2B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en-US" dirty="0">
                <a:solidFill>
                  <a:srgbClr val="FF0000"/>
                </a:solidFill>
              </a:rPr>
              <a:t>Discuss common medications used to treat cerebrovascular accident (CVA) and epilepsy</a:t>
            </a:r>
            <a:endParaRPr lang="en-US" dirty="0"/>
          </a:p>
          <a:p>
            <a:endParaRPr lang="en-US" dirty="0"/>
          </a:p>
          <a:p>
            <a:pPr marL="14288" lvl="1"/>
            <a:r>
              <a:rPr lang="en-US" dirty="0"/>
              <a:t>Treatment for CVA/TIA (cont’d):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Statins, a class of medication that lowers cholesterol levels, can reduce stroke risk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Medications to control blood pressure (antihypertensives) may also be ordered. (Chapter 13 has detailed information on these medications)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Table on textbook p. 107 (or handout) details specific drugs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67164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32D0EB45-6956-455A-9F9D-4DE23AE81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934C93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934C93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6B63F6C-3E93-6544-9E07-A700FB25A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LO2, content 3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713EA0-1506-43D6-8749-E39FF2E2B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en-US" dirty="0">
                <a:solidFill>
                  <a:srgbClr val="FF0000"/>
                </a:solidFill>
              </a:rPr>
              <a:t>Discuss common medications used to treat cerebrovascular accident (CVA) and epilepsy</a:t>
            </a:r>
            <a:endParaRPr lang="en-US" dirty="0"/>
          </a:p>
          <a:p>
            <a:endParaRPr lang="en-US" dirty="0"/>
          </a:p>
          <a:p>
            <a:r>
              <a:rPr lang="en-US" dirty="0"/>
              <a:t>Care guidelines for CVA include the following: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Know the signs of stroke (FAST acronym):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/>
              <a:t>F</a:t>
            </a:r>
            <a:r>
              <a:rPr lang="en-US" dirty="0"/>
              <a:t>ace: Is one side of the face drooping?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/>
              <a:t>A</a:t>
            </a:r>
            <a:r>
              <a:rPr lang="en-US" dirty="0"/>
              <a:t>rms: Is one arm numb or weak?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/>
              <a:t>S</a:t>
            </a:r>
            <a:r>
              <a:rPr lang="en-US" dirty="0"/>
              <a:t>peech: Is the person’s speech slurred?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/>
              <a:t>T</a:t>
            </a:r>
            <a:r>
              <a:rPr lang="en-US" dirty="0"/>
              <a:t>ime: Time is essential when responding to stroke. Report any signs/symptoms to the nurse immediately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Observe residents taking antiplatelet medications for signs of bleeding (bruising, pallor, bright red blood in vomit or stool, stomach cramps, black/tarry stool). Pallor in darker complexions may be seen in the inside lining of the eyelids, or in the mucous membranes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Be alert if residents are prescribed more than one medication that increases bleeding risk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77254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32D0EB45-6956-455A-9F9D-4DE23AE81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934C93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934C93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6B63F6C-3E93-6544-9E07-A700FB25A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LO2, content 4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713EA0-1506-43D6-8749-E39FF2E2B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dirty="0">
                <a:solidFill>
                  <a:srgbClr val="FF0000"/>
                </a:solidFill>
              </a:rPr>
              <a:t>Discuss common medications used to treat cerebrovascular accident (CVA) and epilepsy</a:t>
            </a:r>
            <a:endParaRPr lang="en-US" dirty="0"/>
          </a:p>
          <a:p>
            <a:endParaRPr lang="en-US" dirty="0"/>
          </a:p>
          <a:p>
            <a:r>
              <a:rPr lang="en-US" dirty="0"/>
              <a:t>Understand the following about treatment for epilepsy: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Treatment can include medication and/or surgery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Antiepileptic drugs may also be called </a:t>
            </a:r>
            <a:r>
              <a:rPr lang="en-US" i="1" dirty="0"/>
              <a:t>anticonvulsants</a:t>
            </a:r>
            <a:r>
              <a:rPr lang="en-US" dirty="0"/>
              <a:t> or </a:t>
            </a:r>
            <a:r>
              <a:rPr lang="en-US" i="1" dirty="0"/>
              <a:t>antiseizure drugs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Medications work by either increasing calming chemicals in the brain or decreasing chemicals in the brain that excite the nervous system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Benzodiazepines are a class that include several common antiepileptic drugs; not all antiepileptic/anticonvulsant drugs are benzodiazepines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33191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32D0EB45-6956-455A-9F9D-4DE23AE81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934C93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934C93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6B63F6C-3E93-6544-9E07-A700FB25A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LO2, content 5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713EA0-1506-43D6-8749-E39FF2E2B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dirty="0">
                <a:solidFill>
                  <a:srgbClr val="FF0000"/>
                </a:solidFill>
              </a:rPr>
              <a:t>Discuss common medications used to treat cerebrovascular accident (CVA) and epilepsy</a:t>
            </a:r>
            <a:endParaRPr lang="en-US" dirty="0"/>
          </a:p>
          <a:p>
            <a:endParaRPr lang="en-US" dirty="0"/>
          </a:p>
          <a:p>
            <a:r>
              <a:rPr lang="en-US" dirty="0"/>
              <a:t>Treatment for epilepsy (cont’d):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All antiepileptic agents have significant side effects, which can include the following: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Dizziness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Weakness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Drowsiness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Weight loss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Psychiatric reactions including suicidal behavior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Table on textbook p. 107 (or handout) details specific drugs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54476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32D0EB45-6956-455A-9F9D-4DE23AE81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934C93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934C93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6B63F6C-3E93-6544-9E07-A700FB25A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LO2, content 6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713EA0-1506-43D6-8749-E39FF2E2B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dirty="0">
                <a:solidFill>
                  <a:srgbClr val="FF0000"/>
                </a:solidFill>
              </a:rPr>
              <a:t>Discuss common medications used to treat cerebrovascular accident (CVA) and epilepsy</a:t>
            </a:r>
            <a:endParaRPr lang="en-US" dirty="0"/>
          </a:p>
          <a:p>
            <a:endParaRPr lang="en-US" dirty="0"/>
          </a:p>
          <a:p>
            <a:r>
              <a:rPr lang="en-US" dirty="0"/>
              <a:t>Care guidelines for epilepsy include the following: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Observe and report changes in residents’ mental state.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Lamotrigine, an antiepileptic drug, can cause a severe skin condition called Stevens-Johnson syndrome (SJS). Observe and report flu-like symptoms and rash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Phenytoin (Dilantin), an antiepileptic drug, has a narrow therapeutic index. Observe for signs of toxicity including slurred speech, nausea/vomiting, jerky movements (including eye movements), and dizziness/drowsiness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52742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32D0EB45-6956-455A-9F9D-4DE23AE81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934C93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934C93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04AC16A-E726-F14E-83A4-781873BC8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LO3, key terms 1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713EA0-1506-43D6-8749-E39FF2E2B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en-US" dirty="0">
                <a:solidFill>
                  <a:srgbClr val="FF0000"/>
                </a:solidFill>
              </a:rPr>
              <a:t>Discuss common medications used to treat multiple sclerosis, myasthenia gravis, Parkinson’s disease, and Alzheimer’s disease</a:t>
            </a:r>
          </a:p>
          <a:p>
            <a:pPr marL="457200" indent="-457200">
              <a:buFont typeface="+mj-lt"/>
              <a:buAutoNum type="arabicPeriod" startAt="3"/>
            </a:pPr>
            <a:endParaRPr lang="en-US" dirty="0"/>
          </a:p>
          <a:p>
            <a:r>
              <a:rPr lang="en-US" dirty="0"/>
              <a:t>Define the following terms: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multiple sclerosis (MS)</a:t>
            </a:r>
          </a:p>
          <a:p>
            <a:pPr lvl="1"/>
            <a:r>
              <a:rPr lang="en-US" dirty="0"/>
              <a:t>a progressive disease in which the myelin sheath breaks down over time; causes problems with balance and walk­ing, along with many other symptoms.</a:t>
            </a:r>
          </a:p>
          <a:p>
            <a:r>
              <a:rPr lang="en-US" b="1" dirty="0"/>
              <a:t>myasthenia gravis (MG)</a:t>
            </a:r>
          </a:p>
          <a:p>
            <a:pPr lvl="1"/>
            <a:r>
              <a:rPr lang="en-US" dirty="0"/>
              <a:t>a condition in which impulses from the nerves are not transmitted properly to the musculoskeletal system; causes muscle weakness.</a:t>
            </a:r>
          </a:p>
          <a:p>
            <a:r>
              <a:rPr lang="en-US" b="1" dirty="0"/>
              <a:t>Parkinson’s disease</a:t>
            </a:r>
          </a:p>
          <a:p>
            <a:pPr lvl="1"/>
            <a:r>
              <a:rPr lang="en-US" dirty="0"/>
              <a:t>a progressive, incurable disease that causes a section of the brain to de­generate; causes stiff muscles, stooped posture, shuffling gait, pill-rolling, and tremors.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56764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32D0EB45-6956-455A-9F9D-4DE23AE81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934C93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934C93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04AC16A-E726-F14E-83A4-781873BC8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LO3, key terms 2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713EA0-1506-43D6-8749-E39FF2E2B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en-US" dirty="0">
                <a:solidFill>
                  <a:srgbClr val="FF0000"/>
                </a:solidFill>
              </a:rPr>
              <a:t>Discuss common medications used to treat multiple sclerosis, myasthenia gravis, Parkinson’s disease, and Alzheimer’s disease</a:t>
            </a:r>
          </a:p>
          <a:p>
            <a:pPr marL="457200" indent="-457200">
              <a:buFont typeface="+mj-lt"/>
              <a:buAutoNum type="arabicPeriod" startAt="3"/>
            </a:pPr>
            <a:endParaRPr lang="en-US" dirty="0"/>
          </a:p>
          <a:p>
            <a:r>
              <a:rPr lang="en-US" dirty="0"/>
              <a:t>Define the following terms: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orthostatic hypotension</a:t>
            </a:r>
          </a:p>
          <a:p>
            <a:pPr lvl="1"/>
            <a:r>
              <a:rPr lang="en-US" dirty="0"/>
              <a:t>a drop in blood pressure when standing up from a seated or supine position.</a:t>
            </a:r>
          </a:p>
          <a:p>
            <a:r>
              <a:rPr lang="en-US" b="1" dirty="0"/>
              <a:t>Alzheimer’s disease </a:t>
            </a:r>
          </a:p>
          <a:p>
            <a:pPr lvl="1"/>
            <a:r>
              <a:rPr lang="en-US" dirty="0"/>
              <a:t>a progressive, incurable disease that causes tangled nerve fibers and pro­tein deposits to form in the brain, which eventu­ally cause dementia.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50903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32D0EB45-6956-455A-9F9D-4DE23AE81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934C93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934C93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04AC16A-E726-F14E-83A4-781873BC8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LO3, content 1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713EA0-1506-43D6-8749-E39FF2E2B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en-US" dirty="0">
                <a:solidFill>
                  <a:srgbClr val="FF0000"/>
                </a:solidFill>
              </a:rPr>
              <a:t>Discuss common medications used to treat multiple sclerosis, myasthenia gravis, Parkinson’s disease, and Alzheimer’s disease</a:t>
            </a:r>
          </a:p>
          <a:p>
            <a:endParaRPr lang="en-US" dirty="0"/>
          </a:p>
          <a:p>
            <a:r>
              <a:rPr lang="en-US" dirty="0"/>
              <a:t>Understand the following about treatment for multiple sclerosis: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Immunomodulatory agents are a drug class that regulates or normalizes the immune system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Side effects of immunomodulatory drugs can include flu-like symptoms, headaches, and depression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Drugs may be prescribed to treat specific symptoms such as muscle spasms (e.g., baclofen)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Corticosteroids can reduce symptoms of MS flare-ups by reducing nerve inflammation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Some medications for MS are administered by injection are so are beyond the scope of practice for medication aides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Table on textbook p. 107 (or handout) details other specific drugs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36525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32D0EB45-6956-455A-9F9D-4DE23AE81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934C93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934C93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04AC16A-E726-F14E-83A4-781873BC8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LO3, content 2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713EA0-1506-43D6-8749-E39FF2E2B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en-US" dirty="0">
                <a:solidFill>
                  <a:srgbClr val="FF0000"/>
                </a:solidFill>
              </a:rPr>
              <a:t>Discuss common medications used to treat multiple sclerosis, myasthenia gravis, Parkinson’s disease, and Alzheimer’s disease</a:t>
            </a:r>
          </a:p>
          <a:p>
            <a:endParaRPr lang="en-US" dirty="0"/>
          </a:p>
          <a:p>
            <a:r>
              <a:rPr lang="en-US" dirty="0"/>
              <a:t>Understand the following about treatment for myasthenia gravis: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Cholinesterase inhibitors can strengthen the signals from the nerves to the muscles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Side effects of cholinesterase inhibitors can include nausea, gas, diarrhea, abdominal pain, and urinary urgency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Side effects are dose-related (increase with higher dose); MA observations/reports can help the care team to determine the best dose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Corticosteroids and immunosuppressants may also be used to treat MG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Residents taking immunosuppressant drugs should be observed closely for signs/symptoms of infection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Table on textbook pp. 107–108 (or handout) details specific drugs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81027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32D0EB45-6956-455A-9F9D-4DE23AE81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934C93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934C93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04AC16A-E726-F14E-83A4-781873BC8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LO3, content 3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713EA0-1506-43D6-8749-E39FF2E2B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en-US" dirty="0">
                <a:solidFill>
                  <a:srgbClr val="FF0000"/>
                </a:solidFill>
              </a:rPr>
              <a:t>Discuss common medications used to treat multiple sclerosis, myasthenia gravis, Parkinson’s disease, and Alzheimer’s disease</a:t>
            </a:r>
          </a:p>
          <a:p>
            <a:endParaRPr lang="en-US" dirty="0"/>
          </a:p>
          <a:p>
            <a:r>
              <a:rPr lang="en-US" dirty="0"/>
              <a:t>Understand the following about treatment for Parkinson’s disease: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Dopamine replacement agents increase a neurotransmitter (brain chemical) related to body movement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Dopamine replacement agents can cause side effects including nausea, dizziness, dry mouth, and orthostatic hypotension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Anticholinergic agents block a neurotransmitter related to involuntary muscle movements and can decrease tremors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Anticholinergic medications can cause dry mouth, constipation, urinary retention, and blurred vision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Table on textbook p. 108 (or handout) details specific drugs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50870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32D0EB45-6956-455A-9F9D-4DE23AE81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934C93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934C93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04AC16A-E726-F14E-83A4-781873BC8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LO3, content 4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713EA0-1506-43D6-8749-E39FF2E2B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en-US" dirty="0">
                <a:solidFill>
                  <a:srgbClr val="FF0000"/>
                </a:solidFill>
              </a:rPr>
              <a:t>Discuss common medications used to treat multiple sclerosis, myasthenia gravis, Parkinson’s disease, and Alzheimer’s disease</a:t>
            </a:r>
          </a:p>
          <a:p>
            <a:endParaRPr lang="en-US" dirty="0"/>
          </a:p>
          <a:p>
            <a:r>
              <a:rPr lang="en-US" dirty="0"/>
              <a:t>Understand the following about treatment for Alzheimer’s disease: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Cholinesterase inhibitors may be ordered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These drugs can cause insomnia (difficulty sleeping), nausea, vomiting, weight loss, and tremors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Transdermal form causes fewer gastrointestinal side effects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Medications that block a substance called NMDA can reduce AD symptoms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Table on textbook p. 108 (and in Appendix E) details specific drugs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20896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D0EB45-6956-455A-9F9D-4DE23AE81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934C93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934C93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B63E6A3-D3AE-AF4A-BC9D-7C50E2BC8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LO4, key terms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713EA0-1506-43D6-8749-E39FF2E2B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4"/>
            </a:pPr>
            <a:r>
              <a:rPr lang="en-US" dirty="0">
                <a:solidFill>
                  <a:srgbClr val="FF0000"/>
                </a:solidFill>
              </a:rPr>
              <a:t>Discuss common medications used to treat pain and fatigue</a:t>
            </a:r>
          </a:p>
          <a:p>
            <a:endParaRPr lang="en-US" dirty="0"/>
          </a:p>
          <a:p>
            <a:r>
              <a:rPr lang="en-US" dirty="0"/>
              <a:t>Define the following terms: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neuropathic pain</a:t>
            </a:r>
          </a:p>
          <a:p>
            <a:pPr lvl="1"/>
            <a:r>
              <a:rPr lang="en-US" dirty="0"/>
              <a:t>pain caused by illness or damage to the nervous system; sometimes accompanied by tingling or numbness.</a:t>
            </a:r>
          </a:p>
          <a:p>
            <a:r>
              <a:rPr lang="en-US" b="1" dirty="0"/>
              <a:t>chronic fatigue syndrome</a:t>
            </a:r>
          </a:p>
          <a:p>
            <a:pPr lvl="1"/>
            <a:r>
              <a:rPr lang="en-US" dirty="0"/>
              <a:t>fatigue (extreme tiredness) lasting at least six months.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06384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32D0EB45-6956-455A-9F9D-4DE23AE81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934C93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934C93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B63E6A3-D3AE-AF4A-BC9D-7C50E2BC8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LO4, content 1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713EA0-1506-43D6-8749-E39FF2E2B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4"/>
            </a:pPr>
            <a:r>
              <a:rPr lang="en-US" dirty="0">
                <a:solidFill>
                  <a:srgbClr val="FF0000"/>
                </a:solidFill>
              </a:rPr>
              <a:t>Discuss common medications used to treat pain and fatigue </a:t>
            </a:r>
          </a:p>
          <a:p>
            <a:endParaRPr lang="en-US" dirty="0"/>
          </a:p>
          <a:p>
            <a:r>
              <a:rPr lang="en-US" dirty="0"/>
              <a:t>Understand the following about treatment for neuropathic pain: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Treatment depends on the cause of the pain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Local neuropathic pain may be treated with a local anesthetic (numbing agent)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 specific type of antidepressant called a </a:t>
            </a:r>
            <a:r>
              <a:rPr lang="en-US" i="1" dirty="0"/>
              <a:t>serotonin norepinephrine reuptake inhibitor (SNRI) </a:t>
            </a:r>
            <a:r>
              <a:rPr lang="en-US" dirty="0"/>
              <a:t>can relieve neuropathic pain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Opioid medications are prescribed only after other treatments have failed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Table on textbook p. 109 (or handout) details specific drugs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07766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32D0EB45-6956-455A-9F9D-4DE23AE81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934C93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934C93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B63E6A3-D3AE-AF4A-BC9D-7C50E2BC8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LO4, content 2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713EA0-1506-43D6-8749-E39FF2E2B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dirty="0">
                <a:solidFill>
                  <a:srgbClr val="FF0000"/>
                </a:solidFill>
              </a:rPr>
              <a:t>Discuss common medications used to treat pain and fatigue </a:t>
            </a:r>
          </a:p>
          <a:p>
            <a:endParaRPr lang="en-US" dirty="0"/>
          </a:p>
          <a:p>
            <a:r>
              <a:rPr lang="en-US" dirty="0"/>
              <a:t>Care guidelines for neuropathic pain include the following: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Remember that not all residents are comfortable discussing pain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Watch for signs of pain. Residents with chronic pain may not show the same signs as people with acute pain. Signs may include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Increased pulse, respirations, and blood pressure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Tightening in the jaw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Squeezing the eyes shut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Restless or agitated behavior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7599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32D0EB45-6956-455A-9F9D-4DE23AE81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934C93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934C93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B63E6A3-D3AE-AF4A-BC9D-7C50E2BC8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LO4, content 3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713EA0-1506-43D6-8749-E39FF2E2B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dirty="0">
                <a:solidFill>
                  <a:srgbClr val="FF0000"/>
                </a:solidFill>
              </a:rPr>
              <a:t>Discuss common medications used to treat pain and fatigue </a:t>
            </a:r>
          </a:p>
          <a:p>
            <a:endParaRPr lang="en-US" dirty="0"/>
          </a:p>
          <a:p>
            <a:r>
              <a:rPr lang="en-US" dirty="0"/>
              <a:t>Care guidelines for neuropathic pain (cont’d):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Observe for signs of gastrointestinal bleeding in residents taking NSAIDs (pallor, bloody or black stool)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SNRI antidepressants can cause </a:t>
            </a:r>
            <a:r>
              <a:rPr lang="en-US" i="1" dirty="0"/>
              <a:t>serotonin syndrome</a:t>
            </a:r>
            <a:r>
              <a:rPr lang="en-US" dirty="0"/>
              <a:t>. Signs/symptoms include shivering, diarrhea, muscle rigidity, fever, and seizures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Follow care plan/manufacturer instructions carefully when handling transdermal (patch) opioid medications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Observe for signs of </a:t>
            </a:r>
            <a:r>
              <a:rPr lang="en-US" dirty="0" err="1"/>
              <a:t>oversedation</a:t>
            </a:r>
            <a:r>
              <a:rPr lang="en-US" dirty="0"/>
              <a:t> in residents taking opioid medications (slow breathing, low oxygen saturation, resident not alert)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68854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32D0EB45-6956-455A-9F9D-4DE23AE81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934C93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934C93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B63E6A3-D3AE-AF4A-BC9D-7C50E2BC8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LO4, content 4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713EA0-1506-43D6-8749-E39FF2E2B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dirty="0">
                <a:solidFill>
                  <a:srgbClr val="FF0000"/>
                </a:solidFill>
              </a:rPr>
              <a:t>Discuss common medications used to treat pain and fatigue </a:t>
            </a:r>
          </a:p>
          <a:p>
            <a:endParaRPr lang="en-US" dirty="0"/>
          </a:p>
          <a:p>
            <a:r>
              <a:rPr lang="en-US" dirty="0"/>
              <a:t>Remember these points about chronic fatigue: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Can be caused by a number of conditions (including sleep apnea, insomnia, chronic pain, autoimmune disorders, hormonal imbalance)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Treatment requires identifying underlying problems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Medications vary, according to underlying conditions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82523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32D0EB45-6956-455A-9F9D-4DE23AE81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934C93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934C93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B63E6A3-D3AE-AF4A-BC9D-7C50E2BC8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LO5, key terms 1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713EA0-1506-43D6-8749-E39FF2E2B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5"/>
            </a:pPr>
            <a:r>
              <a:rPr lang="en-US" dirty="0">
                <a:solidFill>
                  <a:srgbClr val="FF0000"/>
                </a:solidFill>
              </a:rPr>
              <a:t>Discuss common medications used to treat mental health disorders</a:t>
            </a:r>
          </a:p>
          <a:p>
            <a:endParaRPr lang="en-US" dirty="0"/>
          </a:p>
          <a:p>
            <a:r>
              <a:rPr lang="en-US" dirty="0"/>
              <a:t>Define the following terms: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mental health disorder</a:t>
            </a:r>
          </a:p>
          <a:p>
            <a:pPr lvl="1"/>
            <a:r>
              <a:rPr lang="en-US" dirty="0"/>
              <a:t>a disorder that affects a person’s ability to function and often causes inappropriate behavior; confusion, disorientation, agitation, and anxiety are all common symptoms.</a:t>
            </a:r>
          </a:p>
          <a:p>
            <a:r>
              <a:rPr lang="en-US" b="1" dirty="0"/>
              <a:t>anxiety</a:t>
            </a:r>
          </a:p>
          <a:p>
            <a:pPr lvl="1"/>
            <a:r>
              <a:rPr lang="en-US" dirty="0"/>
              <a:t>uneasiness, worry, or fear, often about a situation or condition.</a:t>
            </a:r>
          </a:p>
          <a:p>
            <a:r>
              <a:rPr lang="en-US" b="1" dirty="0"/>
              <a:t>major depressive disorder</a:t>
            </a:r>
          </a:p>
          <a:p>
            <a:pPr lvl="1"/>
            <a:r>
              <a:rPr lang="en-US" dirty="0"/>
              <a:t>a type of mood dis­order that causes pain, fatigue, apathy, sadness, irritability, anxiety, sleeplessness, and loss of appetite, as well as other symptoms; also called </a:t>
            </a:r>
            <a:r>
              <a:rPr lang="en-US" i="1" dirty="0"/>
              <a:t>depression</a:t>
            </a:r>
            <a:r>
              <a:rPr lang="en-US" dirty="0"/>
              <a:t> or </a:t>
            </a:r>
            <a:r>
              <a:rPr lang="en-US" i="1" dirty="0"/>
              <a:t>clinical depression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73085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32D0EB45-6956-455A-9F9D-4DE23AE81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934C93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934C93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B63E6A3-D3AE-AF4A-BC9D-7C50E2BC8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LO5, key terms 2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713EA0-1506-43D6-8749-E39FF2E2B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5"/>
            </a:pPr>
            <a:r>
              <a:rPr lang="en-US" dirty="0">
                <a:solidFill>
                  <a:srgbClr val="FF0000"/>
                </a:solidFill>
              </a:rPr>
              <a:t>Discuss common medications used to treat mental health disorders</a:t>
            </a:r>
          </a:p>
          <a:p>
            <a:endParaRPr lang="en-US" dirty="0"/>
          </a:p>
          <a:p>
            <a:r>
              <a:rPr lang="en-US" dirty="0"/>
              <a:t>Define the following terms: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bipolar disorder</a:t>
            </a:r>
          </a:p>
          <a:p>
            <a:pPr lvl="1"/>
            <a:r>
              <a:rPr lang="en-US" dirty="0"/>
              <a:t>a type of mood disorder that causes mood swings, changes in energy levels and the ability to function, periods of extreme activity, and periods of extreme depression.</a:t>
            </a:r>
            <a:endParaRPr lang="en-US" b="1" dirty="0"/>
          </a:p>
          <a:p>
            <a:r>
              <a:rPr lang="en-US" b="1" dirty="0"/>
              <a:t>schizophrenia</a:t>
            </a:r>
          </a:p>
          <a:p>
            <a:pPr lvl="1"/>
            <a:r>
              <a:rPr lang="en-US" dirty="0"/>
              <a:t>a type of psychotic disorder that causes problems with thinking, communication, and the ability to manage emotions, make deci­sions, and understand reality.</a:t>
            </a:r>
          </a:p>
          <a:p>
            <a:r>
              <a:rPr lang="en-US" b="1" dirty="0"/>
              <a:t>extrapyramidal symptoms (EPS)</a:t>
            </a:r>
          </a:p>
          <a:p>
            <a:pPr lvl="1"/>
            <a:r>
              <a:rPr lang="en-US" dirty="0"/>
              <a:t>symptoms sometimes caused by antipsychotic medications; can include restlessness, irritation, and involuntary movements such as eye spasms, twisting head, and protruding tongue.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4807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32D0EB45-6956-455A-9F9D-4DE23AE81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934C93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934C93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B63E6A3-D3AE-AF4A-BC9D-7C50E2BC8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LO5, content 1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713EA0-1506-43D6-8749-E39FF2E2B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5"/>
            </a:pPr>
            <a:r>
              <a:rPr lang="en-US" dirty="0">
                <a:solidFill>
                  <a:srgbClr val="FF0000"/>
                </a:solidFill>
              </a:rPr>
              <a:t>Discuss common medications used to treat mental health disorders</a:t>
            </a:r>
          </a:p>
          <a:p>
            <a:endParaRPr lang="en-US" dirty="0"/>
          </a:p>
          <a:p>
            <a:r>
              <a:rPr lang="en-US" dirty="0"/>
              <a:t>Understand the following about treatment for anxiety: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Drugs that reduce anxiety are called </a:t>
            </a:r>
            <a:r>
              <a:rPr lang="en-US" i="1" dirty="0"/>
              <a:t>anxiolytic</a:t>
            </a:r>
            <a:r>
              <a:rPr lang="en-US" dirty="0"/>
              <a:t> drugs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Selective serotonin reuptake inhibitors (SSRIs) and serotonin norepinephrine reuptake inhibitors (SNRIs) enhance chemicals in the brain that stabilize mood; usually the first choice for treating anxiety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SSRIs and SNRIs are associated with an increase in suicidal thoughts when they are first administered. MAs should observe and report any changes in mood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Buspirone is an anxiolytic drug that works by an unknown mechanism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Benzodiazepines enhance a calming brain chemical called GABA; due to sedative and muscle relaxant effects they should be used with caution in people over 65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Table on textbook p. 109 (or handout) details other specific drugs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94961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32D0EB45-6956-455A-9F9D-4DE23AE81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934C93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934C93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B63E6A3-D3AE-AF4A-BC9D-7C50E2BC8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LO5, content 2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713EA0-1506-43D6-8749-E39FF2E2B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5"/>
            </a:pPr>
            <a:r>
              <a:rPr lang="en-US" dirty="0">
                <a:solidFill>
                  <a:srgbClr val="FF0000"/>
                </a:solidFill>
              </a:rPr>
              <a:t>Discuss common medications used to treat mental health disorders</a:t>
            </a:r>
          </a:p>
          <a:p>
            <a:endParaRPr lang="en-US" dirty="0"/>
          </a:p>
          <a:p>
            <a:r>
              <a:rPr lang="en-US" dirty="0"/>
              <a:t>Understand the following about treatment for major depressive disorder: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SSRIs and SNRIs can help stabilize mood and establish feelings of well-being.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Tricyclic antidepressants are prescribed less often due to side effects, including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Dry mouth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Blurred vision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Urinary retention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Constipation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Table on textbook p. 110 (or handout) details specific drugs</a:t>
            </a:r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56608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32D0EB45-6956-455A-9F9D-4DE23AE81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934C93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934C93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B63E6A3-D3AE-AF4A-BC9D-7C50E2BC8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LO5, content 3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713EA0-1506-43D6-8749-E39FF2E2B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5"/>
            </a:pPr>
            <a:r>
              <a:rPr lang="en-US" dirty="0">
                <a:solidFill>
                  <a:srgbClr val="FF0000"/>
                </a:solidFill>
              </a:rPr>
              <a:t>Discuss common medications used to treat mental health disorders</a:t>
            </a:r>
          </a:p>
          <a:p>
            <a:endParaRPr lang="en-US" dirty="0"/>
          </a:p>
          <a:p>
            <a:r>
              <a:rPr lang="en-US" dirty="0"/>
              <a:t>Understand the following about treatment for bipolar disorder: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Mood stabilizers are often prescribed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Lithium (a mood stabilizer) has a narrow therapeutic index and levels are affected by salt intake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Observe for signs of toxicity in residents taking lithium: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Nausea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Weakness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Uncoordinated movements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Confusion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Bipolar disorder may also be treated with a class of drugs known as </a:t>
            </a:r>
            <a:r>
              <a:rPr lang="en-US" i="1" dirty="0"/>
              <a:t>second-generation antipsychot</a:t>
            </a:r>
            <a:r>
              <a:rPr lang="en-US" dirty="0"/>
              <a:t>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Table on textbook p. 110 (or handout) details other specific drugs</a:t>
            </a:r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33908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32D0EB45-6956-455A-9F9D-4DE23AE81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934C93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934C93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B63E6A3-D3AE-AF4A-BC9D-7C50E2BC8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LO5, content 4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713EA0-1506-43D6-8749-E39FF2E2B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5"/>
            </a:pPr>
            <a:r>
              <a:rPr lang="en-US" dirty="0">
                <a:solidFill>
                  <a:srgbClr val="FF0000"/>
                </a:solidFill>
              </a:rPr>
              <a:t>Discuss common medications used to treat mental health disorders</a:t>
            </a:r>
          </a:p>
          <a:p>
            <a:endParaRPr lang="en-US" dirty="0"/>
          </a:p>
          <a:p>
            <a:r>
              <a:rPr lang="en-US" dirty="0"/>
              <a:t>Understand the following about treatment for schizophrenia: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Treatment includes first- and second-generation antipsychotics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Drug class carries a boxed warning that elderly patients with dementia-related psychosis treated with antipsychotics are at an increased risk of death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First-generation antipsychotics can cause sedation and extrapyramidal symptoms, including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Eye spasms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Twisting head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Protruding tongue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Restlessness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Irritation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Second-general antipsychotics cause fewer EPS, but can cause weight gain, elevated blood sugar, and abnormal blood lipids (fats)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Table on textbook p. 111 (or handout) details specific drugs </a:t>
            </a:r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29448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32D0EB45-6956-455A-9F9D-4DE23AE81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934C93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934C93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B63E6A3-D3AE-AF4A-BC9D-7C50E2BC8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LO5, content 5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713EA0-1506-43D6-8749-E39FF2E2B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5"/>
            </a:pPr>
            <a:r>
              <a:rPr lang="en-US" dirty="0">
                <a:solidFill>
                  <a:srgbClr val="FF0000"/>
                </a:solidFill>
              </a:rPr>
              <a:t>Discuss common medications used to treat mental health disorders</a:t>
            </a:r>
          </a:p>
          <a:p>
            <a:endParaRPr lang="en-US" dirty="0"/>
          </a:p>
          <a:p>
            <a:r>
              <a:rPr lang="en-US" dirty="0"/>
              <a:t>Care guidelines for mental health disorders include the following: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Immediately report any mention of suicide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Report any change in mood or behavior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Understand that it takes two to four weeks for antidepressants to decrease depressive mood; physical symptoms may improve before mood-related symptoms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Observe and report drowsiness, nausea, and headache. Medications may need to be adjusted.</a:t>
            </a:r>
          </a:p>
        </p:txBody>
      </p:sp>
    </p:spTree>
    <p:extLst>
      <p:ext uri="{BB962C8B-B14F-4D97-AF65-F5344CB8AC3E}">
        <p14:creationId xmlns:p14="http://schemas.microsoft.com/office/powerpoint/2010/main" val="16591898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32D0EB45-6956-455A-9F9D-4DE23AE81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934C93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934C93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B63E6A3-D3AE-AF4A-BC9D-7C50E2BC8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LO5, content 6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713EA0-1506-43D6-8749-E39FF2E2B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5"/>
            </a:pPr>
            <a:r>
              <a:rPr lang="en-US" dirty="0">
                <a:solidFill>
                  <a:srgbClr val="FF0000"/>
                </a:solidFill>
              </a:rPr>
              <a:t>Discuss common medications used to treat mental health disorders</a:t>
            </a:r>
          </a:p>
          <a:p>
            <a:endParaRPr lang="en-US" dirty="0"/>
          </a:p>
          <a:p>
            <a:r>
              <a:rPr lang="en-US" dirty="0"/>
              <a:t>Care guidelines for mental health disorders (cont’d):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Watch residents who take benzodiazepines closely for signs/symptoms of sedation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Watch residents who take lithium for signs/symptoms of lithium toxicity (nausea, diarrhea, slurred speech, weakness, and/or confusion). Report to the nurse immediately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Bleeding is a risk for residents taking SSRIs/SNRIs and anticoagulants or antiplatelet agents. Watch for signs of excessive bleeding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SSRIs/SNRIs can cause serotonin syndrome. Report shivering, diarrhea, fever, seizures, muscle rigidity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37924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32D0EB45-6956-455A-9F9D-4DE23AE81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934C93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934C93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B63E6A3-D3AE-AF4A-BC9D-7C50E2BC8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LO5, key terms 1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713EA0-1506-43D6-8749-E39FF2E2B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6"/>
            </a:pPr>
            <a:r>
              <a:rPr lang="en-US" dirty="0">
                <a:solidFill>
                  <a:srgbClr val="FF0000"/>
                </a:solidFill>
              </a:rPr>
              <a:t>Discuss common medications used to treat conditions of the sense organs</a:t>
            </a:r>
          </a:p>
          <a:p>
            <a:endParaRPr lang="en-US" dirty="0"/>
          </a:p>
          <a:p>
            <a:r>
              <a:rPr lang="en-US" dirty="0"/>
              <a:t>Define the following terms: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cataract</a:t>
            </a:r>
          </a:p>
          <a:p>
            <a:pPr lvl="1"/>
            <a:r>
              <a:rPr lang="en-US" dirty="0"/>
              <a:t>a condition in which cloudy spots develop in the lens of the eye, causing vision loss.</a:t>
            </a:r>
          </a:p>
          <a:p>
            <a:r>
              <a:rPr lang="en-US" b="1" dirty="0"/>
              <a:t>glaucoma</a:t>
            </a:r>
          </a:p>
          <a:p>
            <a:pPr lvl="1"/>
            <a:r>
              <a:rPr lang="en-US" dirty="0"/>
              <a:t>a disease in which increased pressure inside the eye causes damage that often leads to vision loss and blindness.</a:t>
            </a:r>
          </a:p>
          <a:p>
            <a:r>
              <a:rPr lang="en-US" b="1" dirty="0"/>
              <a:t>age-related macular degeneration (AMD)</a:t>
            </a:r>
          </a:p>
          <a:p>
            <a:pPr lvl="1"/>
            <a:r>
              <a:rPr lang="en-US" dirty="0"/>
              <a:t>a condition in which the macula gradually deterio­rates, causing vision loss and problems such as the inability to recognize faces, drive, read, and write.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4429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32D0EB45-6956-455A-9F9D-4DE23AE81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934C93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934C93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B63E6A3-D3AE-AF4A-BC9D-7C50E2BC8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LO5, key terms 2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713EA0-1506-43D6-8749-E39FF2E2B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6"/>
            </a:pPr>
            <a:r>
              <a:rPr lang="en-US" dirty="0">
                <a:solidFill>
                  <a:srgbClr val="FF0000"/>
                </a:solidFill>
              </a:rPr>
              <a:t>Discuss common medications used to treat conditions of the sense organs</a:t>
            </a:r>
          </a:p>
          <a:p>
            <a:endParaRPr lang="en-US" dirty="0"/>
          </a:p>
          <a:p>
            <a:r>
              <a:rPr lang="en-US" dirty="0"/>
              <a:t>Define the following terms: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conjunctivitis</a:t>
            </a:r>
          </a:p>
          <a:p>
            <a:pPr lvl="1"/>
            <a:r>
              <a:rPr lang="en-US" dirty="0"/>
              <a:t>inflammation of the lining of the eyelid; may be caused by bacteria, viruses, allergies, or foreign objects/substances; also called </a:t>
            </a:r>
            <a:r>
              <a:rPr lang="en-US" i="1" dirty="0"/>
              <a:t>pink eye</a:t>
            </a:r>
            <a:r>
              <a:rPr lang="en-US" dirty="0"/>
              <a:t>.</a:t>
            </a:r>
          </a:p>
          <a:p>
            <a:r>
              <a:rPr lang="en-US" b="1" dirty="0"/>
              <a:t>acute otitis media</a:t>
            </a:r>
          </a:p>
          <a:p>
            <a:pPr lvl="1"/>
            <a:r>
              <a:rPr lang="en-US" dirty="0"/>
              <a:t>infection of the middle ear.</a:t>
            </a:r>
          </a:p>
          <a:p>
            <a:r>
              <a:rPr lang="en-US" b="1" dirty="0"/>
              <a:t>cerumen</a:t>
            </a:r>
          </a:p>
          <a:p>
            <a:pPr lvl="1"/>
            <a:r>
              <a:rPr lang="en-US" dirty="0"/>
              <a:t>medical term for earwax.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49228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32D0EB45-6956-455A-9F9D-4DE23AE81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934C93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934C93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B63E6A3-D3AE-AF4A-BC9D-7C50E2BC8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LO5, content 1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713EA0-1506-43D6-8749-E39FF2E2B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6"/>
            </a:pPr>
            <a:r>
              <a:rPr lang="en-US" dirty="0">
                <a:solidFill>
                  <a:srgbClr val="FF0000"/>
                </a:solidFill>
              </a:rPr>
              <a:t>Discuss common medications used to treat conditions of the sense organs</a:t>
            </a:r>
          </a:p>
          <a:p>
            <a:endParaRPr lang="en-US" dirty="0"/>
          </a:p>
          <a:p>
            <a:r>
              <a:rPr lang="en-US" dirty="0"/>
              <a:t>Understand the following about treatment for cataracts: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Corrected with surgery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After surgery NSAID eye drops or ointment is usually prescribed to prevent inflammation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Table on textbook p. 111 or handout) details specific drugs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48733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32D0EB45-6956-455A-9F9D-4DE23AE81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934C93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934C93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B63E6A3-D3AE-AF4A-BC9D-7C50E2BC8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LO5, content 2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713EA0-1506-43D6-8749-E39FF2E2B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6"/>
            </a:pPr>
            <a:r>
              <a:rPr lang="en-US" dirty="0">
                <a:solidFill>
                  <a:srgbClr val="FF0000"/>
                </a:solidFill>
              </a:rPr>
              <a:t>Discuss common medications used to treat conditions of the sense organs</a:t>
            </a:r>
          </a:p>
          <a:p>
            <a:endParaRPr lang="en-US" dirty="0"/>
          </a:p>
          <a:p>
            <a:r>
              <a:rPr lang="en-US" dirty="0"/>
              <a:t>Understand the following about treatment for glaucoma: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Treated with eye drops that either increase the flow of fluid out of the eyes or reduce the production of eye fluid (both decrease pressure in the eye)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Residents may not understand even if they are not experiencing symptoms, the medication is important to prevent vision loss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Table on textbook pp. 111–112 (or handout) details specific drugs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4414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32D0EB45-6956-455A-9F9D-4DE23AE81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934C93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934C93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B63E6A3-D3AE-AF4A-BC9D-7C50E2BC8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LO5, content 3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713EA0-1506-43D6-8749-E39FF2E2B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6"/>
            </a:pPr>
            <a:r>
              <a:rPr lang="en-US" dirty="0">
                <a:solidFill>
                  <a:srgbClr val="FF0000"/>
                </a:solidFill>
              </a:rPr>
              <a:t>Discuss common medications used to treat conditions of the sense organs</a:t>
            </a:r>
          </a:p>
          <a:p>
            <a:endParaRPr lang="en-US" dirty="0"/>
          </a:p>
          <a:p>
            <a:r>
              <a:rPr lang="en-US" dirty="0"/>
              <a:t>NOTE:</a:t>
            </a:r>
          </a:p>
          <a:p>
            <a:endParaRPr lang="en-US" dirty="0"/>
          </a:p>
          <a:p>
            <a:r>
              <a:rPr lang="en-US" dirty="0"/>
              <a:t>Antioxidant vitamins and zinc supplements may be ordered to slow the progression of age-related macular degeneration. Later stages require medications injected into the eye (performed by a specialist)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96600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32D0EB45-6956-455A-9F9D-4DE23AE81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934C93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934C93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B63E6A3-D3AE-AF4A-BC9D-7C50E2BC8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LO5, content 4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713EA0-1506-43D6-8749-E39FF2E2B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6"/>
            </a:pPr>
            <a:r>
              <a:rPr lang="en-US" dirty="0">
                <a:solidFill>
                  <a:srgbClr val="FF0000"/>
                </a:solidFill>
              </a:rPr>
              <a:t>Discuss common medications used to treat conditions of the sense organs</a:t>
            </a:r>
          </a:p>
          <a:p>
            <a:endParaRPr lang="en-US" dirty="0"/>
          </a:p>
          <a:p>
            <a:r>
              <a:rPr lang="en-US" dirty="0"/>
              <a:t>Understand the following about treatment for dry eyes: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Lack of lubrication can increase the risk of eye infections and can damage the surface of the eye, so treatment is important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Eye drops or ointments formulated to act as tears (artificial tears) are ordered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Table on textbook p. 112 (or handout) details specific drugs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61515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32D0EB45-6956-455A-9F9D-4DE23AE81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934C93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934C93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B63E6A3-D3AE-AF4A-BC9D-7C50E2BC8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LO5, content 5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713EA0-1506-43D6-8749-E39FF2E2B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6"/>
            </a:pPr>
            <a:r>
              <a:rPr lang="en-US" dirty="0">
                <a:solidFill>
                  <a:srgbClr val="FF0000"/>
                </a:solidFill>
              </a:rPr>
              <a:t>Discuss common medications used to treat conditions of the sense organs</a:t>
            </a:r>
          </a:p>
          <a:p>
            <a:endParaRPr lang="en-US" dirty="0"/>
          </a:p>
          <a:p>
            <a:r>
              <a:rPr lang="en-US" dirty="0"/>
              <a:t>Understand the following about treatment for conjunctivitis: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Antibiotic eye drops or ointment are commonly prescribed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Contact Precautions must be used, as conjunctivitis is very contagious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Table on textbook p. 112 (or handout) details specific drugs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60623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32D0EB45-6956-455A-9F9D-4DE23AE81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934C93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934C93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B63E6A3-D3AE-AF4A-BC9D-7C50E2BC8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LO5, content 6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713EA0-1506-43D6-8749-E39FF2E2B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6"/>
            </a:pPr>
            <a:r>
              <a:rPr lang="en-US" dirty="0">
                <a:solidFill>
                  <a:srgbClr val="FF0000"/>
                </a:solidFill>
              </a:rPr>
              <a:t>Discuss common medications used to treat conditions of the sense organs</a:t>
            </a:r>
          </a:p>
          <a:p>
            <a:endParaRPr lang="en-US" dirty="0"/>
          </a:p>
          <a:p>
            <a:r>
              <a:rPr lang="en-US" dirty="0"/>
              <a:t>Understand the following about treatment for acute otitis media (ear infection):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Ear infections may resolve on their own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Ear pain can be relieved with analgesics (OTC NSAIDs, acetaminophen)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Antibiotics are prescribed if the infection does not resolve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Table on textbook pp. 112–113 (or handout) details specific drugs</a:t>
            </a:r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484670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32D0EB45-6956-455A-9F9D-4DE23AE81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934C93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934C93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B63E6A3-D3AE-AF4A-BC9D-7C50E2BC8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LO5, content 7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713EA0-1506-43D6-8749-E39FF2E2B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6"/>
            </a:pPr>
            <a:r>
              <a:rPr lang="en-US" dirty="0">
                <a:solidFill>
                  <a:srgbClr val="FF0000"/>
                </a:solidFill>
              </a:rPr>
              <a:t>Discuss common medications used to treat conditions of the sense organs</a:t>
            </a:r>
          </a:p>
          <a:p>
            <a:endParaRPr lang="en-US" dirty="0"/>
          </a:p>
          <a:p>
            <a:r>
              <a:rPr lang="en-US" dirty="0"/>
              <a:t>Understand the following about treatment for cerumen (earwax) buildup: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Cerumenolytics are earwax softeners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Softeners are put in the ears by dropper and allowed to soften earwax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Ear is then flushed with warm water using a bulb syringe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Do not remove ear wax with cotton swabs or insert any object in the ear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Do not use “ear candles;” they are not effective and can </a:t>
            </a:r>
            <a:r>
              <a:rPr lang="en-US"/>
              <a:t>be dangerous 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Table on textbook p. 113 (and in Appendix E) details specific drugs</a:t>
            </a:r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50473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086594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29C76"/>
      </a:accent1>
      <a:accent2>
        <a:srgbClr val="B37924"/>
      </a:accent2>
      <a:accent3>
        <a:srgbClr val="E3567D"/>
      </a:accent3>
      <a:accent4>
        <a:srgbClr val="0091B9"/>
      </a:accent4>
      <a:accent5>
        <a:srgbClr val="D6BF00"/>
      </a:accent5>
      <a:accent6>
        <a:srgbClr val="934C93"/>
      </a:accent6>
      <a:hlink>
        <a:srgbClr val="0563C1"/>
      </a:hlink>
      <a:folHlink>
        <a:srgbClr val="954F72"/>
      </a:folHlink>
    </a:clrScheme>
    <a:fontScheme name="Susan Hedman - Hartman Publishing">
      <a:majorFont>
        <a:latin typeface="Scala Sans"/>
        <a:ea typeface=""/>
        <a:cs typeface=""/>
      </a:majorFont>
      <a:minorFont>
        <a:latin typeface="Scala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1918</TotalTime>
  <Words>3370</Words>
  <Application>Microsoft Macintosh PowerPoint</Application>
  <PresentationFormat>Widescreen</PresentationFormat>
  <Paragraphs>553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Scala Sans</vt:lpstr>
      <vt:lpstr>1_Office Theme</vt:lpstr>
      <vt:lpstr>PowerPoint Presentation</vt:lpstr>
      <vt:lpstr>Chapter 6, LO1, key terms 1</vt:lpstr>
      <vt:lpstr>LO1, content 1</vt:lpstr>
      <vt:lpstr>LO1, content 2</vt:lpstr>
      <vt:lpstr>LO1, content 3</vt:lpstr>
      <vt:lpstr>LO1, content 4</vt:lpstr>
      <vt:lpstr>LO1, content 5</vt:lpstr>
      <vt:lpstr>LO2, key terms</vt:lpstr>
      <vt:lpstr>LO2, content 1</vt:lpstr>
      <vt:lpstr>LO2, content 2</vt:lpstr>
      <vt:lpstr>LO2, content 3</vt:lpstr>
      <vt:lpstr>LO2, content 4</vt:lpstr>
      <vt:lpstr>LO2, content 5</vt:lpstr>
      <vt:lpstr>LO2, content 6</vt:lpstr>
      <vt:lpstr>LO3, key terms 1</vt:lpstr>
      <vt:lpstr>LO3, key terms 2</vt:lpstr>
      <vt:lpstr>LO3, content 1</vt:lpstr>
      <vt:lpstr>LO3, content 2</vt:lpstr>
      <vt:lpstr>LO3, content 3</vt:lpstr>
      <vt:lpstr>LO3, content 4</vt:lpstr>
      <vt:lpstr>LO4, key terms</vt:lpstr>
      <vt:lpstr>LO4, content 1</vt:lpstr>
      <vt:lpstr>LO4, content 2</vt:lpstr>
      <vt:lpstr>LO4, content 3</vt:lpstr>
      <vt:lpstr>LO4, content 4</vt:lpstr>
      <vt:lpstr>LO5, key terms 1</vt:lpstr>
      <vt:lpstr>LO5, key terms 2</vt:lpstr>
      <vt:lpstr>LO5, content 1</vt:lpstr>
      <vt:lpstr>LO5, content 2</vt:lpstr>
      <vt:lpstr>LO5, content 3</vt:lpstr>
      <vt:lpstr>LO5, content 4</vt:lpstr>
      <vt:lpstr>LO5, content 5</vt:lpstr>
      <vt:lpstr>LO5, content 6</vt:lpstr>
      <vt:lpstr>LO5, key terms 1</vt:lpstr>
      <vt:lpstr>LO5, key terms 2</vt:lpstr>
      <vt:lpstr>LO5, content 1</vt:lpstr>
      <vt:lpstr>LO5, content 2</vt:lpstr>
      <vt:lpstr>LO5, content 3</vt:lpstr>
      <vt:lpstr>LO5, content 4</vt:lpstr>
      <vt:lpstr>LO5, content 5</vt:lpstr>
      <vt:lpstr>LO5, content 6</vt:lpstr>
      <vt:lpstr>LO5, content 7</vt:lpstr>
      <vt:lpstr>PowerPoint Presentation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Angela Storey</dc:creator>
  <cp:lastModifiedBy>Kristin Calderon</cp:lastModifiedBy>
  <cp:revision>85</cp:revision>
  <dcterms:created xsi:type="dcterms:W3CDTF">2020-03-18T21:18:02Z</dcterms:created>
  <dcterms:modified xsi:type="dcterms:W3CDTF">2021-05-20T13:52:14Z</dcterms:modified>
</cp:coreProperties>
</file>