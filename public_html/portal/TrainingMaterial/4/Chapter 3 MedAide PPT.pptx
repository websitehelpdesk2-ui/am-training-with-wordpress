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1" r:id="rId2"/>
    <p:sldId id="304" r:id="rId3"/>
    <p:sldId id="327" r:id="rId4"/>
    <p:sldId id="328" r:id="rId5"/>
    <p:sldId id="312" r:id="rId6"/>
    <p:sldId id="329" r:id="rId7"/>
    <p:sldId id="271" r:id="rId8"/>
    <p:sldId id="330" r:id="rId9"/>
    <p:sldId id="331" r:id="rId10"/>
    <p:sldId id="333" r:id="rId11"/>
    <p:sldId id="308" r:id="rId12"/>
    <p:sldId id="334" r:id="rId13"/>
    <p:sldId id="313" r:id="rId14"/>
    <p:sldId id="307" r:id="rId15"/>
    <p:sldId id="335" r:id="rId16"/>
    <p:sldId id="336" r:id="rId17"/>
    <p:sldId id="338" r:id="rId18"/>
    <p:sldId id="317" r:id="rId19"/>
    <p:sldId id="339" r:id="rId20"/>
    <p:sldId id="340" r:id="rId21"/>
    <p:sldId id="341" r:id="rId22"/>
    <p:sldId id="306" r:id="rId23"/>
    <p:sldId id="342" r:id="rId24"/>
    <p:sldId id="343" r:id="rId25"/>
    <p:sldId id="318" r:id="rId26"/>
    <p:sldId id="344" r:id="rId27"/>
    <p:sldId id="345" r:id="rId28"/>
    <p:sldId id="346" r:id="rId29"/>
    <p:sldId id="305" r:id="rId30"/>
    <p:sldId id="347" r:id="rId31"/>
    <p:sldId id="348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26" r:id="rId44"/>
    <p:sldId id="362" r:id="rId45"/>
    <p:sldId id="361" r:id="rId46"/>
    <p:sldId id="363" r:id="rId47"/>
    <p:sldId id="364" r:id="rId48"/>
    <p:sldId id="365" r:id="rId49"/>
    <p:sldId id="25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istin Calderon" initials="K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6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Medication Basics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04A7E-0974-AF46-AA8A-A0F9FB20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2671"/>
            <a:ext cx="6901033" cy="554008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600"/>
            <a:ext cx="369332" cy="3321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Medication Basics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8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4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5/21/21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07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90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7960-5169-3D46-8417-74282251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3, LO1,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i="1" dirty="0">
                <a:solidFill>
                  <a:srgbClr val="FF0000"/>
                </a:solidFill>
              </a:rPr>
              <a:t>pharmacology</a:t>
            </a:r>
            <a:r>
              <a:rPr lang="en-US" dirty="0">
                <a:solidFill>
                  <a:srgbClr val="FF0000"/>
                </a:solidFill>
              </a:rPr>
              <a:t> and related terms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pharmacology</a:t>
            </a:r>
          </a:p>
          <a:p>
            <a:pPr lvl="1"/>
            <a:r>
              <a:rPr lang="en-US" dirty="0"/>
              <a:t>the branch of medicine that studies the uses and effects of drugs.</a:t>
            </a:r>
          </a:p>
          <a:p>
            <a:r>
              <a:rPr lang="en-US" b="1" dirty="0"/>
              <a:t>efficacy</a:t>
            </a:r>
          </a:p>
          <a:p>
            <a:pPr lvl="1"/>
            <a:r>
              <a:rPr lang="en-US" dirty="0"/>
              <a:t>in pharmacology, the success of a drug in improving health.</a:t>
            </a:r>
          </a:p>
          <a:p>
            <a:r>
              <a:rPr lang="en-US" b="1" dirty="0"/>
              <a:t>side effects</a:t>
            </a:r>
          </a:p>
          <a:p>
            <a:pPr lvl="1"/>
            <a:r>
              <a:rPr lang="en-US" dirty="0"/>
              <a:t>changes caused by a medication that do not relate to its intended purpose.</a:t>
            </a:r>
          </a:p>
          <a:p>
            <a:r>
              <a:rPr lang="en-US" b="1" dirty="0"/>
              <a:t>pharmacodynamics</a:t>
            </a:r>
          </a:p>
          <a:p>
            <a:pPr lvl="1"/>
            <a:r>
              <a:rPr lang="en-US" dirty="0"/>
              <a:t>the study of how a drug affects the body 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01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7960-5169-3D46-8417-74282251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i="1" dirty="0">
                <a:solidFill>
                  <a:srgbClr val="FF0000"/>
                </a:solidFill>
              </a:rPr>
              <a:t>pharmacology</a:t>
            </a:r>
            <a:r>
              <a:rPr lang="en-US" dirty="0">
                <a:solidFill>
                  <a:srgbClr val="FF0000"/>
                </a:solidFill>
              </a:rPr>
              <a:t> and related terms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pharmacokinetics</a:t>
            </a:r>
          </a:p>
          <a:p>
            <a:pPr lvl="1"/>
            <a:r>
              <a:rPr lang="en-US" dirty="0"/>
              <a:t>the study of how drugs are processed by the body.</a:t>
            </a:r>
          </a:p>
          <a:p>
            <a:r>
              <a:rPr lang="en-US" b="1" dirty="0"/>
              <a:t>clinical effect</a:t>
            </a:r>
          </a:p>
          <a:p>
            <a:pPr lvl="1"/>
            <a:r>
              <a:rPr lang="en-US" dirty="0"/>
              <a:t>the effect of a drug on a specific person.</a:t>
            </a:r>
          </a:p>
          <a:p>
            <a:r>
              <a:rPr lang="en-US" b="1" dirty="0"/>
              <a:t>administer</a:t>
            </a:r>
          </a:p>
          <a:p>
            <a:pPr lvl="1"/>
            <a:r>
              <a:rPr lang="en-US" dirty="0"/>
              <a:t>in pharmacology, the process of giving a drug to a person.</a:t>
            </a:r>
          </a:p>
          <a:p>
            <a:r>
              <a:rPr lang="en-US" b="1" dirty="0"/>
              <a:t>absorption</a:t>
            </a:r>
          </a:p>
          <a:p>
            <a:pPr lvl="1"/>
            <a:r>
              <a:rPr lang="en-US" dirty="0"/>
              <a:t>in pharmacology, how a drug moves from where it is administered to the bloodstream; in more general terms, refers to the transfer of nutrients from the intestines to the cells.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33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7960-5169-3D46-8417-74282251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key terms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i="1" dirty="0">
                <a:solidFill>
                  <a:srgbClr val="FF0000"/>
                </a:solidFill>
              </a:rPr>
              <a:t>pharmacology</a:t>
            </a:r>
            <a:r>
              <a:rPr lang="en-US" dirty="0">
                <a:solidFill>
                  <a:srgbClr val="FF0000"/>
                </a:solidFill>
              </a:rPr>
              <a:t> and related terms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distribution</a:t>
            </a:r>
          </a:p>
          <a:p>
            <a:pPr lvl="1"/>
            <a:r>
              <a:rPr lang="en-US" dirty="0"/>
              <a:t>in pharmacology, how a drug moves from the bloodstream to the tissues of the body.</a:t>
            </a:r>
          </a:p>
          <a:p>
            <a:r>
              <a:rPr lang="en-US" b="1" dirty="0"/>
              <a:t>metabolism</a:t>
            </a:r>
          </a:p>
          <a:p>
            <a:pPr lvl="1"/>
            <a:r>
              <a:rPr lang="en-US" dirty="0"/>
              <a:t>in pharmacology, how a drug is broken down by the body.</a:t>
            </a:r>
          </a:p>
          <a:p>
            <a:r>
              <a:rPr lang="en-US" b="1" dirty="0"/>
              <a:t>excretion</a:t>
            </a:r>
          </a:p>
          <a:p>
            <a:pPr lvl="1"/>
            <a:r>
              <a:rPr lang="en-US" dirty="0"/>
              <a:t>in pharmacology, how a drug exits the body.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70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7960-5169-3D46-8417-74282251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i="1" dirty="0">
                <a:solidFill>
                  <a:srgbClr val="FF0000"/>
                </a:solidFill>
              </a:rPr>
              <a:t>pharmacology</a:t>
            </a:r>
            <a:r>
              <a:rPr lang="en-US" dirty="0">
                <a:solidFill>
                  <a:srgbClr val="FF0000"/>
                </a:solidFill>
              </a:rPr>
              <a:t> and related terms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i="1" dirty="0"/>
              <a:t>Pharmacology</a:t>
            </a:r>
            <a:r>
              <a:rPr lang="en-US" dirty="0"/>
              <a:t> comes from </a:t>
            </a:r>
          </a:p>
          <a:p>
            <a:endParaRPr lang="en-US" i="1" dirty="0"/>
          </a:p>
          <a:p>
            <a:r>
              <a:rPr lang="en-US" i="1" dirty="0"/>
              <a:t>Pharmakon</a:t>
            </a:r>
            <a:r>
              <a:rPr lang="en-US" dirty="0"/>
              <a:t> = drug</a:t>
            </a:r>
          </a:p>
          <a:p>
            <a:r>
              <a:rPr lang="en-US" i="1" dirty="0"/>
              <a:t>-ology </a:t>
            </a:r>
            <a:r>
              <a:rPr lang="en-US" dirty="0"/>
              <a:t>= the study of a particular subject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5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7960-5169-3D46-8417-74282251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i="1" dirty="0">
                <a:solidFill>
                  <a:srgbClr val="FF0000"/>
                </a:solidFill>
              </a:rPr>
              <a:t>pharmacology</a:t>
            </a:r>
            <a:r>
              <a:rPr lang="en-US" dirty="0">
                <a:solidFill>
                  <a:srgbClr val="FF0000"/>
                </a:solidFill>
              </a:rPr>
              <a:t> and related terms</a:t>
            </a:r>
          </a:p>
          <a:p>
            <a:endParaRPr lang="en-US" dirty="0"/>
          </a:p>
          <a:p>
            <a:r>
              <a:rPr lang="en-US" dirty="0"/>
              <a:t>Understand the purposes of pharmacology: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Discovering and developing new medications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Improving the efficacy of medications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Reducing unwanted side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Understanding drug addiction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80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9C7A18D-C9D1-4371-BB8C-F72C5EB3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03B189-77AC-5C46-AB99-610A06D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ABFEF0-7A33-4B5F-AD27-0EB7BB370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Material 3-1:  The Five Purposes of Medications</a:t>
            </a:r>
          </a:p>
          <a:p>
            <a:endParaRPr lang="en-US" dirty="0"/>
          </a:p>
          <a:p>
            <a:r>
              <a:rPr lang="en-US" dirty="0"/>
              <a:t>Medications are usually administered for one of five purposes:</a:t>
            </a:r>
          </a:p>
          <a:p>
            <a:r>
              <a:rPr lang="en-US" dirty="0"/>
              <a:t> 1. </a:t>
            </a:r>
            <a:r>
              <a:rPr lang="en-US" b="1" dirty="0"/>
              <a:t>To cure an illness</a:t>
            </a:r>
            <a:r>
              <a:rPr lang="en-US" dirty="0"/>
              <a:t>: Antibiotics are a common example of medication that can completely cure an illness. They cure illness (such as strep throat) by killing the bacteria causing the illness.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To treat an illness or condition</a:t>
            </a:r>
            <a:r>
              <a:rPr lang="en-US" dirty="0"/>
              <a:t>: Medications for hypertension, high cholesterol, and many mental health disorders are examples of drugs that treat, but do not cure, an illness or condition.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3. </a:t>
            </a:r>
            <a:r>
              <a:rPr lang="en-US" b="1" dirty="0"/>
              <a:t>To treat symptoms of an illness or condition</a:t>
            </a:r>
            <a:r>
              <a:rPr lang="en-US" dirty="0"/>
              <a:t>: Medications such as acetaminophen and ibuprofen do not cure an illness but can provide relief for symptoms caused by the illness.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55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9C7A18D-C9D1-4371-BB8C-F72C5EB3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03B189-77AC-5C46-AB99-610A06D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ABFEF0-7A33-4B5F-AD27-0EB7BB370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Material 3-1:  The Five Purposes of Medications (cont’d)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b="1" dirty="0"/>
              <a:t>To prevent illness</a:t>
            </a:r>
            <a:r>
              <a:rPr lang="en-US" dirty="0"/>
              <a:t>: Vaccinations are medications that prevent a person from getting an illness. The influenza vaccine is a common example. </a:t>
            </a:r>
          </a:p>
          <a:p>
            <a:endParaRPr lang="en-US" dirty="0"/>
          </a:p>
          <a:p>
            <a:r>
              <a:rPr lang="en-US" dirty="0"/>
              <a:t>5. </a:t>
            </a:r>
            <a:r>
              <a:rPr lang="en-US" b="1" dirty="0"/>
              <a:t>To diagnose illness</a:t>
            </a:r>
            <a:r>
              <a:rPr lang="en-US" dirty="0"/>
              <a:t>: Some medications are used to make diagnosing illness easier. These medications may be administered by a number of different routes, and many of them are used to improve imaging (by X-ray, for example) of certain parts of the body. These are not drugs an MA would be involved in administering.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17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7960-5169-3D46-8417-74282251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i="1" dirty="0">
                <a:solidFill>
                  <a:srgbClr val="FF0000"/>
                </a:solidFill>
              </a:rPr>
              <a:t>pharmacology</a:t>
            </a:r>
            <a:r>
              <a:rPr lang="en-US" dirty="0">
                <a:solidFill>
                  <a:srgbClr val="FF0000"/>
                </a:solidFill>
              </a:rPr>
              <a:t> and related terms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Pharmacodynamics = what a drug does to the body</a:t>
            </a:r>
          </a:p>
          <a:p>
            <a:endParaRPr lang="en-US" dirty="0"/>
          </a:p>
          <a:p>
            <a:r>
              <a:rPr lang="en-US" dirty="0"/>
              <a:t>Pharmacokinetics = what the body does to the drug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70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9C7A18D-C9D1-4371-BB8C-F72C5EB3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03B189-77AC-5C46-AB99-610A06D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LO1, content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ABFEF0-7A33-4B5F-AD27-0EB7BB370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Material 3-2:  ADME</a:t>
            </a:r>
          </a:p>
          <a:p>
            <a:endParaRPr lang="en-US" dirty="0"/>
          </a:p>
          <a:p>
            <a:r>
              <a:rPr lang="en-US" b="1" dirty="0"/>
              <a:t>A</a:t>
            </a:r>
            <a:r>
              <a:rPr lang="en-US" dirty="0"/>
              <a:t>bsorption is how the drug moves from where it is administered to the bloodstream.</a:t>
            </a:r>
          </a:p>
          <a:p>
            <a:r>
              <a:rPr lang="en-US" b="1" dirty="0"/>
              <a:t>D</a:t>
            </a:r>
            <a:r>
              <a:rPr lang="en-US" dirty="0"/>
              <a:t>istribution is how the drug moves from the bloodstream to the tissues of the body.</a:t>
            </a:r>
          </a:p>
          <a:p>
            <a:r>
              <a:rPr lang="en-US" b="1" dirty="0"/>
              <a:t>M</a:t>
            </a:r>
            <a:r>
              <a:rPr lang="en-US" dirty="0"/>
              <a:t>etabolism is how the drug is broken down by the body as time passes.</a:t>
            </a:r>
          </a:p>
          <a:p>
            <a:r>
              <a:rPr lang="en-US" b="1" dirty="0"/>
              <a:t>E</a:t>
            </a:r>
            <a:r>
              <a:rPr lang="en-US" dirty="0"/>
              <a:t>xcretion is how the drug exits the body </a:t>
            </a:r>
          </a:p>
        </p:txBody>
      </p:sp>
    </p:spTree>
    <p:extLst>
      <p:ext uri="{BB962C8B-B14F-4D97-AF65-F5344CB8AC3E}">
        <p14:creationId xmlns:p14="http://schemas.microsoft.com/office/powerpoint/2010/main" val="111831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07607A-B363-F14A-A8D1-DFFEE1A9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LO2,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Identify types of liquid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b="1" dirty="0"/>
          </a:p>
          <a:p>
            <a:r>
              <a:rPr lang="en-US" b="1" dirty="0"/>
              <a:t>aerosol</a:t>
            </a:r>
          </a:p>
          <a:p>
            <a:pPr lvl="1"/>
            <a:r>
              <a:rPr lang="en-US" dirty="0"/>
              <a:t>a fine spray or mist containing particles suspended in a gas.</a:t>
            </a:r>
          </a:p>
          <a:p>
            <a:r>
              <a:rPr lang="en-US" b="1" dirty="0"/>
              <a:t>drops</a:t>
            </a:r>
          </a:p>
          <a:p>
            <a:pPr lvl="1"/>
            <a:r>
              <a:rPr lang="en-US" dirty="0"/>
              <a:t>a very small amount of liquid, given by dropper.</a:t>
            </a:r>
          </a:p>
          <a:p>
            <a:r>
              <a:rPr lang="en-US" b="1" dirty="0"/>
              <a:t>elixir</a:t>
            </a:r>
          </a:p>
          <a:p>
            <a:pPr lvl="1"/>
            <a:r>
              <a:rPr lang="en-US" dirty="0"/>
              <a:t>a clean, thin flavored liquid, often containing alcohol.</a:t>
            </a:r>
          </a:p>
          <a:p>
            <a:r>
              <a:rPr lang="en-US" b="1" dirty="0"/>
              <a:t>spray</a:t>
            </a:r>
          </a:p>
          <a:p>
            <a:pPr lvl="1"/>
            <a:r>
              <a:rPr lang="en-US" dirty="0"/>
              <a:t>a liquid pushed through the air in tiny drops; may be sprayed into the nose or onto another part of the body.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12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07607A-B363-F14A-A8D1-DFFEE1A9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LO2,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Identify types of liquid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b="1" dirty="0"/>
          </a:p>
          <a:p>
            <a:r>
              <a:rPr lang="en-US" b="1" dirty="0"/>
              <a:t>solution</a:t>
            </a:r>
          </a:p>
          <a:p>
            <a:pPr lvl="1"/>
            <a:r>
              <a:rPr lang="en-US" dirty="0"/>
              <a:t>a solid, liquid, or gas dissolved in liquid.</a:t>
            </a:r>
          </a:p>
          <a:p>
            <a:r>
              <a:rPr lang="en-US" b="1" dirty="0"/>
              <a:t>suspension</a:t>
            </a:r>
          </a:p>
          <a:p>
            <a:pPr lvl="1"/>
            <a:r>
              <a:rPr lang="en-US" dirty="0"/>
              <a:t>a liquid mixture containing drug particles that are not completely dissolved; must be shaken before administration.</a:t>
            </a:r>
          </a:p>
          <a:p>
            <a:r>
              <a:rPr lang="en-US" b="1" dirty="0"/>
              <a:t>syrup</a:t>
            </a:r>
          </a:p>
          <a:p>
            <a:pPr lvl="1"/>
            <a:r>
              <a:rPr lang="en-US" dirty="0"/>
              <a:t>a medication in a solution of sugar (or other sweetener) and water, with or without flavor.</a:t>
            </a:r>
          </a:p>
          <a:p>
            <a:r>
              <a:rPr lang="en-US" b="1" dirty="0"/>
              <a:t>tincture</a:t>
            </a:r>
          </a:p>
          <a:p>
            <a:pPr lvl="1"/>
            <a:r>
              <a:rPr lang="en-US" dirty="0"/>
              <a:t>an extract, usually of plant material, dissolved in alcohol.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74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07607A-B363-F14A-A8D1-DFFEE1A9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LO2, </a:t>
            </a:r>
            <a:r>
              <a:rPr lang="en-US"/>
              <a:t>content 1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Identify types of liquid medications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Advantages of liquid medications include ease of swallowing and rapid digestion and absorption. Challenges include proper storage, measurement, and administration.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5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E63716-8344-C941-A183-508BD72F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tablet</a:t>
            </a:r>
          </a:p>
          <a:p>
            <a:pPr lvl="1"/>
            <a:r>
              <a:rPr lang="en-US" dirty="0"/>
              <a:t>a form of medicine pressed into a hard pill.</a:t>
            </a:r>
          </a:p>
          <a:p>
            <a:r>
              <a:rPr lang="en-US" b="1" dirty="0"/>
              <a:t>scored</a:t>
            </a:r>
          </a:p>
          <a:p>
            <a:pPr lvl="1"/>
            <a:r>
              <a:rPr lang="en-US" dirty="0"/>
              <a:t>for a medication, marked with a groove to make splitting easier.</a:t>
            </a:r>
          </a:p>
          <a:p>
            <a:r>
              <a:rPr lang="en-US" b="1" dirty="0"/>
              <a:t>dosage</a:t>
            </a:r>
          </a:p>
          <a:p>
            <a:pPr lvl="1"/>
            <a:r>
              <a:rPr lang="en-US" dirty="0"/>
              <a:t>the amount of medication to be taken at one time.</a:t>
            </a:r>
          </a:p>
          <a:p>
            <a:r>
              <a:rPr lang="en-US" b="1" dirty="0"/>
              <a:t>enteric-coated tablet</a:t>
            </a:r>
          </a:p>
          <a:p>
            <a:pPr lvl="1"/>
            <a:r>
              <a:rPr lang="en-US" dirty="0"/>
              <a:t>a tablet coated in a thin film that protects it from stomach acids, allowing it to pass through the stomach before becoming active.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008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E63716-8344-C941-A183-508BD72F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film-coated tablet</a:t>
            </a:r>
          </a:p>
          <a:p>
            <a:pPr lvl="1"/>
            <a:r>
              <a:rPr lang="en-US" dirty="0"/>
              <a:t>a tablet coated with a thin film to mask an undesirable taste for easier swallowing. </a:t>
            </a:r>
          </a:p>
          <a:p>
            <a:r>
              <a:rPr lang="en-US" b="1" dirty="0"/>
              <a:t>caplet</a:t>
            </a:r>
          </a:p>
          <a:p>
            <a:pPr lvl="1"/>
            <a:r>
              <a:rPr lang="en-US" dirty="0"/>
              <a:t>oblong or oval tablet with a smooth finish for easy swallowing.</a:t>
            </a:r>
          </a:p>
          <a:p>
            <a:r>
              <a:rPr lang="en-US" b="1" dirty="0"/>
              <a:t>chewable tablet</a:t>
            </a:r>
          </a:p>
          <a:p>
            <a:pPr lvl="1"/>
            <a:r>
              <a:rPr lang="en-US" dirty="0"/>
              <a:t>a tablet meant to be chewed and swallowed. </a:t>
            </a:r>
          </a:p>
          <a:p>
            <a:r>
              <a:rPr lang="en-US" b="1" dirty="0"/>
              <a:t>oral disintegrating tablet</a:t>
            </a:r>
          </a:p>
          <a:p>
            <a:pPr lvl="1"/>
            <a:r>
              <a:rPr lang="en-US" dirty="0"/>
              <a:t>a tablet that dissolves in the mouth without chewing.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4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E63716-8344-C941-A183-508BD72F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key terms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sublingual (SL) tablet</a:t>
            </a:r>
          </a:p>
          <a:p>
            <a:pPr lvl="1"/>
            <a:r>
              <a:rPr lang="en-US" dirty="0"/>
              <a:t>a tablet placed under the tongue to dissolve and absorb through the lining of the mouth. </a:t>
            </a:r>
          </a:p>
          <a:p>
            <a:r>
              <a:rPr lang="en-US" b="1" dirty="0"/>
              <a:t>buccal tablet</a:t>
            </a:r>
          </a:p>
          <a:p>
            <a:pPr lvl="1"/>
            <a:r>
              <a:rPr lang="en-US" dirty="0"/>
              <a:t>a tablet placed between the cheek and gums to dissolve and absorb through the lining of the mouth. </a:t>
            </a:r>
          </a:p>
          <a:p>
            <a:r>
              <a:rPr lang="en-US" b="1" dirty="0"/>
              <a:t>effervescent tablet</a:t>
            </a:r>
          </a:p>
          <a:p>
            <a:pPr lvl="1"/>
            <a:r>
              <a:rPr lang="en-US" dirty="0"/>
              <a:t>a tablet that releases bubbles of carbon dioxide gas when dropped in a liquid.</a:t>
            </a:r>
          </a:p>
          <a:p>
            <a:r>
              <a:rPr lang="en-US" b="1" dirty="0"/>
              <a:t>powder</a:t>
            </a:r>
          </a:p>
          <a:p>
            <a:pPr lvl="1"/>
            <a:r>
              <a:rPr lang="en-US" dirty="0"/>
              <a:t>a form of medication that may be used externally (applied to the skin) or mixed into a liquid.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8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E63716-8344-C941-A183-508BD72F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key terms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capsule</a:t>
            </a:r>
          </a:p>
          <a:p>
            <a:pPr lvl="1"/>
            <a:r>
              <a:rPr lang="en-US" dirty="0"/>
              <a:t>a form of medication made of hard or soft gelatin with powdered, granulated, or liquid medication inside.</a:t>
            </a:r>
          </a:p>
          <a:p>
            <a:r>
              <a:rPr lang="en-US" b="1" dirty="0"/>
              <a:t>lozenge</a:t>
            </a:r>
          </a:p>
          <a:p>
            <a:pPr lvl="1"/>
            <a:r>
              <a:rPr lang="en-US" dirty="0"/>
              <a:t>a solid form of medication with a texture similar to hard candy.</a:t>
            </a:r>
          </a:p>
          <a:p>
            <a:r>
              <a:rPr lang="en-US" b="1" dirty="0"/>
              <a:t>troche</a:t>
            </a:r>
          </a:p>
          <a:p>
            <a:pPr lvl="1"/>
            <a:r>
              <a:rPr lang="en-US" dirty="0"/>
              <a:t>a solid form of medication related to lozenges; may be hard or have a gummy consistency.</a:t>
            </a:r>
          </a:p>
          <a:p>
            <a:r>
              <a:rPr lang="en-US" b="1" dirty="0"/>
              <a:t>controlled release</a:t>
            </a:r>
          </a:p>
          <a:p>
            <a:pPr lvl="1"/>
            <a:r>
              <a:rPr lang="en-US" dirty="0"/>
              <a:t>medication designed for continuous release over time.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874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C639D0-C7F2-094F-8E81-F608215A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Remember these points about solid medication forms: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form is meant to be administered in a particular 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Sublingual medications must be left to dissolve under the tongue; otherwise they are not as effective as they could be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scored tablets should be split (and only if ordered)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Capsules should only be opened if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 all solid medications may be crushed, split, or opened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2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E63716-8344-C941-A183-508BD72F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key terms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topical</a:t>
            </a:r>
          </a:p>
          <a:p>
            <a:pPr lvl="1"/>
            <a:r>
              <a:rPr lang="en-US" dirty="0"/>
              <a:t>a medication route in which the drug is applied to a body surface.</a:t>
            </a:r>
          </a:p>
          <a:p>
            <a:r>
              <a:rPr lang="en-US" b="1" dirty="0"/>
              <a:t>ointment</a:t>
            </a:r>
          </a:p>
          <a:p>
            <a:pPr lvl="1"/>
            <a:r>
              <a:rPr lang="en-US" dirty="0"/>
              <a:t>a semisolid medication form that is thick and greasy; it may provide protective and lubricating effects.</a:t>
            </a:r>
          </a:p>
          <a:p>
            <a:r>
              <a:rPr lang="en-US" b="1" dirty="0"/>
              <a:t>cream</a:t>
            </a:r>
          </a:p>
          <a:p>
            <a:pPr lvl="1"/>
            <a:r>
              <a:rPr lang="en-US" dirty="0"/>
              <a:t>a medication form that may also contain soothing or moisturizing ingredients.</a:t>
            </a:r>
          </a:p>
          <a:p>
            <a:r>
              <a:rPr lang="en-US" b="1" dirty="0"/>
              <a:t>lotion</a:t>
            </a:r>
          </a:p>
          <a:p>
            <a:pPr lvl="1"/>
            <a:r>
              <a:rPr lang="en-US" dirty="0"/>
              <a:t>a medication form similar to a cream, but thinner.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12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E63716-8344-C941-A183-508BD72F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key terms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paste</a:t>
            </a:r>
          </a:p>
          <a:p>
            <a:pPr lvl="1"/>
            <a:r>
              <a:rPr lang="en-US" dirty="0"/>
              <a:t>a semisolid medication form that is thick, stiff, and mixed with a </a:t>
            </a:r>
            <a:r>
              <a:rPr lang="en-US" dirty="0" err="1"/>
              <a:t>nongreasy</a:t>
            </a:r>
            <a:r>
              <a:rPr lang="en-US" dirty="0"/>
              <a:t> base.</a:t>
            </a:r>
          </a:p>
          <a:p>
            <a:r>
              <a:rPr lang="en-US" b="1" dirty="0"/>
              <a:t>suppository</a:t>
            </a:r>
          </a:p>
          <a:p>
            <a:pPr lvl="1"/>
            <a:r>
              <a:rPr lang="en-US" dirty="0"/>
              <a:t>a medication form in which a drug mixed is with a waxy substance and pressed into a small round or cone shape; may be inserted into the rectum or vagina.</a:t>
            </a:r>
          </a:p>
          <a:p>
            <a:r>
              <a:rPr lang="en-US" b="1" dirty="0"/>
              <a:t>liniment</a:t>
            </a:r>
          </a:p>
          <a:p>
            <a:pPr lvl="1"/>
            <a:r>
              <a:rPr lang="en-US" dirty="0"/>
              <a:t>a semisolid or liquid mediation form, typically prepared with oil and containing pain-relieving medications for topical use.</a:t>
            </a:r>
          </a:p>
          <a:p>
            <a:r>
              <a:rPr lang="en-US" b="1" dirty="0"/>
              <a:t>patch</a:t>
            </a:r>
          </a:p>
          <a:p>
            <a:pPr lvl="1"/>
            <a:r>
              <a:rPr lang="en-US" dirty="0"/>
              <a:t>in pharmacology, a medication form that allows semisolid or liquid medication to be absorbed through the skin (</a:t>
            </a:r>
            <a:r>
              <a:rPr lang="en-US" dirty="0" err="1"/>
              <a:t>transdermally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10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C639D0-C7F2-094F-8E81-F608215A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Identify types of solid and semisolid medications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Most topical drugs are in semisolid or liquid form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89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Understand basic medication terminology and abbreviations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prescription drug</a:t>
            </a:r>
          </a:p>
          <a:p>
            <a:pPr lvl="1"/>
            <a:r>
              <a:rPr lang="en-US" dirty="0"/>
              <a:t>a medication that must be ordered by a physician or other qualified practitioner. </a:t>
            </a:r>
          </a:p>
          <a:p>
            <a:r>
              <a:rPr lang="en-US" b="1" dirty="0"/>
              <a:t>prescribe</a:t>
            </a:r>
          </a:p>
          <a:p>
            <a:pPr lvl="1"/>
            <a:r>
              <a:rPr lang="en-US" dirty="0"/>
              <a:t>to order a medication; only physicians and other qualified practitioners can prescribe medications.</a:t>
            </a:r>
          </a:p>
          <a:p>
            <a:r>
              <a:rPr lang="en-US" b="1" dirty="0"/>
              <a:t>over-the-counter (OTC) drug</a:t>
            </a:r>
          </a:p>
          <a:p>
            <a:pPr lvl="1"/>
            <a:r>
              <a:rPr lang="en-US" dirty="0"/>
              <a:t>a medication that may be purchased and used without a prescription.</a:t>
            </a:r>
          </a:p>
          <a:p>
            <a:r>
              <a:rPr lang="en-US" b="1" dirty="0"/>
              <a:t>generic name</a:t>
            </a:r>
          </a:p>
          <a:p>
            <a:pPr lvl="1"/>
            <a:r>
              <a:rPr lang="en-US" dirty="0"/>
              <a:t>the name of a drug that relates to the chemicals in its active ingredients.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42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Understand basic medication terminology and abbreviations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brand name</a:t>
            </a:r>
          </a:p>
          <a:p>
            <a:pPr lvl="1"/>
            <a:r>
              <a:rPr lang="en-US" dirty="0"/>
              <a:t>the name of a drug used for marketing by the drug’s manufacturer.</a:t>
            </a:r>
          </a:p>
          <a:p>
            <a:r>
              <a:rPr lang="en-US" b="1" dirty="0"/>
              <a:t>active ingredient</a:t>
            </a:r>
          </a:p>
          <a:p>
            <a:pPr lvl="1"/>
            <a:r>
              <a:rPr lang="en-US" dirty="0"/>
              <a:t>an accident, problem, or unexpected event during the course of care that is not part of the normal routine in a healthcare facility.</a:t>
            </a:r>
          </a:p>
          <a:p>
            <a:r>
              <a:rPr lang="en-US" b="1" dirty="0"/>
              <a:t>filler</a:t>
            </a:r>
          </a:p>
          <a:p>
            <a:pPr lvl="1"/>
            <a:r>
              <a:rPr lang="en-US" dirty="0"/>
              <a:t>a component of a medication that does not have an effect on the body.</a:t>
            </a:r>
          </a:p>
          <a:p>
            <a:r>
              <a:rPr lang="en-US" b="1" dirty="0"/>
              <a:t>Medication Safety Board</a:t>
            </a:r>
          </a:p>
          <a:p>
            <a:pPr lvl="1"/>
            <a:r>
              <a:rPr lang="en-US" dirty="0"/>
              <a:t>an organization that works for the safe use of prescription and over-the-counter medications.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88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key terms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Understand basic medication terminology and abbreviations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Institute for Safe Medication Practices (ISMP)</a:t>
            </a:r>
          </a:p>
          <a:p>
            <a:pPr lvl="1"/>
            <a:r>
              <a:rPr lang="en-US" dirty="0"/>
              <a:t>a nonprofit organization dedicated to reducing medication errors.</a:t>
            </a:r>
          </a:p>
          <a:p>
            <a:r>
              <a:rPr lang="en-US" b="1" dirty="0"/>
              <a:t>indication</a:t>
            </a:r>
          </a:p>
          <a:p>
            <a:pPr lvl="1"/>
            <a:r>
              <a:rPr lang="en-US" dirty="0"/>
              <a:t>the purpose for which a drug is administered.</a:t>
            </a:r>
          </a:p>
          <a:p>
            <a:r>
              <a:rPr lang="en-US" b="1" dirty="0"/>
              <a:t>Food and Drug Administration (FDA)</a:t>
            </a:r>
          </a:p>
          <a:p>
            <a:pPr lvl="1"/>
            <a:r>
              <a:rPr lang="en-US" dirty="0"/>
              <a:t>a US federal agency; protecting public health by ensuring the safety and efficacy of medications is part of its mission.</a:t>
            </a:r>
          </a:p>
          <a:p>
            <a:r>
              <a:rPr lang="en-US" b="1" dirty="0"/>
              <a:t>tall man lettering (TML)</a:t>
            </a:r>
          </a:p>
          <a:p>
            <a:pPr lvl="1"/>
            <a:r>
              <a:rPr lang="en-US" dirty="0"/>
              <a:t>a technique for reducing drug name confusion by using capital letters to emphasize differences in drug names that could be easily confused.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742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Understand basic medication terminology and abbreviations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Generic medications contain the same active ingredients as the equivalent brand names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76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Understand basic medication terminology and abbreviations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Using correct medical terminology and abbreviations will improve communication between healthcare team members. Some abbreviations are easy to confuse and should not be used. Follow facility policy.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06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9C7A18D-C9D1-4371-BB8C-F72C5EB3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29C76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29C76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03B189-77AC-5C46-AB99-610A06D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ABFEF0-7A33-4B5F-AD27-0EB7BB370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Material 3-3:  Error-Prone Abbreviations</a:t>
            </a:r>
          </a:p>
          <a:p>
            <a:endParaRPr lang="en-US" dirty="0"/>
          </a:p>
        </p:txBody>
      </p:sp>
      <p:graphicFrame>
        <p:nvGraphicFramePr>
          <p:cNvPr id="4" name="Table 3" descr="Table of abbreviations that can cause errors and should not be used">
            <a:extLst>
              <a:ext uri="{FF2B5EF4-FFF2-40B4-BE49-F238E27FC236}">
                <a16:creationId xmlns:a16="http://schemas.microsoft.com/office/drawing/2014/main" id="{8A1A9C12-754B-E44D-BE63-96A8B4A32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0852"/>
              </p:ext>
            </p:extLst>
          </p:nvPr>
        </p:nvGraphicFramePr>
        <p:xfrm>
          <a:off x="977945" y="1307778"/>
          <a:ext cx="9504998" cy="4635821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329158">
                  <a:extLst>
                    <a:ext uri="{9D8B030D-6E8A-4147-A177-3AD203B41FA5}">
                      <a16:colId xmlns:a16="http://schemas.microsoft.com/office/drawing/2014/main" val="2058703799"/>
                    </a:ext>
                  </a:extLst>
                </a:gridCol>
                <a:gridCol w="1973356">
                  <a:extLst>
                    <a:ext uri="{9D8B030D-6E8A-4147-A177-3AD203B41FA5}">
                      <a16:colId xmlns:a16="http://schemas.microsoft.com/office/drawing/2014/main" val="2041869782"/>
                    </a:ext>
                  </a:extLst>
                </a:gridCol>
                <a:gridCol w="2601242">
                  <a:extLst>
                    <a:ext uri="{9D8B030D-6E8A-4147-A177-3AD203B41FA5}">
                      <a16:colId xmlns:a16="http://schemas.microsoft.com/office/drawing/2014/main" val="645806725"/>
                    </a:ext>
                  </a:extLst>
                </a:gridCol>
                <a:gridCol w="2601242">
                  <a:extLst>
                    <a:ext uri="{9D8B030D-6E8A-4147-A177-3AD203B41FA5}">
                      <a16:colId xmlns:a16="http://schemas.microsoft.com/office/drawing/2014/main" val="2861044016"/>
                    </a:ext>
                  </a:extLst>
                </a:gridCol>
              </a:tblGrid>
              <a:tr h="331747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2743200" algn="r"/>
                        </a:tabLst>
                      </a:pPr>
                      <a:r>
                        <a:rPr lang="en-US" sz="1000" dirty="0">
                          <a:effectLst/>
                        </a:rPr>
                        <a:t>DO NOT USE</a:t>
                      </a:r>
                      <a:endParaRPr lang="en-US" sz="1000" b="1" i="1" dirty="0">
                        <a:solidFill>
                          <a:srgbClr val="000000"/>
                        </a:solidFill>
                        <a:effectLst/>
                        <a:latin typeface="ScalaSansOT-Bold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2743200" algn="r"/>
                        </a:tabLst>
                      </a:pPr>
                      <a:r>
                        <a:rPr lang="en-US" sz="1000" dirty="0">
                          <a:effectLst/>
                        </a:rPr>
                        <a:t>MEANING</a:t>
                      </a:r>
                      <a:endParaRPr lang="en-US" sz="1000" b="1" i="1" dirty="0">
                        <a:solidFill>
                          <a:srgbClr val="000000"/>
                        </a:solidFill>
                        <a:effectLst/>
                        <a:latin typeface="ScalaSansOT-Bold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2743200" algn="r"/>
                        </a:tabLst>
                      </a:pPr>
                      <a:r>
                        <a:rPr lang="en-US" sz="1000" dirty="0">
                          <a:effectLst/>
                        </a:rPr>
                        <a:t>MAY BE MISTAKEN FOR</a:t>
                      </a:r>
                      <a:endParaRPr lang="en-US" sz="1000" b="1" i="1" dirty="0">
                        <a:solidFill>
                          <a:srgbClr val="000000"/>
                        </a:solidFill>
                        <a:effectLst/>
                        <a:latin typeface="ScalaSansOT-Bold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2743200" algn="r"/>
                        </a:tabLst>
                      </a:pPr>
                      <a:r>
                        <a:rPr lang="en-US" sz="1000" dirty="0">
                          <a:effectLst/>
                        </a:rPr>
                        <a:t>USE INSTEAD</a:t>
                      </a:r>
                      <a:endParaRPr lang="en-US" sz="1000" b="1" i="1" dirty="0">
                        <a:solidFill>
                          <a:srgbClr val="000000"/>
                        </a:solidFill>
                        <a:effectLst/>
                        <a:latin typeface="ScalaSansOT-Bold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748958130"/>
                  </a:ext>
                </a:extLst>
              </a:tr>
              <a:tr h="30310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BT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bedtime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BID (twice daily)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bedtime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596406692"/>
                  </a:ext>
                </a:extLst>
              </a:tr>
              <a:tr h="30310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cc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cubic centimeters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u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mL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433712916"/>
                  </a:ext>
                </a:extLst>
              </a:tr>
              <a:tr h="48496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o.d. or OD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once daily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right eye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(oculus dexter = right eye)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daily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431871493"/>
                  </a:ext>
                </a:extLst>
              </a:tr>
              <a:tr h="666828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Per os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by mouth 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“</a:t>
                      </a:r>
                      <a:r>
                        <a:rPr lang="en-US" sz="1000" dirty="0" err="1">
                          <a:effectLst/>
                        </a:rPr>
                        <a:t>os</a:t>
                      </a:r>
                      <a:r>
                        <a:rPr lang="en-US" sz="1000" dirty="0">
                          <a:effectLst/>
                        </a:rPr>
                        <a:t>” can be mistaken as “left eye” (oculus sinister = left eye)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PO, by mouth, or orally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280295721"/>
                  </a:ext>
                </a:extLst>
              </a:tr>
              <a:tr h="30310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q.d. or QD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every day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q.i.d (four times per day)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daily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78395829"/>
                  </a:ext>
                </a:extLst>
              </a:tr>
              <a:tr h="30310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qhs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nightly at bedtime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qhr (every hour)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nightly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50225956"/>
                  </a:ext>
                </a:extLst>
              </a:tr>
              <a:tr h="30310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q1d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daily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q.i.d. (four times daily)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daily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112137076"/>
                  </a:ext>
                </a:extLst>
              </a:tr>
              <a:tr h="48496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q6pm, etc.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every evening at 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6 p.m.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every 6 hours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daily at 6 p.m., etc.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221775976"/>
                  </a:ext>
                </a:extLst>
              </a:tr>
              <a:tr h="48496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Zero after decimal, such as 2.0 mL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2 mL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20 mL 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2 mL; do not use a zero after the decimal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565587986"/>
                  </a:ext>
                </a:extLst>
              </a:tr>
              <a:tr h="666828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“Naked” decimal point, such as .5 mg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0.5 mg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>
                          <a:effectLst/>
                        </a:rPr>
                        <a:t>5 mg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  <a:tabLst>
                          <a:tab pos="773430" algn="l"/>
                          <a:tab pos="1828800" algn="l"/>
                          <a:tab pos="1920240" algn="l"/>
                          <a:tab pos="4343400" algn="l"/>
                        </a:tabLst>
                      </a:pPr>
                      <a:r>
                        <a:rPr lang="en-US" sz="1000" dirty="0">
                          <a:effectLst/>
                        </a:rPr>
                        <a:t>Always put a zero before the decimal when a dose measurement is less than 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ScalaSansOT"/>
                        <a:ea typeface="Calibri" panose="020F0502020204030204" pitchFamily="34" charset="0"/>
                        <a:cs typeface="ScalaSansOT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75286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940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LO4,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Understand basic medication terminology and abbreviations</a:t>
            </a:r>
          </a:p>
          <a:p>
            <a:endParaRPr lang="en-US" dirty="0"/>
          </a:p>
          <a:p>
            <a:r>
              <a:rPr lang="en-US" dirty="0"/>
              <a:t>Drug names can sound similar or can be misread or miscommunicated. These guidelines can help reduce drug name confusion: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both brand and generic names on prescriptions/medication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Read and confirm the purpose of a drug before giving it to a resident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any facility systems designed to reduce drug-name confusion (e.g., tall man lettering)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 familiar with common lookalike/soundalike drugs (ISMP list is on pp. 187–197 of the textbook)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45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route of administration</a:t>
            </a:r>
          </a:p>
          <a:p>
            <a:pPr lvl="1"/>
            <a:r>
              <a:rPr lang="en-US" dirty="0"/>
              <a:t>the path that gets a drug into the body. </a:t>
            </a:r>
          </a:p>
          <a:p>
            <a:r>
              <a:rPr lang="en-US" b="1" dirty="0"/>
              <a:t>oral route</a:t>
            </a:r>
          </a:p>
          <a:p>
            <a:pPr lvl="1"/>
            <a:r>
              <a:rPr lang="en-US" dirty="0"/>
              <a:t>administration route in which drugs are placed in the mouth and swallowed. </a:t>
            </a:r>
          </a:p>
          <a:p>
            <a:r>
              <a:rPr lang="en-US" b="1" dirty="0"/>
              <a:t>injection</a:t>
            </a:r>
          </a:p>
          <a:p>
            <a:pPr lvl="1"/>
            <a:r>
              <a:rPr lang="en-US" dirty="0"/>
              <a:t>a method of putting medication into the body using a hollow needle.</a:t>
            </a:r>
          </a:p>
          <a:p>
            <a:r>
              <a:rPr lang="en-US" b="1" dirty="0"/>
              <a:t>intradermal</a:t>
            </a:r>
          </a:p>
          <a:p>
            <a:pPr lvl="1"/>
            <a:r>
              <a:rPr lang="en-US" dirty="0"/>
              <a:t>a type of injection given just underneath the outer layer of skin.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368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intramuscular</a:t>
            </a:r>
          </a:p>
          <a:p>
            <a:pPr lvl="1"/>
            <a:r>
              <a:rPr lang="en-US" dirty="0"/>
              <a:t>a type of injection given in the muscle, usually the upper arm or thigh. </a:t>
            </a:r>
          </a:p>
          <a:p>
            <a:r>
              <a:rPr lang="en-US" b="1" dirty="0"/>
              <a:t>Intravenous (IV)</a:t>
            </a:r>
          </a:p>
          <a:p>
            <a:pPr lvl="1"/>
            <a:r>
              <a:rPr lang="en-US" dirty="0"/>
              <a:t>a type of injection given directly into a person’s vein. </a:t>
            </a:r>
          </a:p>
          <a:p>
            <a:r>
              <a:rPr lang="en-US" b="1" dirty="0"/>
              <a:t>rectal route</a:t>
            </a:r>
          </a:p>
          <a:p>
            <a:pPr lvl="1"/>
            <a:r>
              <a:rPr lang="en-US" dirty="0"/>
              <a:t>administration route in which medication is placed into the rectum through the anus. </a:t>
            </a:r>
          </a:p>
          <a:p>
            <a:r>
              <a:rPr lang="en-US" b="1" dirty="0"/>
              <a:t>vaginal route</a:t>
            </a:r>
          </a:p>
          <a:p>
            <a:pPr lvl="1"/>
            <a:r>
              <a:rPr lang="en-US" dirty="0"/>
              <a:t>administration route in which medication is placed into the vagina.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408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key terms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ocular route</a:t>
            </a:r>
          </a:p>
          <a:p>
            <a:pPr lvl="1"/>
            <a:r>
              <a:rPr lang="en-US" dirty="0"/>
              <a:t>administration route in which medication is placed in the eye; also called the </a:t>
            </a:r>
            <a:r>
              <a:rPr lang="en-US" i="1" dirty="0"/>
              <a:t>optic route</a:t>
            </a:r>
            <a:r>
              <a:rPr lang="en-US" dirty="0"/>
              <a:t> or </a:t>
            </a:r>
            <a:r>
              <a:rPr lang="en-US" i="1" dirty="0"/>
              <a:t>ophthalmic route</a:t>
            </a:r>
            <a:r>
              <a:rPr lang="en-US" dirty="0"/>
              <a:t>. </a:t>
            </a:r>
          </a:p>
          <a:p>
            <a:r>
              <a:rPr lang="en-US" b="1" dirty="0" err="1"/>
              <a:t>otic</a:t>
            </a:r>
            <a:r>
              <a:rPr lang="en-US" b="1" dirty="0"/>
              <a:t> route</a:t>
            </a:r>
          </a:p>
          <a:p>
            <a:pPr lvl="1"/>
            <a:r>
              <a:rPr lang="en-US" dirty="0"/>
              <a:t>administration route in which medication is placed in the ear.</a:t>
            </a:r>
          </a:p>
          <a:p>
            <a:r>
              <a:rPr lang="en-US" b="1" dirty="0"/>
              <a:t>nasal route</a:t>
            </a:r>
          </a:p>
          <a:p>
            <a:pPr lvl="1"/>
            <a:r>
              <a:rPr lang="en-US" dirty="0"/>
              <a:t>administration route in which medication is placed in the nose.</a:t>
            </a:r>
          </a:p>
          <a:p>
            <a:r>
              <a:rPr lang="en-US" b="1" dirty="0"/>
              <a:t>inhalation route</a:t>
            </a:r>
          </a:p>
          <a:p>
            <a:pPr lvl="1"/>
            <a:r>
              <a:rPr lang="en-US" dirty="0"/>
              <a:t>administration route in which medication is inhaled through the mouth to reach the lungs.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9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key terms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nebulization route</a:t>
            </a:r>
          </a:p>
          <a:p>
            <a:pPr lvl="1"/>
            <a:r>
              <a:rPr lang="en-US" dirty="0"/>
              <a:t>administration route in which medication is aerosolized and breathed in as a mist. </a:t>
            </a:r>
          </a:p>
          <a:p>
            <a:r>
              <a:rPr lang="en-US" b="1" dirty="0"/>
              <a:t>aerosolize</a:t>
            </a:r>
          </a:p>
          <a:p>
            <a:pPr lvl="1"/>
            <a:r>
              <a:rPr lang="en-US" dirty="0"/>
              <a:t>to break apart into particles small enough to be suspended in the air. </a:t>
            </a:r>
          </a:p>
          <a:p>
            <a:r>
              <a:rPr lang="en-US" b="1" dirty="0"/>
              <a:t>nebulizer</a:t>
            </a:r>
          </a:p>
          <a:p>
            <a:pPr lvl="1"/>
            <a:r>
              <a:rPr lang="en-US" dirty="0"/>
              <a:t>a machine that can aerosolize liquid medications for inhalation.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9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key terms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topical route</a:t>
            </a:r>
          </a:p>
          <a:p>
            <a:pPr lvl="1"/>
            <a:r>
              <a:rPr lang="en-US" dirty="0"/>
              <a:t>administration route in which medication is applied to a body surface; may also be called the </a:t>
            </a:r>
            <a:r>
              <a:rPr lang="en-US" i="1" dirty="0"/>
              <a:t>cutaneous route</a:t>
            </a:r>
            <a:r>
              <a:rPr lang="en-US" dirty="0"/>
              <a:t>. </a:t>
            </a:r>
          </a:p>
          <a:p>
            <a:r>
              <a:rPr lang="en-US" b="1" dirty="0"/>
              <a:t>transdermal route</a:t>
            </a:r>
          </a:p>
          <a:p>
            <a:pPr lvl="1"/>
            <a:r>
              <a:rPr lang="en-US" dirty="0"/>
              <a:t>administration route in which a patch is placed on the skin and the medication is delivered slowly and continuously through the skin and into the bloodstream.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439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Other routes have already been defined: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Subcutaneous injections are given under the skin, in the fat layer above the muscle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Sublingual route involves placing the medication under the tongue and allowing it to dissolve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Buccal route involves allowing medication to dissolve between the gums and cheek or inner lip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02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parenteral routes: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be used when a drug needs to be absorbed quickly or a high dose is needed in a specific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Injections are a common type of parenteral medication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most states MAs cannot administer injections; some states allow MAs to administer subcutaneous injections if a nurse draws up the drug (places it in the syringe) or if the syringe is manufacturer-filled with the correct dose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MAs may be asked to assist a nurse with injections or observe residents who have received an injection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649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sublingual and buccal routes: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Drugs are placed under the tongue (SL) or between the gums and cheek (buccal)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SL/buccal drugs are solids; some are under-tongue sprays (e.g., nitroglycerin) or films applied to the cheek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 is absorbed through the mucous membranes in the mouth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These drugs should not be chewed and swallowed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65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rectal and vaginal routes: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Suppositories and enemas are administered rectally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Suppositories, medicated creams, gels, and solutions may be administered vaginally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053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the ocular route: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words </a:t>
            </a:r>
            <a:r>
              <a:rPr lang="en-US" i="1" dirty="0"/>
              <a:t>ocular</a:t>
            </a:r>
            <a:r>
              <a:rPr lang="en-US" dirty="0"/>
              <a:t>, </a:t>
            </a:r>
            <a:r>
              <a:rPr lang="en-US" i="1" dirty="0"/>
              <a:t>optic</a:t>
            </a:r>
            <a:r>
              <a:rPr lang="en-US" dirty="0"/>
              <a:t>, and </a:t>
            </a:r>
            <a:r>
              <a:rPr lang="en-US" i="1" dirty="0"/>
              <a:t>ophthalmic</a:t>
            </a:r>
            <a:r>
              <a:rPr lang="en-US" dirty="0"/>
              <a:t> all relate to medications administered to the eyes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Eye drops are easy to administer but may run off before the medication can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Eye ointment may keep the medication in contact with the eye longer but can be messy and can blur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Carefully following facility procedure for administering these drugs makes it more likely that the resident will get their full effect (procedures are covered in Chapter 8)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056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6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the </a:t>
            </a:r>
            <a:r>
              <a:rPr lang="en-US" dirty="0" err="1"/>
              <a:t>otic</a:t>
            </a:r>
            <a:r>
              <a:rPr lang="en-US" dirty="0"/>
              <a:t> route: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Ear drops are administered by the </a:t>
            </a:r>
            <a:r>
              <a:rPr lang="en-US" dirty="0" err="1"/>
              <a:t>otic</a:t>
            </a:r>
            <a:r>
              <a:rPr lang="en-US" dirty="0"/>
              <a:t>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some cases (e.g., when a resident has an accumulation of earwax) larger volumes of liquid may be administered to the ear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30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7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the nasal route: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also be called the </a:t>
            </a:r>
            <a:r>
              <a:rPr lang="en-US" i="1" dirty="0"/>
              <a:t>intranasal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are usually in the form of a spray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Bottles may have a pump system or may be squeezed to release the medication</a:t>
            </a:r>
          </a:p>
        </p:txBody>
      </p:sp>
    </p:spTree>
    <p:extLst>
      <p:ext uri="{BB962C8B-B14F-4D97-AF65-F5344CB8AC3E}">
        <p14:creationId xmlns:p14="http://schemas.microsoft.com/office/powerpoint/2010/main" val="3834185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8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the inhalation and nebulization routes: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both routes the medication is inhaled into the lungs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Inhalation route usually involves use of a metered dose inhaler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Nebulized medications are liquids broken up into tiny particles (aerosolized) by a machine and breathed in through a mask or mouthpiece</a:t>
            </a:r>
          </a:p>
        </p:txBody>
      </p:sp>
    </p:spTree>
    <p:extLst>
      <p:ext uri="{BB962C8B-B14F-4D97-AF65-F5344CB8AC3E}">
        <p14:creationId xmlns:p14="http://schemas.microsoft.com/office/powerpoint/2010/main" val="12836841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9682C-7B6A-DF4D-94E6-15B414A1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LO5, content 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Identify common routes of medication administration</a:t>
            </a:r>
          </a:p>
          <a:p>
            <a:endParaRPr lang="en-US" dirty="0"/>
          </a:p>
          <a:p>
            <a:r>
              <a:rPr lang="en-US" dirty="0"/>
              <a:t>Remember these points about the topical and transdermal routes: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both routes medication is absorbed through the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medications are typically ointments, creams, lotions, or gels; some are powders or sprays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Transdermal medications are administered by application of a patch to the resident’s skin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Transdermal delivery allows a drug to be administered slowly over the course of hours or 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Transdermal medications are useful when a constant drug level must be maintained </a:t>
            </a:r>
          </a:p>
        </p:txBody>
      </p:sp>
    </p:spTree>
    <p:extLst>
      <p:ext uri="{BB962C8B-B14F-4D97-AF65-F5344CB8AC3E}">
        <p14:creationId xmlns:p14="http://schemas.microsoft.com/office/powerpoint/2010/main" val="480218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LO6,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factors that may affect how the body uses medication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accumulation</a:t>
            </a:r>
          </a:p>
          <a:p>
            <a:pPr lvl="1"/>
            <a:r>
              <a:rPr lang="en-US" dirty="0"/>
              <a:t>in pharmacology, a situation in which medication builds up in the body faster than it can be broken down; can cause unwanted side effects. </a:t>
            </a:r>
          </a:p>
          <a:p>
            <a:r>
              <a:rPr lang="en-US" b="1" dirty="0"/>
              <a:t>body mass index (BMI)</a:t>
            </a:r>
          </a:p>
          <a:p>
            <a:pPr lvl="1"/>
            <a:r>
              <a:rPr lang="en-US" dirty="0"/>
              <a:t>a measurement related to a person’s height and weight that can affect how the body processes and absorbs medicines. </a:t>
            </a:r>
          </a:p>
          <a:p>
            <a:r>
              <a:rPr lang="en-US" b="1" dirty="0"/>
              <a:t>pharmacogenetics</a:t>
            </a:r>
          </a:p>
          <a:p>
            <a:pPr lvl="1"/>
            <a:r>
              <a:rPr lang="en-US" dirty="0"/>
              <a:t>the study of genetic differences in response to medications.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422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LO6,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factors that may affect how the body uses medication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</a:p>
          <a:p>
            <a:endParaRPr lang="en-US" dirty="0"/>
          </a:p>
          <a:p>
            <a:r>
              <a:rPr lang="en-US" b="1" dirty="0"/>
              <a:t>enzyme</a:t>
            </a:r>
          </a:p>
          <a:p>
            <a:pPr lvl="1"/>
            <a:r>
              <a:rPr lang="en-US" dirty="0"/>
              <a:t>a substance in the body that helps to complete a chemical process (such as breaking down a drug for excretion). </a:t>
            </a:r>
          </a:p>
          <a:p>
            <a:r>
              <a:rPr lang="en-US" b="1" dirty="0"/>
              <a:t>undernourished</a:t>
            </a:r>
          </a:p>
          <a:p>
            <a:pPr lvl="1"/>
            <a:r>
              <a:rPr lang="en-US" dirty="0"/>
              <a:t>lacking nutrients necessary for maintaining health.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35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LO6,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factors that may affect how the body uses medication</a:t>
            </a:r>
          </a:p>
          <a:p>
            <a:endParaRPr lang="en-US" dirty="0"/>
          </a:p>
          <a:p>
            <a:r>
              <a:rPr lang="en-US" dirty="0"/>
              <a:t>Age is an important factor in medication response/efficacy: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significant factor in dosing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Infants and elderly are more sensitive to medications than older children and younger adults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Liver may be less efficient in breaking down and eliminating drugs in elderly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Accumulation is a risk (drug building up in the body)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574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LO6,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factors that may affect how the body uses medication</a:t>
            </a:r>
          </a:p>
          <a:p>
            <a:endParaRPr lang="en-US" dirty="0"/>
          </a:p>
          <a:p>
            <a:r>
              <a:rPr lang="en-US" dirty="0"/>
              <a:t>There are other important factors as well: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Residents with a higher proportion of body fat may respond differently to a medication than residents of the same weight with more lean body tissue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Women may respond differently than men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Genetics may influence drug response in many ways: speed of metabolism, lack of certain enzymes, etc. may be genetically determined; family history/ethnicity can predispose someone to particular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Nutritional status can influence how the body responds to drugs, and residents who are undernourished may have poor organ function. This may interfere with the action of some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Food, drinks, and nutritional supplements can all change how the body responds to drugs (more detail in Chapter 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Resident’s beliefs about medications can change how they experience the medications’ effects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467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LO6,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factors that may affect how the body uses medication</a:t>
            </a:r>
          </a:p>
          <a:p>
            <a:endParaRPr lang="en-US" dirty="0"/>
          </a:p>
          <a:p>
            <a:r>
              <a:rPr lang="en-US" dirty="0"/>
              <a:t>It is important to understand the </a:t>
            </a:r>
            <a:r>
              <a:rPr lang="en-US" i="1" dirty="0"/>
              <a:t>placebo effect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Positive beliefs about a drug’s effectiveness can lead to better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Especially helpful for conditions that relate to the brain, such as pain or nausea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not just “in a person’s head” (imaginary); studies show a real, measurable impact on effectiveness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603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3140105-36ED-485E-BFB6-487CEDA6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4FC268-7AE9-A646-B960-7F893C35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LO6,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BB6B9-0E68-4617-AAB4-99195211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factors that may affect how the body uses medication</a:t>
            </a:r>
          </a:p>
          <a:p>
            <a:endParaRPr lang="en-US" dirty="0"/>
          </a:p>
          <a:p>
            <a:r>
              <a:rPr lang="en-US" dirty="0"/>
              <a:t>Critical Thinking: Conversation Starter </a:t>
            </a:r>
          </a:p>
          <a:p>
            <a:endParaRPr lang="en-US" dirty="0"/>
          </a:p>
          <a:p>
            <a:r>
              <a:rPr lang="en-US" dirty="0"/>
              <a:t>Can you think of any examples of how different people respond differently to the same medication?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4568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5764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6260</TotalTime>
  <Words>3570</Words>
  <Application>Microsoft Macintosh PowerPoint</Application>
  <PresentationFormat>Widescreen</PresentationFormat>
  <Paragraphs>690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Scala Sans</vt:lpstr>
      <vt:lpstr>ScalaSansOT</vt:lpstr>
      <vt:lpstr>ScalaSansOT-Bold</vt:lpstr>
      <vt:lpstr>Times New Roman</vt:lpstr>
      <vt:lpstr>1_Office Theme</vt:lpstr>
      <vt:lpstr>PowerPoint Presentation</vt:lpstr>
      <vt:lpstr>Chapter 3, LO1, key terms 1</vt:lpstr>
      <vt:lpstr>LO1, key terms 2</vt:lpstr>
      <vt:lpstr>LO1, key terms 3</vt:lpstr>
      <vt:lpstr>LO1, content 1</vt:lpstr>
      <vt:lpstr>LO1, content 2</vt:lpstr>
      <vt:lpstr>LO1, content 3</vt:lpstr>
      <vt:lpstr>LO1, content 4</vt:lpstr>
      <vt:lpstr>LO1, content 5</vt:lpstr>
      <vt:lpstr>LO1, content 6</vt:lpstr>
      <vt:lpstr>LO2, key terms 1</vt:lpstr>
      <vt:lpstr>LO2, key terms 2</vt:lpstr>
      <vt:lpstr>LO2, content 1</vt:lpstr>
      <vt:lpstr>LO3, key terms 1</vt:lpstr>
      <vt:lpstr>LO3, key terms 2</vt:lpstr>
      <vt:lpstr>LO3, key terms 3</vt:lpstr>
      <vt:lpstr>LO3, key terms 4</vt:lpstr>
      <vt:lpstr>LO3, content 1</vt:lpstr>
      <vt:lpstr>LO3, key terms 5</vt:lpstr>
      <vt:lpstr>LO3, key terms 6</vt:lpstr>
      <vt:lpstr>LO3, content 2</vt:lpstr>
      <vt:lpstr>LO4, key terms 1</vt:lpstr>
      <vt:lpstr>LO4, key terms 2</vt:lpstr>
      <vt:lpstr>LO4, key terms 3</vt:lpstr>
      <vt:lpstr>LO4, content 1</vt:lpstr>
      <vt:lpstr>LO4, content 2</vt:lpstr>
      <vt:lpstr>LO4, content 3</vt:lpstr>
      <vt:lpstr>LO4, content 4</vt:lpstr>
      <vt:lpstr>LO5, key terms 1</vt:lpstr>
      <vt:lpstr>LO5, key terms 2</vt:lpstr>
      <vt:lpstr>LO5, key terms 3</vt:lpstr>
      <vt:lpstr>LO5, key terms 4</vt:lpstr>
      <vt:lpstr>LO5, key terms 5</vt:lpstr>
      <vt:lpstr>LO5, content 1</vt:lpstr>
      <vt:lpstr>LO5, content 2</vt:lpstr>
      <vt:lpstr>LO5, content 3</vt:lpstr>
      <vt:lpstr>LO5, content 4</vt:lpstr>
      <vt:lpstr>LO5, content 5</vt:lpstr>
      <vt:lpstr>LO5, content 6</vt:lpstr>
      <vt:lpstr>LO5, content 7</vt:lpstr>
      <vt:lpstr>LO5, content 8</vt:lpstr>
      <vt:lpstr>LO5, content 9</vt:lpstr>
      <vt:lpstr>LO6, key terms 1</vt:lpstr>
      <vt:lpstr>LO6, key terms 2</vt:lpstr>
      <vt:lpstr>LO6, content 1</vt:lpstr>
      <vt:lpstr>LO6, content 2</vt:lpstr>
      <vt:lpstr>LO6, content 3</vt:lpstr>
      <vt:lpstr>LO6, content 4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97</cp:revision>
  <dcterms:created xsi:type="dcterms:W3CDTF">2020-03-18T21:10:11Z</dcterms:created>
  <dcterms:modified xsi:type="dcterms:W3CDTF">2021-05-21T13:49:27Z</dcterms:modified>
</cp:coreProperties>
</file>