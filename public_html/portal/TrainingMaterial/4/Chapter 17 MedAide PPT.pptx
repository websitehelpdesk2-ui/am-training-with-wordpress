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9" r:id="rId2"/>
    <p:sldId id="258" r:id="rId3"/>
    <p:sldId id="334" r:id="rId4"/>
    <p:sldId id="321" r:id="rId5"/>
    <p:sldId id="344" r:id="rId6"/>
    <p:sldId id="307" r:id="rId7"/>
    <p:sldId id="326" r:id="rId8"/>
    <p:sldId id="345" r:id="rId9"/>
    <p:sldId id="346" r:id="rId10"/>
    <p:sldId id="347" r:id="rId11"/>
    <p:sldId id="348" r:id="rId12"/>
    <p:sldId id="306" r:id="rId13"/>
    <p:sldId id="343" r:id="rId14"/>
    <p:sldId id="349" r:id="rId15"/>
    <p:sldId id="350" r:id="rId16"/>
    <p:sldId id="25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80" autoAdjust="0"/>
    <p:restoredTop sz="94660"/>
  </p:normalViewPr>
  <p:slideViewPr>
    <p:cSldViewPr snapToGrid="0">
      <p:cViewPr varScale="1">
        <p:scale>
          <a:sx n="109" d="100"/>
          <a:sy n="109" d="100"/>
        </p:scale>
        <p:origin x="400" y="17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5"/>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17</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The Endocrine System and Common Medications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1384518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5"/>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2" name="Title 1">
            <a:extLst>
              <a:ext uri="{FF2B5EF4-FFF2-40B4-BE49-F238E27FC236}">
                <a16:creationId xmlns:a16="http://schemas.microsoft.com/office/drawing/2014/main" id="{B515178F-7366-154C-872C-6D7DCB4C8A1B}"/>
              </a:ext>
            </a:extLst>
          </p:cNvPr>
          <p:cNvSpPr>
            <a:spLocks noGrp="1"/>
          </p:cNvSpPr>
          <p:nvPr>
            <p:ph type="title"/>
          </p:nvPr>
        </p:nvSpPr>
        <p:spPr>
          <a:xfrm>
            <a:off x="0" y="-909490"/>
            <a:ext cx="7058891" cy="715528"/>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The Endocrine System and Common Medications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17</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1953913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5"/>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25048555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746411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1862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ADD394F-6D74-4C47-A785-939C6C4483AD}"/>
              </a:ext>
            </a:extLst>
          </p:cNvPr>
          <p:cNvSpPr>
            <a:spLocks noGrp="1"/>
          </p:cNvSpPr>
          <p:nvPr>
            <p:ph type="title"/>
          </p:nvPr>
        </p:nvSpPr>
        <p:spPr/>
        <p:txBody>
          <a:bodyPr/>
          <a:lstStyle/>
          <a:p>
            <a:r>
              <a:rPr lang="en-US" dirty="0"/>
              <a:t>LO1, key terms</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endocrine system</a:t>
            </a:r>
          </a:p>
          <a:p>
            <a:endParaRPr lang="en-US" dirty="0"/>
          </a:p>
          <a:p>
            <a:r>
              <a:rPr lang="en-US" dirty="0"/>
              <a:t>Define the following terms: </a:t>
            </a:r>
          </a:p>
          <a:p>
            <a:endParaRPr lang="en-US" dirty="0"/>
          </a:p>
          <a:p>
            <a:r>
              <a:rPr lang="en-US" b="1" dirty="0"/>
              <a:t>gland</a:t>
            </a:r>
          </a:p>
          <a:p>
            <a:pPr lvl="1"/>
            <a:r>
              <a:rPr lang="en-US" dirty="0"/>
              <a:t>an organ that produces and secretes chemicals called </a:t>
            </a:r>
            <a:r>
              <a:rPr lang="en-US" i="1" dirty="0"/>
              <a:t>hormones</a:t>
            </a:r>
            <a:r>
              <a:rPr lang="en-US" dirty="0"/>
              <a:t>.</a:t>
            </a:r>
          </a:p>
          <a:p>
            <a:r>
              <a:rPr lang="en-US" b="1" dirty="0"/>
              <a:t>hormone</a:t>
            </a:r>
          </a:p>
          <a:p>
            <a:pPr lvl="1"/>
            <a:r>
              <a:rPr lang="en-US" dirty="0"/>
              <a:t>a chemical substance created by the body that controls body functions.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735679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28B9A21-B6A2-DE47-B8C1-24A2BE05EB59}"/>
              </a:ext>
            </a:extLst>
          </p:cNvPr>
          <p:cNvSpPr>
            <a:spLocks noGrp="1"/>
          </p:cNvSpPr>
          <p:nvPr>
            <p:ph type="title"/>
          </p:nvPr>
        </p:nvSpPr>
        <p:spPr/>
        <p:txBody>
          <a:bodyPr/>
          <a:lstStyle/>
          <a:p>
            <a:r>
              <a:rPr lang="en-US" dirty="0"/>
              <a:t>LO1, content 1</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r>
              <a:rPr lang="en-US" dirty="0"/>
              <a:t>Key Material 17-1: The Endocrine System</a:t>
            </a:r>
          </a:p>
          <a:p>
            <a:endParaRPr lang="en-US" dirty="0"/>
          </a:p>
        </p:txBody>
      </p:sp>
      <p:pic>
        <p:nvPicPr>
          <p:cNvPr id="6" name="Picture 5" descr="Human figure with parts of the endocrine system labeled">
            <a:extLst>
              <a:ext uri="{FF2B5EF4-FFF2-40B4-BE49-F238E27FC236}">
                <a16:creationId xmlns:a16="http://schemas.microsoft.com/office/drawing/2014/main" id="{D69A3B05-9EE6-7847-867A-E90DE30ED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9445" y="1154044"/>
            <a:ext cx="4864100" cy="5384800"/>
          </a:xfrm>
          <a:prstGeom prst="rect">
            <a:avLst/>
          </a:prstGeom>
        </p:spPr>
      </p:pic>
    </p:spTree>
    <p:extLst>
      <p:ext uri="{BB962C8B-B14F-4D97-AF65-F5344CB8AC3E}">
        <p14:creationId xmlns:p14="http://schemas.microsoft.com/office/powerpoint/2010/main" val="1207715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ADD394F-6D74-4C47-A785-939C6C4483AD}"/>
              </a:ext>
            </a:extLst>
          </p:cNvPr>
          <p:cNvSpPr>
            <a:spLocks noGrp="1"/>
          </p:cNvSpPr>
          <p:nvPr>
            <p:ph type="title"/>
          </p:nvPr>
        </p:nvSpPr>
        <p:spPr/>
        <p:txBody>
          <a:bodyPr/>
          <a:lstStyle/>
          <a:p>
            <a:r>
              <a:rPr lang="en-US" dirty="0"/>
              <a:t>LO1, content 2</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endocrine system</a:t>
            </a:r>
          </a:p>
          <a:p>
            <a:endParaRPr lang="en-US" dirty="0"/>
          </a:p>
          <a:p>
            <a:r>
              <a:rPr lang="en-US" dirty="0"/>
              <a:t>Review these points about the endocrine system:</a:t>
            </a:r>
          </a:p>
          <a:p>
            <a:pPr marL="342900" indent="-342900">
              <a:buFont typeface="Arial" panose="020B0604020202020204" pitchFamily="34" charset="0"/>
              <a:buChar char="•"/>
            </a:pPr>
            <a:r>
              <a:rPr lang="en-US" dirty="0"/>
              <a:t>Glands secrete hormones, which are chemical substances that control numerous body functions</a:t>
            </a:r>
          </a:p>
          <a:p>
            <a:pPr marL="342900" indent="-342900">
              <a:buFont typeface="Arial" panose="020B0604020202020204" pitchFamily="34" charset="0"/>
              <a:buChar char="•"/>
            </a:pPr>
            <a:r>
              <a:rPr lang="en-US" dirty="0"/>
              <a:t>Hormones are carried by the blood to organs in order to achieve the following:</a:t>
            </a:r>
          </a:p>
          <a:p>
            <a:pPr marL="800100" lvl="1" indent="-342900">
              <a:buFont typeface="Arial" panose="020B0604020202020204" pitchFamily="34" charset="0"/>
              <a:buChar char="•"/>
            </a:pPr>
            <a:r>
              <a:rPr lang="en-US" dirty="0"/>
              <a:t>Maintain homeostasis through hormone secretion</a:t>
            </a:r>
          </a:p>
          <a:p>
            <a:pPr marL="800100" lvl="1" indent="-342900">
              <a:buFont typeface="Arial" panose="020B0604020202020204" pitchFamily="34" charset="0"/>
              <a:buChar char="•"/>
            </a:pPr>
            <a:r>
              <a:rPr lang="en-US" dirty="0"/>
              <a:t>Influence growth and development</a:t>
            </a:r>
          </a:p>
          <a:p>
            <a:pPr marL="800100" lvl="1" indent="-342900">
              <a:buFont typeface="Arial" panose="020B0604020202020204" pitchFamily="34" charset="0"/>
              <a:buChar char="•"/>
            </a:pPr>
            <a:r>
              <a:rPr lang="en-US" dirty="0"/>
              <a:t>Maintain blood sugar levels</a:t>
            </a:r>
          </a:p>
          <a:p>
            <a:pPr marL="800100" lvl="1" indent="-342900">
              <a:buFont typeface="Arial" panose="020B0604020202020204" pitchFamily="34" charset="0"/>
              <a:buChar char="•"/>
            </a:pPr>
            <a:r>
              <a:rPr lang="en-US" dirty="0"/>
              <a:t>Regulate calcium and phosphate levels</a:t>
            </a:r>
          </a:p>
          <a:p>
            <a:pPr marL="800100" lvl="1" indent="-342900">
              <a:buFont typeface="Arial" panose="020B0604020202020204" pitchFamily="34" charset="0"/>
              <a:buChar char="•"/>
            </a:pPr>
            <a:r>
              <a:rPr lang="en-US" dirty="0"/>
              <a:t>Regulate the body’s ability to reproduce</a:t>
            </a:r>
          </a:p>
          <a:p>
            <a:pPr marL="800100" lvl="1" indent="-342900">
              <a:buFont typeface="Arial" panose="020B0604020202020204" pitchFamily="34" charset="0"/>
              <a:buChar char="•"/>
            </a:pPr>
            <a:r>
              <a:rPr lang="en-US" dirty="0"/>
              <a:t>Determine how fast cells burn food for energy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235483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ADD394F-6D74-4C47-A785-939C6C4483AD}"/>
              </a:ext>
            </a:extLst>
          </p:cNvPr>
          <p:cNvSpPr>
            <a:spLocks noGrp="1"/>
          </p:cNvSpPr>
          <p:nvPr>
            <p:ph type="title"/>
          </p:nvPr>
        </p:nvSpPr>
        <p:spPr/>
        <p:txBody>
          <a:bodyPr/>
          <a:lstStyle/>
          <a:p>
            <a:r>
              <a:rPr lang="en-US" dirty="0"/>
              <a:t>LO1, content 3</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endocrine system</a:t>
            </a:r>
          </a:p>
          <a:p>
            <a:endParaRPr lang="en-US" dirty="0"/>
          </a:p>
          <a:p>
            <a:r>
              <a:rPr lang="en-US" dirty="0"/>
              <a:t>Normal changes of aging include the following:</a:t>
            </a:r>
          </a:p>
          <a:p>
            <a:pPr marL="342900" indent="-342900">
              <a:buFont typeface="Arial" panose="020B0604020202020204" pitchFamily="34" charset="0"/>
              <a:buChar char="•"/>
            </a:pPr>
            <a:r>
              <a:rPr lang="en-US" dirty="0"/>
              <a:t>Decreased levels of hormones, such as estrogen and progesterone</a:t>
            </a:r>
          </a:p>
          <a:p>
            <a:pPr marL="342900" indent="-342900">
              <a:buFont typeface="Arial" panose="020B0604020202020204" pitchFamily="34" charset="0"/>
              <a:buChar char="•"/>
            </a:pPr>
            <a:r>
              <a:rPr lang="en-US" dirty="0"/>
              <a:t>Less production of insulin</a:t>
            </a:r>
          </a:p>
          <a:p>
            <a:pPr marL="342900" indent="-342900">
              <a:buFont typeface="Arial" panose="020B0604020202020204" pitchFamily="34" charset="0"/>
              <a:buChar char="•"/>
            </a:pPr>
            <a:r>
              <a:rPr lang="en-US" dirty="0"/>
              <a:t>Body is less able to handle stress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29395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E61C707-B4DB-CA4A-8FA7-45CA9B11D703}"/>
              </a:ext>
            </a:extLst>
          </p:cNvPr>
          <p:cNvSpPr>
            <a:spLocks noGrp="1"/>
          </p:cNvSpPr>
          <p:nvPr>
            <p:ph type="title"/>
          </p:nvPr>
        </p:nvSpPr>
        <p:spPr/>
        <p:txBody>
          <a:bodyPr/>
          <a:lstStyle/>
          <a:p>
            <a:r>
              <a:rPr lang="en-US" dirty="0"/>
              <a:t>LO2, key term</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diabetes</a:t>
            </a:r>
            <a:endParaRPr lang="en-US" dirty="0"/>
          </a:p>
          <a:p>
            <a:endParaRPr lang="en-US" dirty="0"/>
          </a:p>
          <a:p>
            <a:r>
              <a:rPr lang="en-US" dirty="0"/>
              <a:t>Define the following term: </a:t>
            </a:r>
          </a:p>
          <a:p>
            <a:endParaRPr lang="en-US" dirty="0"/>
          </a:p>
          <a:p>
            <a:r>
              <a:rPr lang="en-US" b="1" dirty="0"/>
              <a:t>diabetes</a:t>
            </a:r>
          </a:p>
          <a:p>
            <a:pPr lvl="1"/>
            <a:r>
              <a:rPr lang="en-US" dirty="0"/>
              <a:t>a condition in which the pancreas produces too little insulin or does not properly use insulin.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99639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28B9A21-B6A2-DE47-B8C1-24A2BE05EB59}"/>
              </a:ext>
            </a:extLst>
          </p:cNvPr>
          <p:cNvSpPr>
            <a:spLocks noGrp="1"/>
          </p:cNvSpPr>
          <p:nvPr>
            <p:ph type="title"/>
          </p:nvPr>
        </p:nvSpPr>
        <p:spPr/>
        <p:txBody>
          <a:bodyPr/>
          <a:lstStyle/>
          <a:p>
            <a:r>
              <a:rPr lang="en-US" dirty="0"/>
              <a:t>LO2, content 1</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diabetes</a:t>
            </a:r>
            <a:endParaRPr lang="en-US" dirty="0"/>
          </a:p>
          <a:p>
            <a:endParaRPr lang="en-US" dirty="0"/>
          </a:p>
          <a:p>
            <a:r>
              <a:rPr lang="en-US" dirty="0"/>
              <a:t>Treatment for type 1 diabetes includes the following:</a:t>
            </a:r>
          </a:p>
          <a:p>
            <a:pPr marL="342900" indent="-342900">
              <a:buFont typeface="Arial" panose="020B0604020202020204" pitchFamily="34" charset="0"/>
              <a:buChar char="•"/>
            </a:pPr>
            <a:r>
              <a:rPr lang="en-US" dirty="0"/>
              <a:t>Daily insulin (by subcutaneous injection, pump, or inhalation)</a:t>
            </a:r>
          </a:p>
          <a:p>
            <a:pPr marL="800100" lvl="1" indent="-342900">
              <a:buFont typeface="Arial" panose="020B0604020202020204" pitchFamily="34" charset="0"/>
              <a:buChar char="•"/>
            </a:pPr>
            <a:r>
              <a:rPr lang="en-US" dirty="0"/>
              <a:t>Inhalation form is contraindicated for residents with asthma or COPD</a:t>
            </a:r>
          </a:p>
          <a:p>
            <a:pPr marL="342900" indent="-342900">
              <a:buFont typeface="Arial" panose="020B0604020202020204" pitchFamily="34" charset="0"/>
              <a:buChar char="•"/>
            </a:pPr>
            <a:r>
              <a:rPr lang="en-US" dirty="0"/>
              <a:t>Regular glucose testing (usually by finger stick)</a:t>
            </a:r>
          </a:p>
          <a:p>
            <a:pPr marL="342900" indent="-342900">
              <a:buFont typeface="Arial" panose="020B0604020202020204" pitchFamily="34" charset="0"/>
              <a:buChar char="•"/>
            </a:pPr>
            <a:r>
              <a:rPr lang="en-US" dirty="0"/>
              <a:t>Special diet</a:t>
            </a:r>
          </a:p>
          <a:p>
            <a:pPr marL="342900" indent="-342900">
              <a:buFont typeface="Arial" panose="020B0604020202020204" pitchFamily="34" charset="0"/>
              <a:buChar char="•"/>
            </a:pPr>
            <a:r>
              <a:rPr lang="en-US" dirty="0"/>
              <a:t>Medication aides in most states cannot administer subcutaneous injections; in some states they may administer </a:t>
            </a:r>
            <a:r>
              <a:rPr lang="en-US"/>
              <a:t>predrawn</a:t>
            </a:r>
            <a:r>
              <a:rPr lang="en-US" dirty="0"/>
              <a:t> (already measured into the syringe) insulin with appropriate training</a:t>
            </a:r>
          </a:p>
          <a:p>
            <a:pPr marL="342900" indent="-342900">
              <a:buFont typeface="Arial" panose="020B0604020202020204" pitchFamily="34" charset="0"/>
              <a:buChar char="•"/>
            </a:pPr>
            <a:r>
              <a:rPr lang="en-US" dirty="0"/>
              <a:t>MAs in some states/some facilities are allowed to perform glucose testing</a:t>
            </a:r>
          </a:p>
          <a:p>
            <a:pPr marL="342900" indent="-342900">
              <a:buFont typeface="Arial" panose="020B0604020202020204" pitchFamily="34" charset="0"/>
              <a:buChar char="•"/>
            </a:pPr>
            <a:r>
              <a:rPr lang="en-US" dirty="0"/>
              <a:t>Table on textbook p. 165 (or handout) details specific drugs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089582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28B9A21-B6A2-DE47-B8C1-24A2BE05EB59}"/>
              </a:ext>
            </a:extLst>
          </p:cNvPr>
          <p:cNvSpPr>
            <a:spLocks noGrp="1"/>
          </p:cNvSpPr>
          <p:nvPr>
            <p:ph type="title"/>
          </p:nvPr>
        </p:nvSpPr>
        <p:spPr/>
        <p:txBody>
          <a:bodyPr/>
          <a:lstStyle/>
          <a:p>
            <a:r>
              <a:rPr lang="en-US" dirty="0"/>
              <a:t>LO2, content 2</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diabetes</a:t>
            </a:r>
            <a:endParaRPr lang="en-US" dirty="0"/>
          </a:p>
          <a:p>
            <a:endParaRPr lang="en-US" dirty="0"/>
          </a:p>
          <a:p>
            <a:r>
              <a:rPr lang="en-US" dirty="0"/>
              <a:t>Understand the following about treatment for type 2 diabetes:</a:t>
            </a:r>
          </a:p>
          <a:p>
            <a:pPr marL="342900" indent="-342900">
              <a:buFont typeface="Arial" panose="020B0604020202020204" pitchFamily="34" charset="0"/>
              <a:buChar char="•"/>
            </a:pPr>
            <a:r>
              <a:rPr lang="en-US" dirty="0"/>
              <a:t>May be controlled/managed with diet</a:t>
            </a:r>
          </a:p>
          <a:p>
            <a:pPr marL="342900" indent="-342900">
              <a:buFont typeface="Arial" panose="020B0604020202020204" pitchFamily="34" charset="0"/>
              <a:buChar char="•"/>
            </a:pPr>
            <a:r>
              <a:rPr lang="en-US" dirty="0"/>
              <a:t>Antidiabetic drugs work in these ways:</a:t>
            </a:r>
          </a:p>
          <a:p>
            <a:pPr marL="800100" lvl="1" indent="-342900">
              <a:buFont typeface="Arial" panose="020B0604020202020204" pitchFamily="34" charset="0"/>
              <a:buChar char="•"/>
            </a:pPr>
            <a:r>
              <a:rPr lang="en-US" dirty="0"/>
              <a:t>By decreasing glucose production and/or absorption</a:t>
            </a:r>
          </a:p>
          <a:p>
            <a:pPr marL="800100" lvl="1" indent="-342900">
              <a:buFont typeface="Arial" panose="020B0604020202020204" pitchFamily="34" charset="0"/>
              <a:buChar char="•"/>
            </a:pPr>
            <a:r>
              <a:rPr lang="en-US" dirty="0"/>
              <a:t>By increasing the release of insulin</a:t>
            </a:r>
          </a:p>
          <a:p>
            <a:pPr marL="800100" lvl="1" indent="-342900">
              <a:buFont typeface="Arial" panose="020B0604020202020204" pitchFamily="34" charset="0"/>
              <a:buChar char="•"/>
            </a:pPr>
            <a:r>
              <a:rPr lang="en-US" dirty="0"/>
              <a:t>By increasing the body’s sensitivity to insulin</a:t>
            </a:r>
          </a:p>
          <a:p>
            <a:pPr marL="800100" lvl="1" indent="-342900">
              <a:buFont typeface="Arial" panose="020B0604020202020204" pitchFamily="34" charset="0"/>
              <a:buChar char="•"/>
            </a:pPr>
            <a:r>
              <a:rPr lang="en-US" dirty="0"/>
              <a:t>By a combination of these actions</a:t>
            </a:r>
          </a:p>
          <a:p>
            <a:pPr marL="342900" indent="-342900">
              <a:buFont typeface="Arial" panose="020B0604020202020204" pitchFamily="34" charset="0"/>
              <a:buChar char="•"/>
            </a:pPr>
            <a:r>
              <a:rPr lang="en-US" dirty="0"/>
              <a:t>Some antidiabetic drugs have serious side effects/boxed warnings (see table)</a:t>
            </a:r>
          </a:p>
          <a:p>
            <a:pPr marL="342900" indent="-342900">
              <a:buFont typeface="Arial" panose="020B0604020202020204" pitchFamily="34" charset="0"/>
              <a:buChar char="•"/>
            </a:pPr>
            <a:r>
              <a:rPr lang="en-US" dirty="0"/>
              <a:t>Blood glucose and HbA1c (measurement of average glucose levels over a 2–3 month period) are monitored regularly</a:t>
            </a:r>
          </a:p>
          <a:p>
            <a:pPr marL="342900" indent="-342900">
              <a:buFont typeface="Arial" panose="020B0604020202020204" pitchFamily="34" charset="0"/>
              <a:buChar char="•"/>
            </a:pPr>
            <a:r>
              <a:rPr lang="en-US" dirty="0"/>
              <a:t>Insulin may be needed if diet and antidiabetic drugs do not control blood glucose</a:t>
            </a:r>
          </a:p>
          <a:p>
            <a:pPr marL="342900" indent="-342900">
              <a:buFont typeface="Arial" panose="020B0604020202020204" pitchFamily="34" charset="0"/>
              <a:buChar char="•"/>
            </a:pPr>
            <a:r>
              <a:rPr lang="en-US" dirty="0"/>
              <a:t>Table on textbook pp. 165–166 (or handout) details specific drugs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067304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28B9A21-B6A2-DE47-B8C1-24A2BE05EB59}"/>
              </a:ext>
            </a:extLst>
          </p:cNvPr>
          <p:cNvSpPr>
            <a:spLocks noGrp="1"/>
          </p:cNvSpPr>
          <p:nvPr>
            <p:ph type="title"/>
          </p:nvPr>
        </p:nvSpPr>
        <p:spPr/>
        <p:txBody>
          <a:bodyPr/>
          <a:lstStyle/>
          <a:p>
            <a:r>
              <a:rPr lang="en-US" dirty="0"/>
              <a:t>LO2, content 3</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diabetes</a:t>
            </a:r>
            <a:endParaRPr lang="en-US" dirty="0"/>
          </a:p>
          <a:p>
            <a:endParaRPr lang="en-US" dirty="0"/>
          </a:p>
          <a:p>
            <a:r>
              <a:rPr lang="en-US" dirty="0"/>
              <a:t>Care guidelines for diabetes include the following:</a:t>
            </a:r>
          </a:p>
          <a:p>
            <a:pPr marL="342900" indent="-342900">
              <a:buFont typeface="Arial" panose="020B0604020202020204" pitchFamily="34" charset="0"/>
              <a:buChar char="•"/>
            </a:pPr>
            <a:r>
              <a:rPr lang="en-US" dirty="0"/>
              <a:t>Perform blood tests as directed/allowed</a:t>
            </a:r>
          </a:p>
          <a:p>
            <a:pPr marL="342900" indent="-342900">
              <a:buFont typeface="Arial" panose="020B0604020202020204" pitchFamily="34" charset="0"/>
              <a:buChar char="•"/>
            </a:pPr>
            <a:r>
              <a:rPr lang="en-US" dirty="0"/>
              <a:t>Administer all medications exactly as ordered. Do not provide food/beverages other than water unless indicated in the MAR</a:t>
            </a:r>
          </a:p>
          <a:p>
            <a:pPr marL="342900" indent="-342900">
              <a:buFont typeface="Arial" panose="020B0604020202020204" pitchFamily="34" charset="0"/>
              <a:buChar char="•"/>
            </a:pPr>
            <a:r>
              <a:rPr lang="en-US" dirty="0"/>
              <a:t>Be familiar with the side effects of any oral antidiabetic medications you administer. Report immediately if residents show signs of serious adverse effects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186952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28B9A21-B6A2-DE47-B8C1-24A2BE05EB59}"/>
              </a:ext>
            </a:extLst>
          </p:cNvPr>
          <p:cNvSpPr>
            <a:spLocks noGrp="1"/>
          </p:cNvSpPr>
          <p:nvPr>
            <p:ph type="title"/>
          </p:nvPr>
        </p:nvSpPr>
        <p:spPr/>
        <p:txBody>
          <a:bodyPr/>
          <a:lstStyle/>
          <a:p>
            <a:r>
              <a:rPr lang="en-US" dirty="0"/>
              <a:t>LO2, content 4</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diabetes</a:t>
            </a:r>
            <a:endParaRPr lang="en-US" dirty="0"/>
          </a:p>
          <a:p>
            <a:endParaRPr lang="en-US" dirty="0"/>
          </a:p>
          <a:p>
            <a:r>
              <a:rPr lang="en-US" dirty="0"/>
              <a:t>Care guidelines for diabetes (cont’d):</a:t>
            </a:r>
          </a:p>
          <a:p>
            <a:pPr marL="342900" indent="-342900">
              <a:buFont typeface="Arial" panose="020B0604020202020204" pitchFamily="34" charset="0"/>
              <a:buChar char="•"/>
            </a:pPr>
            <a:r>
              <a:rPr lang="en-US" dirty="0"/>
              <a:t>Insulin reaction (hypoglycemia) is a complication of diabetes that can be life-threatening. A resident experiencing insulin reaction needs to receive glucose quickly (glucose tablets/gel, juice, milk, honey, or some form of sugar. Signs/symptoms to report immediately include</a:t>
            </a:r>
          </a:p>
          <a:p>
            <a:pPr marL="800100" lvl="1" indent="-342900">
              <a:buFont typeface="Arial" panose="020B0604020202020204" pitchFamily="34" charset="0"/>
              <a:buChar char="•"/>
            </a:pPr>
            <a:r>
              <a:rPr lang="en-US" dirty="0"/>
              <a:t>Feeling weak or different</a:t>
            </a:r>
          </a:p>
          <a:p>
            <a:pPr marL="800100" lvl="1" indent="-342900">
              <a:buFont typeface="Arial" panose="020B0604020202020204" pitchFamily="34" charset="0"/>
              <a:buChar char="•"/>
            </a:pPr>
            <a:r>
              <a:rPr lang="en-US" dirty="0"/>
              <a:t>Nervousness</a:t>
            </a:r>
          </a:p>
          <a:p>
            <a:pPr marL="800100" lvl="1" indent="-342900">
              <a:buFont typeface="Arial" panose="020B0604020202020204" pitchFamily="34" charset="0"/>
              <a:buChar char="•"/>
            </a:pPr>
            <a:r>
              <a:rPr lang="en-US" dirty="0"/>
              <a:t>Shaking</a:t>
            </a:r>
          </a:p>
          <a:p>
            <a:pPr marL="800100" lvl="1" indent="-342900">
              <a:buFont typeface="Arial" panose="020B0604020202020204" pitchFamily="34" charset="0"/>
              <a:buChar char="•"/>
            </a:pPr>
            <a:r>
              <a:rPr lang="en-US" dirty="0"/>
              <a:t>Dizziness</a:t>
            </a:r>
          </a:p>
          <a:p>
            <a:pPr marL="800100" lvl="1" indent="-342900">
              <a:buFont typeface="Arial" panose="020B0604020202020204" pitchFamily="34" charset="0"/>
              <a:buChar char="•"/>
            </a:pPr>
            <a:r>
              <a:rPr lang="en-US" dirty="0"/>
              <a:t>Perspiration</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071508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28B9A21-B6A2-DE47-B8C1-24A2BE05EB59}"/>
              </a:ext>
            </a:extLst>
          </p:cNvPr>
          <p:cNvSpPr>
            <a:spLocks noGrp="1"/>
          </p:cNvSpPr>
          <p:nvPr>
            <p:ph type="title"/>
          </p:nvPr>
        </p:nvSpPr>
        <p:spPr/>
        <p:txBody>
          <a:bodyPr/>
          <a:lstStyle/>
          <a:p>
            <a:r>
              <a:rPr lang="en-US" dirty="0"/>
              <a:t>LO2, content 5</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diabetes</a:t>
            </a:r>
            <a:endParaRPr lang="en-US" dirty="0"/>
          </a:p>
          <a:p>
            <a:endParaRPr lang="en-US" dirty="0"/>
          </a:p>
          <a:p>
            <a:r>
              <a:rPr lang="en-US" dirty="0"/>
              <a:t>Care guidelines for diabetes (cont’d):</a:t>
            </a:r>
          </a:p>
          <a:p>
            <a:pPr marL="342900" indent="-342900">
              <a:buFont typeface="Arial" panose="020B0604020202020204" pitchFamily="34" charset="0"/>
              <a:buChar char="•"/>
            </a:pPr>
            <a:r>
              <a:rPr lang="en-US" dirty="0"/>
              <a:t>Diabetic ketoacidosis (DKA) is a dangerous complication caused by too little insulin in the body. Signs and symptoms to report immediately include</a:t>
            </a:r>
          </a:p>
          <a:p>
            <a:pPr marL="800100" lvl="1" indent="-342900">
              <a:buFont typeface="Arial" panose="020B0604020202020204" pitchFamily="34" charset="0"/>
              <a:buChar char="•"/>
            </a:pPr>
            <a:r>
              <a:rPr lang="en-US" dirty="0"/>
              <a:t>Increased hunger, thirst, or urination</a:t>
            </a:r>
          </a:p>
          <a:p>
            <a:pPr marL="800100" lvl="1" indent="-342900">
              <a:buFont typeface="Arial" panose="020B0604020202020204" pitchFamily="34" charset="0"/>
              <a:buChar char="•"/>
            </a:pPr>
            <a:r>
              <a:rPr lang="en-US" dirty="0"/>
              <a:t>Abdominal pain</a:t>
            </a:r>
          </a:p>
          <a:p>
            <a:pPr marL="800100" lvl="1" indent="-342900">
              <a:buFont typeface="Arial" panose="020B0604020202020204" pitchFamily="34" charset="0"/>
              <a:buChar char="•"/>
            </a:pPr>
            <a:r>
              <a:rPr lang="en-US" dirty="0"/>
              <a:t>Deep or labored breathing</a:t>
            </a:r>
          </a:p>
          <a:p>
            <a:pPr marL="800100" lvl="1" indent="-342900">
              <a:buFont typeface="Arial" panose="020B0604020202020204" pitchFamily="34" charset="0"/>
              <a:buChar char="•"/>
            </a:pPr>
            <a:r>
              <a:rPr lang="en-US" dirty="0"/>
              <a:t>Breath that smells sweet or fruity</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926861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280EB79-76AF-6548-B9FA-983CF63B7662}"/>
              </a:ext>
            </a:extLst>
          </p:cNvPr>
          <p:cNvSpPr>
            <a:spLocks noGrp="1"/>
          </p:cNvSpPr>
          <p:nvPr>
            <p:ph type="title"/>
          </p:nvPr>
        </p:nvSpPr>
        <p:spPr/>
        <p:txBody>
          <a:bodyPr/>
          <a:lstStyle/>
          <a:p>
            <a:r>
              <a:rPr lang="en-US" dirty="0"/>
              <a:t>LO3, key terms</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thyroid disorders</a:t>
            </a:r>
            <a:endParaRPr lang="en-US" dirty="0"/>
          </a:p>
          <a:p>
            <a:endParaRPr lang="en-US" dirty="0"/>
          </a:p>
          <a:p>
            <a:r>
              <a:rPr lang="en-US" dirty="0"/>
              <a:t>Define the following terms:</a:t>
            </a:r>
          </a:p>
          <a:p>
            <a:endParaRPr lang="en-US" dirty="0"/>
          </a:p>
          <a:p>
            <a:r>
              <a:rPr lang="en-US" b="1" dirty="0"/>
              <a:t>hyperthyroidism</a:t>
            </a:r>
          </a:p>
          <a:p>
            <a:pPr lvl="1"/>
            <a:r>
              <a:rPr lang="en-US" dirty="0"/>
              <a:t>a condition in which the thy­roid produces too much thyroid hormone, caus­ing body processes to speed up, resulting in rapid heartbeat, sweating, weight loss, and nervousness.</a:t>
            </a:r>
          </a:p>
          <a:p>
            <a:r>
              <a:rPr lang="en-US" b="1" dirty="0"/>
              <a:t>hypothyroidism</a:t>
            </a:r>
          </a:p>
          <a:p>
            <a:pPr lvl="1"/>
            <a:r>
              <a:rPr lang="en-US" dirty="0"/>
              <a:t>a condition in which the body lacks thyroid hormone, causing the body pro­cesses to slow down and resulting in fatigue, weight gain, constipation, and intolerance to cold.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997674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280EB79-76AF-6548-B9FA-983CF63B7662}"/>
              </a:ext>
            </a:extLst>
          </p:cNvPr>
          <p:cNvSpPr>
            <a:spLocks noGrp="1"/>
          </p:cNvSpPr>
          <p:nvPr>
            <p:ph type="title"/>
          </p:nvPr>
        </p:nvSpPr>
        <p:spPr/>
        <p:txBody>
          <a:bodyPr/>
          <a:lstStyle/>
          <a:p>
            <a:r>
              <a:rPr lang="en-US" dirty="0"/>
              <a:t>LO3, content 1</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thyroid disorders</a:t>
            </a:r>
            <a:endParaRPr lang="en-US" dirty="0"/>
          </a:p>
          <a:p>
            <a:endParaRPr lang="en-US" dirty="0"/>
          </a:p>
          <a:p>
            <a:r>
              <a:rPr lang="en-US" dirty="0"/>
              <a:t>Treatment for hyperthyroidism includes the following:</a:t>
            </a:r>
          </a:p>
          <a:p>
            <a:pPr marL="342900" indent="-342900">
              <a:buFont typeface="Arial" panose="020B0604020202020204" pitchFamily="34" charset="0"/>
              <a:buChar char="•"/>
            </a:pPr>
            <a:r>
              <a:rPr lang="en-US" dirty="0"/>
              <a:t>Radioactive iodine (not administered by MAs)</a:t>
            </a:r>
          </a:p>
          <a:p>
            <a:pPr marL="342900" indent="-342900">
              <a:buFont typeface="Arial" panose="020B0604020202020204" pitchFamily="34" charset="0"/>
              <a:buChar char="•"/>
            </a:pPr>
            <a:r>
              <a:rPr lang="en-US" dirty="0"/>
              <a:t>Surgery to remove part of the thyroid gland</a:t>
            </a:r>
          </a:p>
          <a:p>
            <a:pPr marL="342900" indent="-342900">
              <a:buFont typeface="Arial" panose="020B0604020202020204" pitchFamily="34" charset="0"/>
              <a:buChar char="•"/>
            </a:pPr>
            <a:r>
              <a:rPr lang="en-US" dirty="0"/>
              <a:t>Oral medications to slow the release of thyroid hormone</a:t>
            </a:r>
          </a:p>
          <a:p>
            <a:pPr marL="800100" lvl="1" indent="-342900">
              <a:buFont typeface="Arial" panose="020B0604020202020204" pitchFamily="34" charset="0"/>
              <a:buChar char="•"/>
            </a:pPr>
            <a:r>
              <a:rPr lang="en-US" dirty="0"/>
              <a:t>Can cause liver damage; regular blood tests required</a:t>
            </a:r>
          </a:p>
          <a:p>
            <a:pPr marL="342900" indent="-342900">
              <a:buFont typeface="Arial" panose="020B0604020202020204" pitchFamily="34" charset="0"/>
              <a:buChar char="•"/>
            </a:pPr>
            <a:r>
              <a:rPr lang="en-US" dirty="0"/>
              <a:t>Table on textbook p. 165 (or handout) details specific drugs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070191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280EB79-76AF-6548-B9FA-983CF63B7662}"/>
              </a:ext>
            </a:extLst>
          </p:cNvPr>
          <p:cNvSpPr>
            <a:spLocks noGrp="1"/>
          </p:cNvSpPr>
          <p:nvPr>
            <p:ph type="title"/>
          </p:nvPr>
        </p:nvSpPr>
        <p:spPr/>
        <p:txBody>
          <a:bodyPr/>
          <a:lstStyle/>
          <a:p>
            <a:r>
              <a:rPr lang="en-US" dirty="0"/>
              <a:t>LO3, content 2</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thyroid disorders</a:t>
            </a:r>
            <a:endParaRPr lang="en-US" dirty="0"/>
          </a:p>
          <a:p>
            <a:endParaRPr lang="en-US" dirty="0"/>
          </a:p>
          <a:p>
            <a:r>
              <a:rPr lang="en-US" dirty="0"/>
              <a:t>Treatment for hypothyroidism includes the following:</a:t>
            </a:r>
          </a:p>
          <a:p>
            <a:pPr marL="342900" indent="-342900">
              <a:buFont typeface="Arial" panose="020B0604020202020204" pitchFamily="34" charset="0"/>
              <a:buChar char="•"/>
            </a:pPr>
            <a:r>
              <a:rPr lang="en-US" dirty="0"/>
              <a:t>Thyroid replacement therapy</a:t>
            </a:r>
          </a:p>
          <a:p>
            <a:pPr marL="342900" indent="-342900">
              <a:buFont typeface="Arial" panose="020B0604020202020204" pitchFamily="34" charset="0"/>
              <a:buChar char="•"/>
            </a:pPr>
            <a:r>
              <a:rPr lang="en-US" dirty="0"/>
              <a:t>Levels must be monitored regularly to ensure the proper dose</a:t>
            </a:r>
          </a:p>
          <a:p>
            <a:pPr marL="342900" indent="-342900">
              <a:buFont typeface="Arial" panose="020B0604020202020204" pitchFamily="34" charset="0"/>
              <a:buChar char="•"/>
            </a:pPr>
            <a:r>
              <a:rPr lang="en-US" dirty="0"/>
              <a:t>If dose it too high, can cause increased heart rate, palpitations, sweating, weight loss, irritability</a:t>
            </a:r>
          </a:p>
          <a:p>
            <a:pPr marL="342900" indent="-342900">
              <a:buFont typeface="Arial" panose="020B0604020202020204" pitchFamily="34" charset="0"/>
              <a:buChar char="•"/>
            </a:pPr>
            <a:r>
              <a:rPr lang="en-US" dirty="0"/>
              <a:t>Table on textbook p. 165 (or handout) details specific drugs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195547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D265607-14A8-43AB-97AE-7E711E727AF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280EB79-76AF-6548-B9FA-983CF63B7662}"/>
              </a:ext>
            </a:extLst>
          </p:cNvPr>
          <p:cNvSpPr>
            <a:spLocks noGrp="1"/>
          </p:cNvSpPr>
          <p:nvPr>
            <p:ph type="title"/>
          </p:nvPr>
        </p:nvSpPr>
        <p:spPr/>
        <p:txBody>
          <a:bodyPr/>
          <a:lstStyle/>
          <a:p>
            <a:r>
              <a:rPr lang="en-US" dirty="0"/>
              <a:t>LO3, content 3</a:t>
            </a:r>
          </a:p>
        </p:txBody>
      </p:sp>
      <p:sp>
        <p:nvSpPr>
          <p:cNvPr id="2" name="Content Placeholder 1">
            <a:extLst>
              <a:ext uri="{FF2B5EF4-FFF2-40B4-BE49-F238E27FC236}">
                <a16:creationId xmlns:a16="http://schemas.microsoft.com/office/drawing/2014/main" id="{E9E06E36-1A1B-47F2-8088-1727E0309B7F}"/>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thyroid disorders</a:t>
            </a:r>
            <a:endParaRPr lang="en-US" dirty="0"/>
          </a:p>
          <a:p>
            <a:endParaRPr lang="en-US" dirty="0"/>
          </a:p>
          <a:p>
            <a:r>
              <a:rPr lang="en-US" dirty="0"/>
              <a:t>Remember these care guidelines for thyroid disorders:</a:t>
            </a:r>
          </a:p>
          <a:p>
            <a:pPr marL="342900" indent="-342900">
              <a:buFont typeface="Arial" panose="020B0604020202020204" pitchFamily="34" charset="0"/>
              <a:buChar char="•"/>
            </a:pPr>
            <a:r>
              <a:rPr lang="en-US" dirty="0"/>
              <a:t>Always administer thyroid medications at the time ordered. Thyroid hormone replacement medications are not absorbed well unless the stomach is empty. Administer 60 minutes before breakfast or at bedtime, at least 3 hours after the last meal</a:t>
            </a:r>
          </a:p>
          <a:p>
            <a:pPr marL="342900" indent="-342900">
              <a:buFont typeface="Arial" panose="020B0604020202020204" pitchFamily="34" charset="0"/>
              <a:buChar char="•"/>
            </a:pPr>
            <a:r>
              <a:rPr lang="en-US" dirty="0"/>
              <a:t>Carefully check dosage listed on the MAR. Dosage may be adjusted based on blood test results</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315618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3091811"/>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329</TotalTime>
  <Words>959</Words>
  <Application>Microsoft Macintosh PowerPoint</Application>
  <PresentationFormat>Widescreen</PresentationFormat>
  <Paragraphs>210</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Scala Sans</vt:lpstr>
      <vt:lpstr>1_Office Theme</vt:lpstr>
      <vt:lpstr>PowerPoint Presentation</vt:lpstr>
      <vt:lpstr>LO1, key terms</vt:lpstr>
      <vt:lpstr>LO1, content 1</vt:lpstr>
      <vt:lpstr>LO1, content 2</vt:lpstr>
      <vt:lpstr>LO1, content 3</vt:lpstr>
      <vt:lpstr>LO2, key term</vt:lpstr>
      <vt:lpstr>LO2, content 1</vt:lpstr>
      <vt:lpstr>LO2, content 2</vt:lpstr>
      <vt:lpstr>LO2, content 3</vt:lpstr>
      <vt:lpstr>LO2, content 4</vt:lpstr>
      <vt:lpstr>LO2, content 5</vt:lpstr>
      <vt:lpstr>LO3, key terms</vt:lpstr>
      <vt:lpstr>LO3, content 1</vt:lpstr>
      <vt:lpstr>LO3, content 2</vt:lpstr>
      <vt:lpstr>LO3, content 3</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71</cp:revision>
  <dcterms:created xsi:type="dcterms:W3CDTF">2020-03-18T21:24:31Z</dcterms:created>
  <dcterms:modified xsi:type="dcterms:W3CDTF">2021-05-20T14:02:43Z</dcterms:modified>
</cp:coreProperties>
</file>