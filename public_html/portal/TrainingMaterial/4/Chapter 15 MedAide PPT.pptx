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4" r:id="rId2"/>
    <p:sldId id="368" r:id="rId3"/>
    <p:sldId id="363" r:id="rId4"/>
    <p:sldId id="378" r:id="rId5"/>
    <p:sldId id="305" r:id="rId6"/>
    <p:sldId id="369" r:id="rId7"/>
    <p:sldId id="379" r:id="rId8"/>
    <p:sldId id="380" r:id="rId9"/>
    <p:sldId id="310" r:id="rId10"/>
    <p:sldId id="373" r:id="rId11"/>
    <p:sldId id="381" r:id="rId12"/>
    <p:sldId id="374" r:id="rId13"/>
    <p:sldId id="375" r:id="rId14"/>
    <p:sldId id="382" r:id="rId15"/>
    <p:sldId id="383" r:id="rId16"/>
    <p:sldId id="376" r:id="rId17"/>
    <p:sldId id="377" r:id="rId18"/>
    <p:sldId id="384" r:id="rId19"/>
    <p:sldId id="385" r:id="rId20"/>
    <p:sldId id="25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44" autoAdjust="0"/>
    <p:restoredTop sz="94660"/>
  </p:normalViewPr>
  <p:slideViewPr>
    <p:cSldViewPr snapToGrid="0">
      <p:cViewPr varScale="1">
        <p:scale>
          <a:sx n="109" d="100"/>
          <a:sy n="109" d="100"/>
        </p:scale>
        <p:origin x="320" y="184"/>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3"/>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75C2F09-6D1A-4A21-97DF-F888DD13FD39}"/>
              </a:ext>
            </a:extLst>
          </p:cNvPr>
          <p:cNvSpPr txBox="1"/>
          <p:nvPr userDrawn="1"/>
        </p:nvSpPr>
        <p:spPr>
          <a:xfrm>
            <a:off x="1142997" y="539293"/>
            <a:ext cx="1816272" cy="1862048"/>
          </a:xfrm>
          <a:prstGeom prst="rect">
            <a:avLst/>
          </a:prstGeom>
          <a:solidFill>
            <a:schemeClr val="accent3"/>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0" b="0"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15</a:t>
            </a:r>
          </a:p>
        </p:txBody>
      </p:sp>
      <p:sp>
        <p:nvSpPr>
          <p:cNvPr id="8" name="TextBox 7">
            <a:extLst>
              <a:ext uri="{FF2B5EF4-FFF2-40B4-BE49-F238E27FC236}">
                <a16:creationId xmlns:a16="http://schemas.microsoft.com/office/drawing/2014/main" id="{F1FEBFBB-1425-4277-8500-4300AD017EDA}"/>
              </a:ext>
            </a:extLst>
          </p:cNvPr>
          <p:cNvSpPr txBox="1"/>
          <p:nvPr userDrawn="1"/>
        </p:nvSpPr>
        <p:spPr>
          <a:xfrm>
            <a:off x="1150229" y="2062986"/>
            <a:ext cx="8717075"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The Urinary System and Common Medications</a:t>
            </a:r>
          </a:p>
        </p:txBody>
      </p:sp>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1325043" y="4825851"/>
            <a:ext cx="1236907" cy="1282700"/>
          </a:xfrm>
          <a:prstGeom prst="rect">
            <a:avLst/>
          </a:prstGeom>
        </p:spPr>
      </p:pic>
    </p:spTree>
    <p:extLst>
      <p:ext uri="{BB962C8B-B14F-4D97-AF65-F5344CB8AC3E}">
        <p14:creationId xmlns:p14="http://schemas.microsoft.com/office/powerpoint/2010/main" val="2052242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DE03F057-80E6-4933-B039-F692BF84B8A2}"/>
              </a:ext>
            </a:extLst>
          </p:cNvPr>
          <p:cNvSpPr>
            <a:spLocks noGrp="1"/>
          </p:cNvSpPr>
          <p:nvPr>
            <p:ph type="sldNum" sz="quarter" idx="12"/>
          </p:nvPr>
        </p:nvSpPr>
        <p:spPr>
          <a:xfrm>
            <a:off x="9518452" y="6279454"/>
            <a:ext cx="1297633" cy="365125"/>
          </a:xfrm>
        </p:spPr>
        <p:txBody>
          <a:bodyPr/>
          <a:lstStyle>
            <a:lvl1pPr>
              <a:defRPr>
                <a:solidFill>
                  <a:schemeClr val="accent3"/>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2" name="Title 1">
            <a:extLst>
              <a:ext uri="{FF2B5EF4-FFF2-40B4-BE49-F238E27FC236}">
                <a16:creationId xmlns:a16="http://schemas.microsoft.com/office/drawing/2014/main" id="{1AA32233-ABF9-9145-BA39-7E9D54931D1D}"/>
              </a:ext>
            </a:extLst>
          </p:cNvPr>
          <p:cNvSpPr>
            <a:spLocks noGrp="1"/>
          </p:cNvSpPr>
          <p:nvPr>
            <p:ph type="title"/>
          </p:nvPr>
        </p:nvSpPr>
        <p:spPr>
          <a:xfrm>
            <a:off x="0" y="-881782"/>
            <a:ext cx="6906491" cy="701673"/>
          </a:xfrm>
        </p:spPr>
        <p:txBody>
          <a:bodyPr/>
          <a:lstStyle>
            <a:lvl1pPr>
              <a:defRPr b="0"/>
            </a:lvl1pPr>
          </a:lstStyle>
          <a:p>
            <a:r>
              <a:rPr lang="en-US" dirty="0"/>
              <a:t>Click to edit Master title style</a:t>
            </a:r>
          </a:p>
        </p:txBody>
      </p:sp>
      <p:sp>
        <p:nvSpPr>
          <p:cNvPr id="3" name="Content Placeholder 2"/>
          <p:cNvSpPr>
            <a:spLocks noGrp="1"/>
          </p:cNvSpPr>
          <p:nvPr>
            <p:ph idx="1"/>
          </p:nvPr>
        </p:nvSpPr>
        <p:spPr>
          <a:xfrm>
            <a:off x="635393" y="780226"/>
            <a:ext cx="10234377" cy="5396738"/>
          </a:xfrm>
        </p:spPr>
        <p:txBody>
          <a:bodyPr>
            <a:normAutofit/>
          </a:bodyPr>
          <a:lstStyle>
            <a:lvl1pPr marL="0" indent="0">
              <a:spcBef>
                <a:spcPts val="0"/>
              </a:spcBef>
              <a:spcAft>
                <a:spcPts val="600"/>
              </a:spcAft>
              <a:buNone/>
              <a:defRPr sz="2000">
                <a:latin typeface="+mn-lt"/>
              </a:defRPr>
            </a:lvl1pPr>
            <a:lvl2pPr marL="457200" indent="0">
              <a:spcBef>
                <a:spcPts val="0"/>
              </a:spcBef>
              <a:spcAft>
                <a:spcPts val="600"/>
              </a:spcAft>
              <a:buNone/>
              <a:defRPr sz="2000">
                <a:latin typeface="+mn-lt"/>
              </a:defRPr>
            </a:lvl2pPr>
            <a:lvl3pPr marL="914400" indent="0">
              <a:spcBef>
                <a:spcPts val="0"/>
              </a:spcBef>
              <a:spcAft>
                <a:spcPts val="600"/>
              </a:spcAft>
              <a:buNone/>
              <a:defRPr sz="2000">
                <a:latin typeface="+mn-lt"/>
              </a:defRPr>
            </a:lvl3pPr>
            <a:lvl4pPr marL="1371600" indent="0">
              <a:spcBef>
                <a:spcPts val="0"/>
              </a:spcBef>
              <a:spcAft>
                <a:spcPts val="600"/>
              </a:spcAft>
              <a:buNone/>
              <a:defRPr sz="2000">
                <a:latin typeface="+mn-lt"/>
              </a:defRPr>
            </a:lvl4pPr>
            <a:lvl5pPr marL="1828800" indent="0">
              <a:spcBef>
                <a:spcPts val="0"/>
              </a:spcBef>
              <a:spcAft>
                <a:spcPts val="600"/>
              </a:spcAft>
              <a:buNone/>
              <a:defRPr sz="20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A4F5F491-9531-4861-B658-DB5FE7E2FEAE}"/>
              </a:ext>
            </a:extLst>
          </p:cNvPr>
          <p:cNvSpPr/>
          <p:nvPr userDrawn="1"/>
        </p:nvSpPr>
        <p:spPr>
          <a:xfrm>
            <a:off x="11328400" y="0"/>
            <a:ext cx="863600" cy="16065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cala Sans"/>
              <a:ea typeface="+mn-ea"/>
              <a:cs typeface="+mn-cs"/>
            </a:endParaRPr>
          </a:p>
        </p:txBody>
      </p:sp>
      <p:sp>
        <p:nvSpPr>
          <p:cNvPr id="7" name="TextBox 6">
            <a:extLst>
              <a:ext uri="{FF2B5EF4-FFF2-40B4-BE49-F238E27FC236}">
                <a16:creationId xmlns:a16="http://schemas.microsoft.com/office/drawing/2014/main" id="{2328F0E1-C264-477A-8C68-5954EE75A404}"/>
              </a:ext>
            </a:extLst>
          </p:cNvPr>
          <p:cNvSpPr txBox="1"/>
          <p:nvPr userDrawn="1"/>
        </p:nvSpPr>
        <p:spPr>
          <a:xfrm>
            <a:off x="11506200" y="1752600"/>
            <a:ext cx="369332" cy="3321050"/>
          </a:xfrm>
          <a:prstGeom prst="rect">
            <a:avLst/>
          </a:prstGeom>
          <a:noFill/>
        </p:spPr>
        <p:txBody>
          <a:bodyPr vert="vert270"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rPr>
              <a:t>The Urinary System and Common Medications</a:t>
            </a:r>
          </a:p>
        </p:txBody>
      </p:sp>
      <p:sp>
        <p:nvSpPr>
          <p:cNvPr id="9" name="TextBox 8">
            <a:extLst>
              <a:ext uri="{FF2B5EF4-FFF2-40B4-BE49-F238E27FC236}">
                <a16:creationId xmlns:a16="http://schemas.microsoft.com/office/drawing/2014/main" id="{31CA6800-7865-48FF-933D-2164FAE0ACC9}"/>
              </a:ext>
            </a:extLst>
          </p:cNvPr>
          <p:cNvSpPr txBox="1"/>
          <p:nvPr userDrawn="1"/>
        </p:nvSpPr>
        <p:spPr>
          <a:xfrm>
            <a:off x="11506197" y="101143"/>
            <a:ext cx="1816272"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Scala Sans"/>
                <a:ea typeface="+mn-ea"/>
                <a:cs typeface="+mn-cs"/>
              </a:rPr>
              <a:t>15</a:t>
            </a:r>
          </a:p>
        </p:txBody>
      </p:sp>
      <p:cxnSp>
        <p:nvCxnSpPr>
          <p:cNvPr id="13" name="Straight Connector 12">
            <a:extLst>
              <a:ext uri="{FF2B5EF4-FFF2-40B4-BE49-F238E27FC236}">
                <a16:creationId xmlns:a16="http://schemas.microsoft.com/office/drawing/2014/main" id="{685C658E-B179-4C5F-B3AF-13638309A3D4}"/>
              </a:ext>
            </a:extLst>
          </p:cNvPr>
          <p:cNvCxnSpPr>
            <a:cxnSpLocks/>
          </p:cNvCxnSpPr>
          <p:nvPr userDrawn="1"/>
        </p:nvCxnSpPr>
        <p:spPr>
          <a:xfrm flipH="1">
            <a:off x="745067" y="6629400"/>
            <a:ext cx="100076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Date Placeholder 16" hidden="1">
            <a:extLst>
              <a:ext uri="{FF2B5EF4-FFF2-40B4-BE49-F238E27FC236}">
                <a16:creationId xmlns:a16="http://schemas.microsoft.com/office/drawing/2014/main" id="{C71CCBE0-D1B9-42FA-8DAC-87EEE4FE9F42}"/>
              </a:ext>
            </a:extLst>
          </p:cNvPr>
          <p:cNvSpPr>
            <a:spLocks noGrp="1"/>
          </p:cNvSpPr>
          <p:nvPr>
            <p:ph type="dt" sz="half" idx="10"/>
          </p:nvPr>
        </p:nvSpPr>
        <p:spPr>
          <a:xfrm>
            <a:off x="838200" y="6279454"/>
            <a:ext cx="2743200" cy="365125"/>
          </a:xfrm>
        </p:spPr>
        <p:txBody>
          <a:bodyPr/>
          <a:lstStyle>
            <a:lvl1pPr>
              <a:defRPr>
                <a:solidFill>
                  <a:sysClr val="windowText" lastClr="000000"/>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C1E1F3-686D-4F52-826D-70A4F80E72A5}" type="datetime1">
              <a:rPr kumimoji="0" lang="en-US" sz="1200" b="0" i="0" u="none" strike="noStrike" kern="1200" cap="none" spc="0" normalizeH="0" baseline="0" noProof="0" smtClean="0">
                <a:ln>
                  <a:noFill/>
                </a:ln>
                <a:solidFill>
                  <a:sysClr val="windowText" lastClr="000000"/>
                </a:solidFill>
                <a:effectLst/>
                <a:uLnTx/>
                <a:uFillTx/>
                <a:latin typeface="Scala San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sp>
        <p:nvSpPr>
          <p:cNvPr id="18" name="Footer Placeholder 17" hidden="1">
            <a:extLst>
              <a:ext uri="{FF2B5EF4-FFF2-40B4-BE49-F238E27FC236}">
                <a16:creationId xmlns:a16="http://schemas.microsoft.com/office/drawing/2014/main" id="{33E0703D-A83A-40F4-A8D2-8D56B297D859}"/>
              </a:ext>
            </a:extLst>
          </p:cNvPr>
          <p:cNvSpPr>
            <a:spLocks noGrp="1"/>
          </p:cNvSpPr>
          <p:nvPr>
            <p:ph type="ftr" sz="quarter" idx="11"/>
          </p:nvPr>
        </p:nvSpPr>
        <p:spPr>
          <a:xfrm>
            <a:off x="4038599" y="6279454"/>
            <a:ext cx="4993783" cy="365125"/>
          </a:xfrm>
        </p:spPr>
        <p:txBody>
          <a:bodyPr/>
          <a:lstStyle>
            <a:lvl1pPr>
              <a:defRPr>
                <a:solidFill>
                  <a:sysClr val="windowText" lastClr="000000"/>
                </a:solidFill>
                <a:latin typeface="+mn-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pic>
        <p:nvPicPr>
          <p:cNvPr id="63" name="Graphic 62">
            <a:extLst>
              <a:ext uri="{FF2B5EF4-FFF2-40B4-BE49-F238E27FC236}">
                <a16:creationId xmlns:a16="http://schemas.microsoft.com/office/drawing/2014/main" id="{A0274B49-780C-479A-B0DB-0F3EABBF8D8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41641" y="5924550"/>
            <a:ext cx="719715" cy="744742"/>
          </a:xfrm>
          <a:prstGeom prst="rect">
            <a:avLst/>
          </a:prstGeom>
        </p:spPr>
      </p:pic>
    </p:spTree>
    <p:extLst>
      <p:ext uri="{BB962C8B-B14F-4D97-AF65-F5344CB8AC3E}">
        <p14:creationId xmlns:p14="http://schemas.microsoft.com/office/powerpoint/2010/main" val="3095883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4798611" y="2338649"/>
            <a:ext cx="2539591" cy="2633613"/>
          </a:xfrm>
          <a:prstGeom prst="rect">
            <a:avLst/>
          </a:prstGeom>
        </p:spPr>
      </p:pic>
    </p:spTree>
    <p:extLst>
      <p:ext uri="{BB962C8B-B14F-4D97-AF65-F5344CB8AC3E}">
        <p14:creationId xmlns:p14="http://schemas.microsoft.com/office/powerpoint/2010/main" val="41597009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b="0">
                <a:solidFill>
                  <a:schemeClr val="tx1"/>
                </a:solidFill>
                <a:latin typeface="Scala Sans" panose="02000503060000020003"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63182F9F-E9DB-44F9-8F4D-A11E49818C55}" type="datetime1">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b="0">
                <a:solidFill>
                  <a:schemeClr val="tx1"/>
                </a:solidFill>
                <a:latin typeface="Scala Sans" panose="02000503060000020003" pitchFamily="2"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b="0">
                <a:solidFill>
                  <a:schemeClr val="tx1"/>
                </a:solidFill>
                <a:latin typeface="Scala Sans" panose="02000503060000020003" pitchFamily="2" charset="0"/>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Tree>
    <p:extLst>
      <p:ext uri="{BB962C8B-B14F-4D97-AF65-F5344CB8AC3E}">
        <p14:creationId xmlns:p14="http://schemas.microsoft.com/office/powerpoint/2010/main" val="3386511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7858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6237F57-1459-D345-B5DD-14DC62103834}"/>
              </a:ext>
            </a:extLst>
          </p:cNvPr>
          <p:cNvSpPr>
            <a:spLocks noGrp="1"/>
          </p:cNvSpPr>
          <p:nvPr>
            <p:ph type="title"/>
          </p:nvPr>
        </p:nvSpPr>
        <p:spPr/>
        <p:txBody>
          <a:bodyPr/>
          <a:lstStyle/>
          <a:p>
            <a:r>
              <a:rPr lang="en-US" dirty="0"/>
              <a:t>Chapter 15, LO1, content 1 </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r>
              <a:rPr lang="en-US" dirty="0"/>
              <a:t>Key Material 15-1: The Urinary System (Male and Female)</a:t>
            </a:r>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pic>
        <p:nvPicPr>
          <p:cNvPr id="7" name="Picture 6" descr="Female and male human figures with parts of the urinary system labeled">
            <a:extLst>
              <a:ext uri="{FF2B5EF4-FFF2-40B4-BE49-F238E27FC236}">
                <a16:creationId xmlns:a16="http://schemas.microsoft.com/office/drawing/2014/main" id="{95CB160E-DC71-7544-965D-2D6846700A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170" y="1814830"/>
            <a:ext cx="10007600" cy="3822700"/>
          </a:xfrm>
          <a:prstGeom prst="rect">
            <a:avLst/>
          </a:prstGeom>
        </p:spPr>
      </p:pic>
    </p:spTree>
    <p:extLst>
      <p:ext uri="{BB962C8B-B14F-4D97-AF65-F5344CB8AC3E}">
        <p14:creationId xmlns:p14="http://schemas.microsoft.com/office/powerpoint/2010/main" val="981438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6237F57-1459-D345-B5DD-14DC62103834}"/>
              </a:ext>
            </a:extLst>
          </p:cNvPr>
          <p:cNvSpPr>
            <a:spLocks noGrp="1"/>
          </p:cNvSpPr>
          <p:nvPr>
            <p:ph type="title"/>
          </p:nvPr>
        </p:nvSpPr>
        <p:spPr/>
        <p:txBody>
          <a:bodyPr/>
          <a:lstStyle/>
          <a:p>
            <a:r>
              <a:rPr lang="en-US" dirty="0"/>
              <a:t>LO1, content 2</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structure and function of the urinary system</a:t>
            </a:r>
          </a:p>
          <a:p>
            <a:endParaRPr lang="en-US" dirty="0"/>
          </a:p>
          <a:p>
            <a:r>
              <a:rPr lang="en-US" dirty="0"/>
              <a:t>Remember these points about the urinary system:</a:t>
            </a:r>
          </a:p>
          <a:p>
            <a:pPr marL="342900" indent="-342900">
              <a:buFont typeface="Arial" panose="020B0604020202020204" pitchFamily="34" charset="0"/>
              <a:buChar char="•"/>
            </a:pPr>
            <a:r>
              <a:rPr lang="en-US" dirty="0"/>
              <a:t>Composed of two kidneys, two ureters, one urinary bladder, and a single urethra</a:t>
            </a:r>
          </a:p>
          <a:p>
            <a:pPr marL="342900" indent="-342900">
              <a:buFont typeface="Arial" panose="020B0604020202020204" pitchFamily="34" charset="0"/>
              <a:buChar char="•"/>
            </a:pPr>
            <a:r>
              <a:rPr lang="en-US" dirty="0"/>
              <a:t>Has two important functions: eliminates waste products created by the cells and maintains the water balance in the body</a:t>
            </a:r>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1076625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6237F57-1459-D345-B5DD-14DC62103834}"/>
              </a:ext>
            </a:extLst>
          </p:cNvPr>
          <p:cNvSpPr>
            <a:spLocks noGrp="1"/>
          </p:cNvSpPr>
          <p:nvPr>
            <p:ph type="title"/>
          </p:nvPr>
        </p:nvSpPr>
        <p:spPr/>
        <p:txBody>
          <a:bodyPr/>
          <a:lstStyle/>
          <a:p>
            <a:r>
              <a:rPr lang="en-US" dirty="0"/>
              <a:t>LO1, content 3</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structure and function of the urinary system</a:t>
            </a:r>
          </a:p>
          <a:p>
            <a:endParaRPr lang="en-US" dirty="0"/>
          </a:p>
          <a:p>
            <a:r>
              <a:rPr lang="en-US" dirty="0"/>
              <a:t>Normal changes of aging include the following:</a:t>
            </a:r>
          </a:p>
          <a:p>
            <a:pPr marL="342900" indent="-342900">
              <a:buFont typeface="Arial" panose="020B0604020202020204" pitchFamily="34" charset="0"/>
              <a:buChar char="•"/>
            </a:pPr>
            <a:r>
              <a:rPr lang="en-US" dirty="0"/>
              <a:t>Decreased ability of kidneys to filter blood</a:t>
            </a:r>
          </a:p>
          <a:p>
            <a:pPr marL="342900" indent="-342900">
              <a:buFont typeface="Arial" panose="020B0604020202020204" pitchFamily="34" charset="0"/>
              <a:buChar char="•"/>
            </a:pPr>
            <a:r>
              <a:rPr lang="en-US" dirty="0"/>
              <a:t>Weakened bladder muscle tone</a:t>
            </a:r>
          </a:p>
          <a:p>
            <a:pPr marL="342900" indent="-342900">
              <a:buFont typeface="Arial" panose="020B0604020202020204" pitchFamily="34" charset="0"/>
              <a:buChar char="•"/>
            </a:pPr>
            <a:r>
              <a:rPr lang="en-US" dirty="0"/>
              <a:t>Bladder holds less urine, causing more frequent urination</a:t>
            </a:r>
          </a:p>
          <a:p>
            <a:pPr marL="342900" indent="-342900">
              <a:buFont typeface="Arial" panose="020B0604020202020204" pitchFamily="34" charset="0"/>
              <a:buChar char="•"/>
            </a:pPr>
            <a:r>
              <a:rPr lang="en-US" dirty="0"/>
              <a:t>The bladder may not empty completely, causing a greater risk of infection</a:t>
            </a:r>
          </a:p>
          <a:p>
            <a:endParaRPr lang="en-US" dirty="0"/>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3790517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9BCD039F-E986-D040-8B78-B14665E18FBE}"/>
              </a:ext>
            </a:extLst>
          </p:cNvPr>
          <p:cNvSpPr>
            <a:spLocks noGrp="1"/>
          </p:cNvSpPr>
          <p:nvPr>
            <p:ph type="title"/>
          </p:nvPr>
        </p:nvSpPr>
        <p:spPr/>
        <p:txBody>
          <a:bodyPr/>
          <a:lstStyle/>
          <a:p>
            <a:r>
              <a:rPr lang="en-US" dirty="0"/>
              <a:t>LO2, key term</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Discuss common medications used to treat urinary incontinence</a:t>
            </a:r>
            <a:endParaRPr lang="en-US" dirty="0"/>
          </a:p>
          <a:p>
            <a:endParaRPr lang="en-US" dirty="0"/>
          </a:p>
          <a:p>
            <a:r>
              <a:rPr lang="en-US" dirty="0"/>
              <a:t>Define the following term:</a:t>
            </a:r>
          </a:p>
          <a:p>
            <a:endParaRPr lang="en-US" dirty="0"/>
          </a:p>
          <a:p>
            <a:r>
              <a:rPr lang="en-US" b="1" dirty="0"/>
              <a:t>urinary incontinence</a:t>
            </a:r>
          </a:p>
          <a:p>
            <a:pPr lvl="1"/>
            <a:r>
              <a:rPr lang="en-US" dirty="0"/>
              <a:t>the inability to control the bladder, which leads to an involuntary loss of urine.</a:t>
            </a:r>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248266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9BCD039F-E986-D040-8B78-B14665E18FBE}"/>
              </a:ext>
            </a:extLst>
          </p:cNvPr>
          <p:cNvSpPr>
            <a:spLocks noGrp="1"/>
          </p:cNvSpPr>
          <p:nvPr>
            <p:ph type="title"/>
          </p:nvPr>
        </p:nvSpPr>
        <p:spPr/>
        <p:txBody>
          <a:bodyPr/>
          <a:lstStyle/>
          <a:p>
            <a:r>
              <a:rPr lang="en-US" dirty="0"/>
              <a:t>LO2, content 1</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Discuss common medications used to treat urinary incontinence</a:t>
            </a:r>
            <a:endParaRPr lang="en-US" dirty="0"/>
          </a:p>
          <a:p>
            <a:endParaRPr lang="en-US" dirty="0"/>
          </a:p>
          <a:p>
            <a:r>
              <a:rPr lang="en-US" dirty="0"/>
              <a:t>REMEMBER:</a:t>
            </a:r>
          </a:p>
          <a:p>
            <a:endParaRPr lang="en-US" dirty="0"/>
          </a:p>
          <a:p>
            <a:r>
              <a:rPr lang="en-US" dirty="0"/>
              <a:t>Urinary incontinence is </a:t>
            </a:r>
            <a:r>
              <a:rPr lang="en-US" i="1" dirty="0"/>
              <a:t>not</a:t>
            </a:r>
            <a:r>
              <a:rPr lang="en-US" dirty="0"/>
              <a:t> a normal change of aging</a:t>
            </a:r>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1812090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9BCD039F-E986-D040-8B78-B14665E18FBE}"/>
              </a:ext>
            </a:extLst>
          </p:cNvPr>
          <p:cNvSpPr>
            <a:spLocks noGrp="1"/>
          </p:cNvSpPr>
          <p:nvPr>
            <p:ph type="title"/>
          </p:nvPr>
        </p:nvSpPr>
        <p:spPr/>
        <p:txBody>
          <a:bodyPr/>
          <a:lstStyle/>
          <a:p>
            <a:r>
              <a:rPr lang="en-US" dirty="0"/>
              <a:t>LO2, content 2</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Discuss common medications used to treat urinary incontinence</a:t>
            </a:r>
            <a:endParaRPr lang="en-US" dirty="0"/>
          </a:p>
          <a:p>
            <a:endParaRPr lang="en-US" dirty="0"/>
          </a:p>
          <a:p>
            <a:r>
              <a:rPr lang="en-US" dirty="0"/>
              <a:t>Understand the following about treatment for urinary incontinence:</a:t>
            </a:r>
          </a:p>
          <a:p>
            <a:pPr marL="342900" indent="-342900">
              <a:buFont typeface="Arial" panose="020B0604020202020204" pitchFamily="34" charset="0"/>
              <a:buChar char="•"/>
            </a:pPr>
            <a:r>
              <a:rPr lang="en-US" dirty="0"/>
              <a:t>Before ordering medications, doctor may review/make adjustments to resident’s fluid intake</a:t>
            </a:r>
          </a:p>
          <a:p>
            <a:pPr marL="342900" indent="-342900">
              <a:buFont typeface="Arial" panose="020B0604020202020204" pitchFamily="34" charset="0"/>
              <a:buChar char="•"/>
            </a:pPr>
            <a:r>
              <a:rPr lang="en-US" dirty="0"/>
              <a:t>In female residents, exercises to strengthen the pelvic floor can help prevent incontinence</a:t>
            </a:r>
          </a:p>
          <a:p>
            <a:pPr marL="342900" indent="-342900">
              <a:buFont typeface="Arial" panose="020B0604020202020204" pitchFamily="34" charset="0"/>
              <a:buChar char="•"/>
            </a:pPr>
            <a:r>
              <a:rPr lang="en-US" dirty="0"/>
              <a:t>The antidepressant duloxetine (Cymbalta) works by an unknown mechanism to relieve incontinence</a:t>
            </a:r>
          </a:p>
          <a:p>
            <a:pPr marL="342900" indent="-342900">
              <a:buFont typeface="Arial" panose="020B0604020202020204" pitchFamily="34" charset="0"/>
              <a:buChar char="•"/>
            </a:pPr>
            <a:r>
              <a:rPr lang="en-US" dirty="0"/>
              <a:t>Urinary antispasmodic agents reduce bladder spasms that can cause incontinence</a:t>
            </a:r>
          </a:p>
          <a:p>
            <a:pPr marL="342900" indent="-342900">
              <a:buFont typeface="Arial" panose="020B0604020202020204" pitchFamily="34" charset="0"/>
              <a:buChar char="•"/>
            </a:pPr>
            <a:r>
              <a:rPr lang="en-US" dirty="0"/>
              <a:t>Estrogen may be administered vaginally to female residents to treat incontinence</a:t>
            </a:r>
          </a:p>
          <a:p>
            <a:pPr marL="342900" indent="-342900">
              <a:buFont typeface="Arial" panose="020B0604020202020204" pitchFamily="34" charset="0"/>
              <a:buChar char="•"/>
            </a:pPr>
            <a:r>
              <a:rPr lang="en-US" dirty="0"/>
              <a:t>Table on textbook p. 145 (or handout) details other specific drugs</a:t>
            </a:r>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2976759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9BCD039F-E986-D040-8B78-B14665E18FBE}"/>
              </a:ext>
            </a:extLst>
          </p:cNvPr>
          <p:cNvSpPr>
            <a:spLocks noGrp="1"/>
          </p:cNvSpPr>
          <p:nvPr>
            <p:ph type="title"/>
          </p:nvPr>
        </p:nvSpPr>
        <p:spPr/>
        <p:txBody>
          <a:bodyPr/>
          <a:lstStyle/>
          <a:p>
            <a:r>
              <a:rPr lang="en-US" dirty="0"/>
              <a:t>LO2, content 3</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Discuss common medications used to treat urinary incontinence</a:t>
            </a:r>
            <a:endParaRPr lang="en-US" dirty="0"/>
          </a:p>
          <a:p>
            <a:endParaRPr lang="en-US" dirty="0"/>
          </a:p>
          <a:p>
            <a:r>
              <a:rPr lang="en-US" dirty="0"/>
              <a:t>Care guidelines for urinary incontinence include the following:</a:t>
            </a:r>
          </a:p>
          <a:p>
            <a:pPr marL="342900" indent="-342900">
              <a:buFont typeface="Arial" panose="020B0604020202020204" pitchFamily="34" charset="0"/>
              <a:buChar char="•"/>
            </a:pPr>
            <a:r>
              <a:rPr lang="en-US" dirty="0"/>
              <a:t>Observe for change in mood or mental status in residents taking duloxetine. This medication can cause agitation, nervousness, fatigue, dizziness, and insomnia</a:t>
            </a:r>
          </a:p>
          <a:p>
            <a:pPr marL="342900" indent="-342900">
              <a:buFont typeface="Arial" panose="020B0604020202020204" pitchFamily="34" charset="0"/>
              <a:buChar char="•"/>
            </a:pPr>
            <a:r>
              <a:rPr lang="en-US" dirty="0"/>
              <a:t>Report any episodes of incontinence you observe. It is a major risk factor for pressure injuries</a:t>
            </a:r>
          </a:p>
          <a:p>
            <a:pPr marL="342900" indent="-342900">
              <a:buFont typeface="Arial" panose="020B0604020202020204" pitchFamily="34" charset="0"/>
              <a:buChar char="•"/>
            </a:pPr>
            <a:r>
              <a:rPr lang="en-US" dirty="0"/>
              <a:t>Report dark or foul-smelling urine. These can be signs of a urinary tract infection</a:t>
            </a:r>
          </a:p>
          <a:p>
            <a:pPr marL="342900" indent="-342900">
              <a:buFont typeface="Arial" panose="020B0604020202020204" pitchFamily="34" charset="0"/>
              <a:buChar char="•"/>
            </a:pPr>
            <a:r>
              <a:rPr lang="en-US" dirty="0"/>
              <a:t>Never refer to incontinence pads or briefs as diapers</a:t>
            </a:r>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3801891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13073DA-C471-0E4C-8CCE-490E52C9C835}"/>
              </a:ext>
            </a:extLst>
          </p:cNvPr>
          <p:cNvSpPr>
            <a:spLocks noGrp="1"/>
          </p:cNvSpPr>
          <p:nvPr>
            <p:ph type="title"/>
          </p:nvPr>
        </p:nvSpPr>
        <p:spPr/>
        <p:txBody>
          <a:bodyPr/>
          <a:lstStyle/>
          <a:p>
            <a:r>
              <a:rPr lang="en-US" dirty="0"/>
              <a:t>LO3, key terms</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Discuss common medications used to treat urinary retention and urinary obstruction</a:t>
            </a:r>
          </a:p>
          <a:p>
            <a:endParaRPr lang="en-US" dirty="0"/>
          </a:p>
          <a:p>
            <a:r>
              <a:rPr lang="en-US" dirty="0"/>
              <a:t>Define the following terms:</a:t>
            </a:r>
            <a:br>
              <a:rPr lang="en-US" dirty="0"/>
            </a:br>
            <a:endParaRPr lang="en-US" dirty="0"/>
          </a:p>
          <a:p>
            <a:r>
              <a:rPr lang="en-US" b="1" dirty="0"/>
              <a:t>urinary retention</a:t>
            </a:r>
          </a:p>
          <a:p>
            <a:pPr lvl="1"/>
            <a:r>
              <a:rPr lang="en-US" dirty="0"/>
              <a:t>a condition in which the bladder is not fully emptied during urination.</a:t>
            </a:r>
          </a:p>
          <a:p>
            <a:r>
              <a:rPr lang="en-US" b="1" dirty="0"/>
              <a:t>urinary obstruction</a:t>
            </a:r>
          </a:p>
          <a:p>
            <a:pPr lvl="1"/>
            <a:r>
              <a:rPr lang="en-US" dirty="0"/>
              <a:t>a partial or complete blockage of urine. </a:t>
            </a:r>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255290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13073DA-C471-0E4C-8CCE-490E52C9C835}"/>
              </a:ext>
            </a:extLst>
          </p:cNvPr>
          <p:cNvSpPr>
            <a:spLocks noGrp="1"/>
          </p:cNvSpPr>
          <p:nvPr>
            <p:ph type="title"/>
          </p:nvPr>
        </p:nvSpPr>
        <p:spPr/>
        <p:txBody>
          <a:bodyPr/>
          <a:lstStyle/>
          <a:p>
            <a:r>
              <a:rPr lang="en-US" dirty="0"/>
              <a:t>LO3, content 1</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Discuss common medications used to treat urinary retention and urinary obstruction</a:t>
            </a:r>
          </a:p>
          <a:p>
            <a:endParaRPr lang="en-US" dirty="0"/>
          </a:p>
          <a:p>
            <a:r>
              <a:rPr lang="en-US" dirty="0"/>
              <a:t>Understand the following about treatment for urinary retention and urinary obstruction:</a:t>
            </a:r>
          </a:p>
          <a:p>
            <a:pPr marL="342900" indent="-342900">
              <a:buFont typeface="Arial" panose="020B0604020202020204" pitchFamily="34" charset="0"/>
              <a:buChar char="•"/>
            </a:pPr>
            <a:r>
              <a:rPr lang="en-US" dirty="0"/>
              <a:t>Drugs include</a:t>
            </a:r>
          </a:p>
          <a:p>
            <a:pPr marL="800100" lvl="1" indent="-342900">
              <a:buFont typeface="Arial" panose="020B0604020202020204" pitchFamily="34" charset="0"/>
              <a:buChar char="•"/>
            </a:pPr>
            <a:r>
              <a:rPr lang="en-US" dirty="0"/>
              <a:t>Alpha-blocking agents (longer list of specific drugs for use in males than in females)</a:t>
            </a:r>
          </a:p>
          <a:p>
            <a:pPr marL="1257300" lvl="2" indent="-342900">
              <a:buFont typeface="Arial" panose="020B0604020202020204" pitchFamily="34" charset="0"/>
              <a:buChar char="•"/>
            </a:pPr>
            <a:r>
              <a:rPr lang="en-US" dirty="0"/>
              <a:t>Can cause orthostatic hypotension and dizziness</a:t>
            </a:r>
          </a:p>
          <a:p>
            <a:pPr marL="800100" lvl="1" indent="-342900">
              <a:buFont typeface="Arial" panose="020B0604020202020204" pitchFamily="34" charset="0"/>
              <a:buChar char="•"/>
            </a:pPr>
            <a:r>
              <a:rPr lang="en-US" dirty="0"/>
              <a:t>Cholinergic agents</a:t>
            </a:r>
          </a:p>
          <a:p>
            <a:pPr marL="1257300" lvl="2" indent="-342900">
              <a:buFont typeface="Arial" panose="020B0604020202020204" pitchFamily="34" charset="0"/>
              <a:buChar char="•"/>
            </a:pPr>
            <a:r>
              <a:rPr lang="en-US" dirty="0"/>
              <a:t>Can cause nausea, diarrhea, abdominal cramps</a:t>
            </a:r>
          </a:p>
          <a:p>
            <a:pPr marL="342900" indent="-342900">
              <a:buFont typeface="Arial" panose="020B0604020202020204" pitchFamily="34" charset="0"/>
              <a:buChar char="•"/>
            </a:pPr>
            <a:r>
              <a:rPr lang="en-US" dirty="0"/>
              <a:t>Treatment for urinary obstruction can also include removing the cause of the obstruction (e.g., kidney stones)</a:t>
            </a:r>
          </a:p>
          <a:p>
            <a:pPr marL="342900" indent="-342900">
              <a:buFont typeface="Arial" panose="020B0604020202020204" pitchFamily="34" charset="0"/>
              <a:buChar char="•"/>
            </a:pPr>
            <a:r>
              <a:rPr lang="en-US" dirty="0"/>
              <a:t>Analgesics may be ordered to ease the pain of passing kidney stones</a:t>
            </a:r>
          </a:p>
          <a:p>
            <a:pPr marL="342900" indent="-342900">
              <a:buFont typeface="Arial" panose="020B0604020202020204" pitchFamily="34" charset="0"/>
              <a:buChar char="•"/>
            </a:pPr>
            <a:r>
              <a:rPr lang="en-US" dirty="0"/>
              <a:t>Table on textbook p. 145 (or handout) details specific drugs</a:t>
            </a:r>
          </a:p>
          <a:p>
            <a:endParaRPr lang="en-US" dirty="0"/>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2755039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13073DA-C471-0E4C-8CCE-490E52C9C835}"/>
              </a:ext>
            </a:extLst>
          </p:cNvPr>
          <p:cNvSpPr>
            <a:spLocks noGrp="1"/>
          </p:cNvSpPr>
          <p:nvPr>
            <p:ph type="title"/>
          </p:nvPr>
        </p:nvSpPr>
        <p:spPr/>
        <p:txBody>
          <a:bodyPr/>
          <a:lstStyle/>
          <a:p>
            <a:r>
              <a:rPr lang="en-US" dirty="0"/>
              <a:t>LO3, content 2</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Discuss common medications used to treat urinary retention and urinary obstruction</a:t>
            </a:r>
          </a:p>
          <a:p>
            <a:endParaRPr lang="en-US" dirty="0"/>
          </a:p>
          <a:p>
            <a:r>
              <a:rPr lang="en-US" dirty="0"/>
              <a:t>Care guidelines for urinary retention and urinary obstruction include the following:</a:t>
            </a:r>
          </a:p>
          <a:p>
            <a:pPr marL="342900" indent="-342900">
              <a:buFont typeface="Arial" panose="020B0604020202020204" pitchFamily="34" charset="0"/>
              <a:buChar char="•"/>
            </a:pPr>
            <a:r>
              <a:rPr lang="en-US" dirty="0"/>
              <a:t>Observe residents taking alpha-blocking agents for orthostatic hypotension and dizziness. These effects can create a fall risk</a:t>
            </a:r>
          </a:p>
          <a:p>
            <a:pPr marL="342900" indent="-342900">
              <a:buFont typeface="Arial" panose="020B0604020202020204" pitchFamily="34" charset="0"/>
              <a:buChar char="•"/>
            </a:pPr>
            <a:r>
              <a:rPr lang="en-US" dirty="0"/>
              <a:t>Be familiar with the possible side effects of cholinergic agents. Share resident reports of excess salivation, nausea, diarrhea, and abdominal cramps with the nurse. This can help determine the best dosage for the resident</a:t>
            </a:r>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3411034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13073DA-C471-0E4C-8CCE-490E52C9C835}"/>
              </a:ext>
            </a:extLst>
          </p:cNvPr>
          <p:cNvSpPr>
            <a:spLocks noGrp="1"/>
          </p:cNvSpPr>
          <p:nvPr>
            <p:ph type="title"/>
          </p:nvPr>
        </p:nvSpPr>
        <p:spPr/>
        <p:txBody>
          <a:bodyPr/>
          <a:lstStyle/>
          <a:p>
            <a:r>
              <a:rPr lang="en-US" dirty="0"/>
              <a:t>LO4, key terms</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common medications used to treat urinary tract infection (UTI)</a:t>
            </a:r>
          </a:p>
          <a:p>
            <a:endParaRPr lang="en-US" dirty="0"/>
          </a:p>
          <a:p>
            <a:r>
              <a:rPr lang="en-US" dirty="0"/>
              <a:t>Define the following term:</a:t>
            </a:r>
            <a:br>
              <a:rPr lang="en-US" dirty="0"/>
            </a:br>
            <a:endParaRPr lang="en-US" dirty="0"/>
          </a:p>
          <a:p>
            <a:r>
              <a:rPr lang="en-US" b="1" dirty="0"/>
              <a:t>urinary tract infection (UTI)</a:t>
            </a:r>
          </a:p>
          <a:p>
            <a:pPr lvl="1"/>
            <a:r>
              <a:rPr lang="en-US" dirty="0"/>
              <a:t>a bacterial infec­tion of the urethra, bladder, ureter, or kidney that results in painful burning during urination and the frequent feeling of needing to urinate.</a:t>
            </a:r>
          </a:p>
          <a:p>
            <a:endParaRPr lang="en-US" dirty="0"/>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1392095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13073DA-C471-0E4C-8CCE-490E52C9C835}"/>
              </a:ext>
            </a:extLst>
          </p:cNvPr>
          <p:cNvSpPr>
            <a:spLocks noGrp="1"/>
          </p:cNvSpPr>
          <p:nvPr>
            <p:ph type="title"/>
          </p:nvPr>
        </p:nvSpPr>
        <p:spPr/>
        <p:txBody>
          <a:bodyPr/>
          <a:lstStyle/>
          <a:p>
            <a:r>
              <a:rPr lang="en-US" dirty="0"/>
              <a:t>LO4, content 1</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common medications used to treat urinary tract infection (UTI)</a:t>
            </a:r>
          </a:p>
          <a:p>
            <a:endParaRPr lang="en-US" dirty="0"/>
          </a:p>
          <a:p>
            <a:r>
              <a:rPr lang="en-US" dirty="0"/>
              <a:t>Be familiar with these risk factors for UTI:</a:t>
            </a:r>
          </a:p>
          <a:p>
            <a:pPr marL="342900" indent="-342900">
              <a:buFont typeface="Arial" panose="020B0604020202020204" pitchFamily="34" charset="0"/>
              <a:buChar char="•"/>
            </a:pPr>
            <a:r>
              <a:rPr lang="en-US" dirty="0"/>
              <a:t>Female residents are at greater risk than male residents for UTI due to a shorter urethra and the location of the urethra in relation to the vagina and anus (possible sources of bacteria)</a:t>
            </a:r>
          </a:p>
          <a:p>
            <a:pPr marL="342900" indent="-342900">
              <a:buFont typeface="Arial" panose="020B0604020202020204" pitchFamily="34" charset="0"/>
              <a:buChar char="•"/>
            </a:pPr>
            <a:r>
              <a:rPr lang="en-US" dirty="0"/>
              <a:t>Catheter use is associated with UTI</a:t>
            </a:r>
          </a:p>
          <a:p>
            <a:pPr marL="342900" indent="-342900">
              <a:buFont typeface="Arial" panose="020B0604020202020204" pitchFamily="34" charset="0"/>
              <a:buChar char="•"/>
            </a:pPr>
            <a:r>
              <a:rPr lang="en-US" dirty="0"/>
              <a:t>Urinary incontinence also causes elevated risk</a:t>
            </a:r>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3406232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13073DA-C471-0E4C-8CCE-490E52C9C835}"/>
              </a:ext>
            </a:extLst>
          </p:cNvPr>
          <p:cNvSpPr>
            <a:spLocks noGrp="1"/>
          </p:cNvSpPr>
          <p:nvPr>
            <p:ph type="title"/>
          </p:nvPr>
        </p:nvSpPr>
        <p:spPr/>
        <p:txBody>
          <a:bodyPr/>
          <a:lstStyle/>
          <a:p>
            <a:r>
              <a:rPr lang="en-US" dirty="0"/>
              <a:t>LO4, content 2</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common medications used to treat urinary tract infection (UTI)</a:t>
            </a:r>
          </a:p>
          <a:p>
            <a:endParaRPr lang="en-US" dirty="0"/>
          </a:p>
          <a:p>
            <a:r>
              <a:rPr lang="en-US" dirty="0"/>
              <a:t>Treatment for urinary tract infection (UTI) includes the following:</a:t>
            </a:r>
          </a:p>
          <a:p>
            <a:pPr marL="342900" indent="-342900">
              <a:buFont typeface="Arial" panose="020B0604020202020204" pitchFamily="34" charset="0"/>
              <a:buChar char="•"/>
            </a:pPr>
            <a:r>
              <a:rPr lang="en-US" dirty="0"/>
              <a:t>Antibiotics; specific agent depends on location/severity</a:t>
            </a:r>
          </a:p>
          <a:p>
            <a:pPr marL="800100" lvl="1" indent="-342900">
              <a:buFont typeface="Arial" panose="020B0604020202020204" pitchFamily="34" charset="0"/>
              <a:buChar char="•"/>
            </a:pPr>
            <a:r>
              <a:rPr lang="en-US" dirty="0"/>
              <a:t>Uncomplicated cystitis (bladder infection) and uncomplicated pyelonephritis (kidney infection) usually treated with oral antibiotics</a:t>
            </a:r>
          </a:p>
          <a:p>
            <a:pPr marL="800100" lvl="1" indent="-342900">
              <a:buFont typeface="Arial" panose="020B0604020202020204" pitchFamily="34" charset="0"/>
              <a:buChar char="•"/>
            </a:pPr>
            <a:r>
              <a:rPr lang="en-US" dirty="0"/>
              <a:t>Residents with signs of sepsis or with abnormalities in the urinary tract may be treated with intravenous antibiotics</a:t>
            </a:r>
          </a:p>
          <a:p>
            <a:pPr marL="342900" indent="-342900">
              <a:buFont typeface="Arial" panose="020B0604020202020204" pitchFamily="34" charset="0"/>
              <a:buChar char="•"/>
            </a:pPr>
            <a:r>
              <a:rPr lang="en-US" dirty="0"/>
              <a:t>Analgesics may be used to control pain (phenazopyridine) but will not cure UTI</a:t>
            </a:r>
          </a:p>
          <a:p>
            <a:pPr marL="342900" indent="-342900">
              <a:buFont typeface="Arial" panose="020B0604020202020204" pitchFamily="34" charset="0"/>
              <a:buChar char="•"/>
            </a:pPr>
            <a:r>
              <a:rPr lang="en-US" dirty="0"/>
              <a:t>Table on textbook pp. 145–146 (or handout) details other specific drugs</a:t>
            </a:r>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1041262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13073DA-C471-0E4C-8CCE-490E52C9C835}"/>
              </a:ext>
            </a:extLst>
          </p:cNvPr>
          <p:cNvSpPr>
            <a:spLocks noGrp="1"/>
          </p:cNvSpPr>
          <p:nvPr>
            <p:ph type="title"/>
          </p:nvPr>
        </p:nvSpPr>
        <p:spPr/>
        <p:txBody>
          <a:bodyPr/>
          <a:lstStyle/>
          <a:p>
            <a:r>
              <a:rPr lang="en-US" dirty="0"/>
              <a:t>LO4, content 3</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common medications used to treat urinary tract infection (UTI)</a:t>
            </a:r>
          </a:p>
          <a:p>
            <a:endParaRPr lang="en-US" dirty="0"/>
          </a:p>
          <a:p>
            <a:r>
              <a:rPr lang="en-US" dirty="0"/>
              <a:t>Care guidelines for urinary tract infection include the following:</a:t>
            </a:r>
          </a:p>
          <a:p>
            <a:pPr marL="342900" indent="-342900">
              <a:buFont typeface="Arial" panose="020B0604020202020204" pitchFamily="34" charset="0"/>
              <a:buChar char="•"/>
            </a:pPr>
            <a:r>
              <a:rPr lang="en-US" dirty="0"/>
              <a:t>Understand that some residents with UTI may have no symptoms. This can allow a UTI to get worse before it is diagnosed</a:t>
            </a:r>
          </a:p>
          <a:p>
            <a:pPr marL="342900" indent="-342900">
              <a:buFont typeface="Arial" panose="020B0604020202020204" pitchFamily="34" charset="0"/>
              <a:buChar char="•"/>
            </a:pPr>
            <a:r>
              <a:rPr lang="en-US" dirty="0"/>
              <a:t>Report changing/worsening symptoms to a nurse (fever, chills, nausea/vomiting, pain in the side of the body, dark urine, strong urine odor)</a:t>
            </a:r>
          </a:p>
          <a:p>
            <a:pPr marL="342900" indent="-342900">
              <a:buFont typeface="Arial" panose="020B0604020202020204" pitchFamily="34" charset="0"/>
              <a:buChar char="•"/>
            </a:pPr>
            <a:r>
              <a:rPr lang="en-US" dirty="0"/>
              <a:t>Observe and report confusion. This is a common UTI symptom in elderly people</a:t>
            </a:r>
          </a:p>
          <a:p>
            <a:pPr marL="342900" indent="-342900">
              <a:buFont typeface="Arial" panose="020B0604020202020204" pitchFamily="34" charset="0"/>
              <a:buChar char="•"/>
            </a:pPr>
            <a:r>
              <a:rPr lang="en-US" dirty="0"/>
              <a:t>Observe for signs and symptoms of anaphylaxis in residents taking antibiotics</a:t>
            </a:r>
          </a:p>
          <a:p>
            <a:pPr marL="342900" indent="-342900">
              <a:buFont typeface="Arial" panose="020B0604020202020204" pitchFamily="34" charset="0"/>
              <a:buChar char="•"/>
            </a:pPr>
            <a:r>
              <a:rPr lang="en-US" dirty="0"/>
              <a:t>Encourage fluid intake</a:t>
            </a:r>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2069020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13073DA-C471-0E4C-8CCE-490E52C9C835}"/>
              </a:ext>
            </a:extLst>
          </p:cNvPr>
          <p:cNvSpPr>
            <a:spLocks noGrp="1"/>
          </p:cNvSpPr>
          <p:nvPr>
            <p:ph type="title"/>
          </p:nvPr>
        </p:nvSpPr>
        <p:spPr/>
        <p:txBody>
          <a:bodyPr/>
          <a:lstStyle/>
          <a:p>
            <a:r>
              <a:rPr lang="en-US" dirty="0"/>
              <a:t>LO5, key terms</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Discuss common medications used to treat renal failure and fluid imbalance</a:t>
            </a:r>
          </a:p>
          <a:p>
            <a:endParaRPr lang="en-US" dirty="0"/>
          </a:p>
          <a:p>
            <a:r>
              <a:rPr lang="en-US" dirty="0"/>
              <a:t>Define the following terms:</a:t>
            </a:r>
            <a:br>
              <a:rPr lang="en-US" dirty="0"/>
            </a:br>
            <a:endParaRPr lang="en-US" dirty="0"/>
          </a:p>
          <a:p>
            <a:r>
              <a:rPr lang="en-US" b="1" dirty="0"/>
              <a:t>chronic renal failure</a:t>
            </a:r>
          </a:p>
          <a:p>
            <a:pPr lvl="1"/>
            <a:r>
              <a:rPr lang="en-US" dirty="0"/>
              <a:t>a condition that oc­curs when the kidneys cannot eliminate certain waste products from the body; also called </a:t>
            </a:r>
            <a:r>
              <a:rPr lang="en-US" i="1" dirty="0"/>
              <a:t>chronic kidney failure.</a:t>
            </a:r>
            <a:r>
              <a:rPr lang="en-US" dirty="0"/>
              <a:t> </a:t>
            </a:r>
          </a:p>
          <a:p>
            <a:r>
              <a:rPr lang="en-US" b="1" dirty="0"/>
              <a:t>dialysis</a:t>
            </a:r>
          </a:p>
          <a:p>
            <a:pPr lvl="1"/>
            <a:r>
              <a:rPr lang="en-US" dirty="0"/>
              <a:t>an artificial means of removing the body’s waste products when the kidneys are no longer able to function properly.</a:t>
            </a:r>
          </a:p>
          <a:p>
            <a:r>
              <a:rPr lang="en-US" b="1" dirty="0"/>
              <a:t>fluid balance</a:t>
            </a:r>
          </a:p>
          <a:p>
            <a:pPr lvl="1"/>
            <a:r>
              <a:rPr lang="en-US" dirty="0"/>
              <a:t>taking in and eliminating equal amounts of fluid.</a:t>
            </a:r>
          </a:p>
          <a:p>
            <a:pPr lvl="1"/>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3225374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13073DA-C471-0E4C-8CCE-490E52C9C835}"/>
              </a:ext>
            </a:extLst>
          </p:cNvPr>
          <p:cNvSpPr>
            <a:spLocks noGrp="1"/>
          </p:cNvSpPr>
          <p:nvPr>
            <p:ph type="title"/>
          </p:nvPr>
        </p:nvSpPr>
        <p:spPr/>
        <p:txBody>
          <a:bodyPr/>
          <a:lstStyle/>
          <a:p>
            <a:r>
              <a:rPr lang="en-US" dirty="0"/>
              <a:t>LO5, content 1</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Discuss common medications used to treat renal failure and fluid imbalance</a:t>
            </a:r>
          </a:p>
          <a:p>
            <a:endParaRPr lang="en-US" dirty="0"/>
          </a:p>
          <a:p>
            <a:r>
              <a:rPr lang="en-US" dirty="0"/>
              <a:t>Treatment for chronic renal failure includes the following:</a:t>
            </a:r>
          </a:p>
          <a:p>
            <a:pPr marL="342900" indent="-342900">
              <a:buFont typeface="Arial" panose="020B0604020202020204" pitchFamily="34" charset="0"/>
              <a:buChar char="•"/>
            </a:pPr>
            <a:r>
              <a:rPr lang="en-US" dirty="0"/>
              <a:t>Dialysis</a:t>
            </a:r>
          </a:p>
          <a:p>
            <a:pPr marL="342900" indent="-342900">
              <a:buFont typeface="Arial" panose="020B0604020202020204" pitchFamily="34" charset="0"/>
              <a:buChar char="•"/>
            </a:pPr>
            <a:r>
              <a:rPr lang="en-US" dirty="0"/>
              <a:t>Fluid restrictions</a:t>
            </a:r>
          </a:p>
          <a:p>
            <a:pPr marL="342900" indent="-342900">
              <a:buFont typeface="Arial" panose="020B0604020202020204" pitchFamily="34" charset="0"/>
              <a:buChar char="•"/>
            </a:pPr>
            <a:r>
              <a:rPr lang="en-US" dirty="0"/>
              <a:t>Medications to control high blood pressure (commonly associated with CRF)</a:t>
            </a:r>
          </a:p>
          <a:p>
            <a:pPr marL="800100" lvl="1" indent="-342900">
              <a:buFont typeface="Arial" panose="020B0604020202020204" pitchFamily="34" charset="0"/>
              <a:buChar char="•"/>
            </a:pPr>
            <a:r>
              <a:rPr lang="en-US" dirty="0"/>
              <a:t>ACE inhibitors (generic names ending in </a:t>
            </a:r>
            <a:r>
              <a:rPr lang="en-US" i="1" dirty="0"/>
              <a:t>-</a:t>
            </a:r>
            <a:r>
              <a:rPr lang="en-US" i="1" dirty="0" err="1"/>
              <a:t>pril</a:t>
            </a:r>
            <a:endParaRPr lang="en-US" dirty="0"/>
          </a:p>
          <a:p>
            <a:pPr marL="800100" lvl="1" indent="-342900">
              <a:buFont typeface="Arial" panose="020B0604020202020204" pitchFamily="34" charset="0"/>
              <a:buChar char="•"/>
            </a:pPr>
            <a:r>
              <a:rPr lang="en-US" dirty="0"/>
              <a:t>Angiotensin receptor blockers ARBs; generic names ending in </a:t>
            </a:r>
            <a:r>
              <a:rPr lang="en-US" i="1" dirty="0"/>
              <a:t>-</a:t>
            </a:r>
            <a:r>
              <a:rPr lang="en-US" i="1" dirty="0" err="1"/>
              <a:t>sartan</a:t>
            </a:r>
            <a:endParaRPr lang="en-US" dirty="0"/>
          </a:p>
          <a:p>
            <a:pPr marL="342900" indent="-342900">
              <a:buFont typeface="Arial" panose="020B0604020202020204" pitchFamily="34" charset="0"/>
              <a:buChar char="•"/>
            </a:pPr>
            <a:r>
              <a:rPr lang="en-US" dirty="0"/>
              <a:t>Statins to reduce lipids (fats) in the bloodstream</a:t>
            </a:r>
          </a:p>
          <a:p>
            <a:pPr marL="342900" indent="-342900">
              <a:buFont typeface="Arial" panose="020B0604020202020204" pitchFamily="34" charset="0"/>
              <a:buChar char="•"/>
            </a:pPr>
            <a:r>
              <a:rPr lang="en-US" dirty="0"/>
              <a:t>Table on textbook p. 146 (or handout) details specific drugs</a:t>
            </a:r>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288846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13073DA-C471-0E4C-8CCE-490E52C9C835}"/>
              </a:ext>
            </a:extLst>
          </p:cNvPr>
          <p:cNvSpPr>
            <a:spLocks noGrp="1"/>
          </p:cNvSpPr>
          <p:nvPr>
            <p:ph type="title"/>
          </p:nvPr>
        </p:nvSpPr>
        <p:spPr/>
        <p:txBody>
          <a:bodyPr/>
          <a:lstStyle/>
          <a:p>
            <a:r>
              <a:rPr lang="en-US" dirty="0"/>
              <a:t>LO5, content 2</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Discuss common medications used to treat renal failure and fluid imbalance</a:t>
            </a:r>
          </a:p>
          <a:p>
            <a:endParaRPr lang="en-US" dirty="0"/>
          </a:p>
          <a:p>
            <a:r>
              <a:rPr lang="en-US" dirty="0"/>
              <a:t>Understand the following about treatment for fluid imbalance: </a:t>
            </a:r>
          </a:p>
          <a:p>
            <a:pPr marL="342900" indent="-342900">
              <a:buFont typeface="Arial" panose="020B0604020202020204" pitchFamily="34" charset="0"/>
              <a:buChar char="•"/>
            </a:pPr>
            <a:r>
              <a:rPr lang="en-US" dirty="0"/>
              <a:t>Diuretics may be ordered for residents (e.g., residents with CRF) who experience edema</a:t>
            </a:r>
          </a:p>
          <a:p>
            <a:pPr marL="342900" indent="-342900">
              <a:buFont typeface="Arial" panose="020B0604020202020204" pitchFamily="34" charset="0"/>
              <a:buChar char="•"/>
            </a:pPr>
            <a:r>
              <a:rPr lang="en-US" dirty="0"/>
              <a:t>Residents who are severely dehydrated (e.g., due to uncontrolled vomiting or diarrhea) may receive intravenous fluids; mild dehydration may be treated with oral rehydration solutions</a:t>
            </a:r>
          </a:p>
          <a:p>
            <a:pPr marL="342900" indent="-342900">
              <a:buFont typeface="Arial" panose="020B0604020202020204" pitchFamily="34" charset="0"/>
              <a:buChar char="•"/>
            </a:pPr>
            <a:endParaRPr lang="en-US" dirty="0"/>
          </a:p>
          <a:p>
            <a:r>
              <a:rPr lang="en-US" dirty="0"/>
              <a:t>REMEMBER:</a:t>
            </a:r>
          </a:p>
          <a:p>
            <a:r>
              <a:rPr lang="en-US" dirty="0"/>
              <a:t>Follow instructions on the MAR for weighing residents. Residents who take diuretics may be weighed regularly to monitor fluid balance</a:t>
            </a:r>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3486403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44C2C475-36EE-428D-8462-7C0A824F149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E3567D"/>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E3567D"/>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13073DA-C471-0E4C-8CCE-490E52C9C835}"/>
              </a:ext>
            </a:extLst>
          </p:cNvPr>
          <p:cNvSpPr>
            <a:spLocks noGrp="1"/>
          </p:cNvSpPr>
          <p:nvPr>
            <p:ph type="title"/>
          </p:nvPr>
        </p:nvSpPr>
        <p:spPr/>
        <p:txBody>
          <a:bodyPr/>
          <a:lstStyle/>
          <a:p>
            <a:r>
              <a:rPr lang="en-US" dirty="0"/>
              <a:t>LO5, content 3</a:t>
            </a:r>
          </a:p>
        </p:txBody>
      </p:sp>
      <p:sp>
        <p:nvSpPr>
          <p:cNvPr id="2" name="Content Placeholder 1">
            <a:extLst>
              <a:ext uri="{FF2B5EF4-FFF2-40B4-BE49-F238E27FC236}">
                <a16:creationId xmlns:a16="http://schemas.microsoft.com/office/drawing/2014/main" id="{5C13C889-D49C-4C69-B18A-7E359B9A3D9A}"/>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Discuss common medications used to treat renal failure and fluid imbalance</a:t>
            </a:r>
          </a:p>
          <a:p>
            <a:endParaRPr lang="en-US" dirty="0"/>
          </a:p>
          <a:p>
            <a:r>
              <a:rPr lang="en-US" dirty="0"/>
              <a:t>Care guidelines for chronic renal failure include the following:</a:t>
            </a:r>
          </a:p>
          <a:p>
            <a:pPr marL="342900" indent="-342900">
              <a:buFont typeface="Arial" panose="020B0604020202020204" pitchFamily="34" charset="0"/>
              <a:buChar char="•"/>
            </a:pPr>
            <a:r>
              <a:rPr lang="en-US" dirty="0"/>
              <a:t>Remember that CRF is not just a disease. It can affect the entire body. Know residents’ mental and physical baseline (their personal “normal”) and report changes to the nurse</a:t>
            </a:r>
          </a:p>
          <a:p>
            <a:pPr marL="342900" indent="-342900">
              <a:buFont typeface="Arial" panose="020B0604020202020204" pitchFamily="34" charset="0"/>
              <a:buChar char="•"/>
            </a:pPr>
            <a:r>
              <a:rPr lang="en-US" dirty="0"/>
              <a:t>Administer additional medications as ordered. Certain vitamins, iron, and stool softeners may be ordered in some cases</a:t>
            </a:r>
          </a:p>
          <a:p>
            <a:pPr marL="342900" indent="-342900">
              <a:buFont typeface="Arial" panose="020B0604020202020204" pitchFamily="34" charset="0"/>
              <a:buChar char="•"/>
            </a:pPr>
            <a:r>
              <a:rPr lang="en-US" dirty="0"/>
              <a:t>Follow any fluid restrictions </a:t>
            </a:r>
            <a:r>
              <a:rPr lang="en-US"/>
              <a:t>in place</a:t>
            </a:r>
            <a:endParaRPr lang="en-US" dirty="0"/>
          </a:p>
          <a:p>
            <a:endParaRPr lang="en-US" dirty="0"/>
          </a:p>
          <a:p>
            <a:endParaRPr lang="en-US" dirty="0"/>
          </a:p>
          <a:p>
            <a:endParaRPr lang="en-US" dirty="0"/>
          </a:p>
          <a:p>
            <a:endParaRPr lang="en-US" dirty="0"/>
          </a:p>
          <a:p>
            <a:pPr marL="457200" indent="-457200">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772340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5634510"/>
      </p:ext>
    </p:extLst>
  </p:cSld>
  <p:clrMapOvr>
    <a:masterClrMapping/>
  </p:clrMapOvr>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329C76"/>
      </a:accent1>
      <a:accent2>
        <a:srgbClr val="B37924"/>
      </a:accent2>
      <a:accent3>
        <a:srgbClr val="E3567D"/>
      </a:accent3>
      <a:accent4>
        <a:srgbClr val="0091B9"/>
      </a:accent4>
      <a:accent5>
        <a:srgbClr val="D6BF00"/>
      </a:accent5>
      <a:accent6>
        <a:srgbClr val="934C93"/>
      </a:accent6>
      <a:hlink>
        <a:srgbClr val="0563C1"/>
      </a:hlink>
      <a:folHlink>
        <a:srgbClr val="954F72"/>
      </a:folHlink>
    </a:clrScheme>
    <a:fontScheme name="Susan Hedman - Hartman Publishing">
      <a:majorFont>
        <a:latin typeface="Scala Sans"/>
        <a:ea typeface=""/>
        <a:cs typeface=""/>
      </a:majorFont>
      <a:minorFont>
        <a:latin typeface="Scal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979</TotalTime>
  <Words>1316</Words>
  <Application>Microsoft Macintosh PowerPoint</Application>
  <PresentationFormat>Widescreen</PresentationFormat>
  <Paragraphs>227</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Scala Sans</vt:lpstr>
      <vt:lpstr>1_Office Theme</vt:lpstr>
      <vt:lpstr>PowerPoint Presentation</vt:lpstr>
      <vt:lpstr>Chapter 15, LO1, content 1 </vt:lpstr>
      <vt:lpstr>LO1, content 2</vt:lpstr>
      <vt:lpstr>LO1, content 3</vt:lpstr>
      <vt:lpstr>LO2, key term</vt:lpstr>
      <vt:lpstr>LO2, content 1</vt:lpstr>
      <vt:lpstr>LO2, content 2</vt:lpstr>
      <vt:lpstr>LO2, content 3</vt:lpstr>
      <vt:lpstr>LO3, key terms</vt:lpstr>
      <vt:lpstr>LO3, content 1</vt:lpstr>
      <vt:lpstr>LO3, content 2</vt:lpstr>
      <vt:lpstr>LO4, key terms</vt:lpstr>
      <vt:lpstr>LO4, content 1</vt:lpstr>
      <vt:lpstr>LO4, content 2</vt:lpstr>
      <vt:lpstr>LO4, content 3</vt:lpstr>
      <vt:lpstr>LO5, key terms</vt:lpstr>
      <vt:lpstr>LO5, content 1</vt:lpstr>
      <vt:lpstr>LO5, content 2</vt:lpstr>
      <vt:lpstr>LO5, content 3</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Storey</dc:creator>
  <cp:lastModifiedBy>Kristin Calderon</cp:lastModifiedBy>
  <cp:revision>140</cp:revision>
  <dcterms:created xsi:type="dcterms:W3CDTF">2020-03-18T21:22:07Z</dcterms:created>
  <dcterms:modified xsi:type="dcterms:W3CDTF">2021-05-20T13:59:09Z</dcterms:modified>
</cp:coreProperties>
</file>